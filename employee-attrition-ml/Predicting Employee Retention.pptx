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2" r:id="rId6"/>
    <p:sldId id="260" r:id="rId7"/>
    <p:sldId id="261"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82" d="100"/>
          <a:sy n="82" d="100"/>
        </p:scale>
        <p:origin x="7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628586-E594-48CE-95C0-FE1A798D5A6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89396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628586-E594-48CE-95C0-FE1A798D5A6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2442465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628586-E594-48CE-95C0-FE1A798D5A6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4120354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628586-E594-48CE-95C0-FE1A798D5A67}"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2806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628586-E594-48CE-95C0-FE1A798D5A67}" type="datetimeFigureOut">
              <a:rPr lang="en-US" smtClean="0"/>
              <a:t>12/26/2025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4026001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628586-E594-48CE-95C0-FE1A798D5A67}" type="datetimeFigureOut">
              <a:rPr lang="en-US" smtClean="0"/>
              <a:t>12/26/2025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3607459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628586-E594-48CE-95C0-FE1A798D5A67}" type="datetimeFigureOut">
              <a:rPr lang="en-US" smtClean="0"/>
              <a:t>12/26/2025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2954491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628586-E594-48CE-95C0-FE1A798D5A67}"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2318786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628586-E594-48CE-95C0-FE1A798D5A67}"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3744970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628586-E594-48CE-95C0-FE1A798D5A6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1715135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628586-E594-48CE-95C0-FE1A798D5A6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FD77D-05E8-4B06-AD67-B3489D2A45CE}" type="slidenum">
              <a:rPr lang="en-US" smtClean="0"/>
              <a:t>‹#›</a:t>
            </a:fld>
            <a:endParaRPr lang="en-US"/>
          </a:p>
        </p:txBody>
      </p:sp>
    </p:spTree>
    <p:extLst>
      <p:ext uri="{BB962C8B-B14F-4D97-AF65-F5344CB8AC3E}">
        <p14:creationId xmlns:p14="http://schemas.microsoft.com/office/powerpoint/2010/main" val="543461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BA628586-E594-48CE-95C0-FE1A798D5A67}" type="datetimeFigureOut">
              <a:rPr lang="en-US" smtClean="0"/>
              <a:t>12/26/2025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A8FD77D-05E8-4B06-AD67-B3489D2A45CE}" type="slidenum">
              <a:rPr lang="en-US" smtClean="0"/>
              <a:t>‹#›</a:t>
            </a:fld>
            <a:endParaRPr lang="en-US"/>
          </a:p>
        </p:txBody>
      </p:sp>
    </p:spTree>
    <p:extLst>
      <p:ext uri="{BB962C8B-B14F-4D97-AF65-F5344CB8AC3E}">
        <p14:creationId xmlns:p14="http://schemas.microsoft.com/office/powerpoint/2010/main" val="215559227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E097-5575-C839-D47C-9B7D040D7DC7}"/>
              </a:ext>
            </a:extLst>
          </p:cNvPr>
          <p:cNvSpPr>
            <a:spLocks noGrp="1"/>
          </p:cNvSpPr>
          <p:nvPr>
            <p:ph type="ctrTitle"/>
          </p:nvPr>
        </p:nvSpPr>
        <p:spPr/>
        <p:txBody>
          <a:bodyPr/>
          <a:lstStyle/>
          <a:p>
            <a:r>
              <a:rPr lang="en-US" dirty="0"/>
              <a:t>Predicting Employee Attrition</a:t>
            </a:r>
          </a:p>
        </p:txBody>
      </p:sp>
      <p:sp>
        <p:nvSpPr>
          <p:cNvPr id="3" name="Subtitle 2">
            <a:extLst>
              <a:ext uri="{FF2B5EF4-FFF2-40B4-BE49-F238E27FC236}">
                <a16:creationId xmlns:a16="http://schemas.microsoft.com/office/drawing/2014/main" id="{F6BEE556-2E9A-B502-8CB4-5EE367438567}"/>
              </a:ext>
            </a:extLst>
          </p:cNvPr>
          <p:cNvSpPr>
            <a:spLocks noGrp="1"/>
          </p:cNvSpPr>
          <p:nvPr>
            <p:ph type="subTitle" idx="1"/>
          </p:nvPr>
        </p:nvSpPr>
        <p:spPr/>
        <p:txBody>
          <a:bodyPr/>
          <a:lstStyle/>
          <a:p>
            <a:r>
              <a:rPr lang="en-US" dirty="0"/>
              <a:t>Based on </a:t>
            </a:r>
            <a:r>
              <a:rPr lang="en-US" dirty="0" err="1"/>
              <a:t>Sailfort</a:t>
            </a:r>
            <a:r>
              <a:rPr lang="en-US" dirty="0"/>
              <a:t> Motors (fictional company and dataset)</a:t>
            </a:r>
          </a:p>
        </p:txBody>
      </p:sp>
    </p:spTree>
    <p:extLst>
      <p:ext uri="{BB962C8B-B14F-4D97-AF65-F5344CB8AC3E}">
        <p14:creationId xmlns:p14="http://schemas.microsoft.com/office/powerpoint/2010/main" val="1255891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93D7-B1D6-8712-AFDC-ADEA875B0F13}"/>
              </a:ext>
            </a:extLst>
          </p:cNvPr>
          <p:cNvSpPr>
            <a:spLocks noGrp="1"/>
          </p:cNvSpPr>
          <p:nvPr>
            <p:ph type="title"/>
          </p:nvPr>
        </p:nvSpPr>
        <p:spPr/>
        <p:txBody>
          <a:bodyPr/>
          <a:lstStyle/>
          <a:p>
            <a:r>
              <a:rPr lang="en-US" dirty="0"/>
              <a:t>The Task and Available Data</a:t>
            </a:r>
          </a:p>
        </p:txBody>
      </p:sp>
      <p:sp>
        <p:nvSpPr>
          <p:cNvPr id="3" name="Content Placeholder 2">
            <a:extLst>
              <a:ext uri="{FF2B5EF4-FFF2-40B4-BE49-F238E27FC236}">
                <a16:creationId xmlns:a16="http://schemas.microsoft.com/office/drawing/2014/main" id="{000B92F2-8703-DB5E-50E6-A96CD28F6701}"/>
              </a:ext>
            </a:extLst>
          </p:cNvPr>
          <p:cNvSpPr>
            <a:spLocks noGrp="1"/>
          </p:cNvSpPr>
          <p:nvPr>
            <p:ph sz="half" idx="1"/>
          </p:nvPr>
        </p:nvSpPr>
        <p:spPr>
          <a:xfrm>
            <a:off x="838201" y="1623786"/>
            <a:ext cx="5181600" cy="4351338"/>
          </a:xfrm>
        </p:spPr>
        <p:txBody>
          <a:bodyPr>
            <a:normAutofit/>
          </a:bodyPr>
          <a:lstStyle/>
          <a:p>
            <a:pPr marL="0" indent="0">
              <a:buNone/>
            </a:pPr>
            <a:r>
              <a:rPr lang="en-US" u="sng" dirty="0"/>
              <a:t>Problem Statement</a:t>
            </a:r>
          </a:p>
          <a:p>
            <a:r>
              <a:rPr lang="en-US" sz="1600" dirty="0"/>
              <a:t>Sailfort Motors wants to be able to predict whether an employee will quit, in order to better reduce attrition likelihood and ensure resource utilization is optimized for employees who will remain.</a:t>
            </a:r>
          </a:p>
          <a:p>
            <a:pPr marL="0" indent="0">
              <a:buNone/>
            </a:pPr>
            <a:r>
              <a:rPr lang="en-US" u="sng" dirty="0"/>
              <a:t>Why This Matters</a:t>
            </a:r>
          </a:p>
          <a:p>
            <a:r>
              <a:rPr lang="en-US" sz="1600" dirty="0"/>
              <a:t>High attrition increases hiring and training costs, as well as reduces long-term value of resources invested in employee development.</a:t>
            </a:r>
          </a:p>
          <a:p>
            <a:r>
              <a:rPr lang="en-US" sz="1600" dirty="0"/>
              <a:t>Improved attrition predictive ability can better help HR to intervene amongst employees/employee groups at greatest attrition risk.</a:t>
            </a:r>
          </a:p>
        </p:txBody>
      </p:sp>
      <p:sp>
        <p:nvSpPr>
          <p:cNvPr id="4" name="Content Placeholder 3">
            <a:extLst>
              <a:ext uri="{FF2B5EF4-FFF2-40B4-BE49-F238E27FC236}">
                <a16:creationId xmlns:a16="http://schemas.microsoft.com/office/drawing/2014/main" id="{758BC9A1-5C02-DA24-7B4D-88C6F23A8662}"/>
              </a:ext>
            </a:extLst>
          </p:cNvPr>
          <p:cNvSpPr>
            <a:spLocks noGrp="1"/>
          </p:cNvSpPr>
          <p:nvPr>
            <p:ph sz="half" idx="2"/>
          </p:nvPr>
        </p:nvSpPr>
        <p:spPr>
          <a:xfrm>
            <a:off x="6172199" y="1628069"/>
            <a:ext cx="5181600" cy="4351338"/>
          </a:xfrm>
        </p:spPr>
        <p:txBody>
          <a:bodyPr/>
          <a:lstStyle/>
          <a:p>
            <a:pPr marL="0" indent="0">
              <a:buNone/>
            </a:pPr>
            <a:r>
              <a:rPr lang="en-US" u="sng" dirty="0"/>
              <a:t>Data</a:t>
            </a:r>
          </a:p>
          <a:p>
            <a:r>
              <a:rPr lang="en-US" sz="1600" dirty="0"/>
              <a:t>~11,000 complete employee data points</a:t>
            </a:r>
          </a:p>
          <a:p>
            <a:r>
              <a:rPr lang="en-US" sz="1600" dirty="0"/>
              <a:t>16 variables were included, with most relevant variables shown in Figure 1, below.</a:t>
            </a:r>
          </a:p>
          <a:p>
            <a:pPr lvl="1"/>
            <a:r>
              <a:rPr lang="en-US" sz="1200" dirty="0"/>
              <a:t>Salary was previously coded into low, medium, and high values by Sailfort Motors. </a:t>
            </a:r>
          </a:p>
          <a:p>
            <a:pPr lvl="1"/>
            <a:r>
              <a:rPr lang="en-US" sz="1200" dirty="0"/>
              <a:t>Receipt of promotion was coded to binary for 1 = yes, 0 = no.</a:t>
            </a:r>
          </a:p>
          <a:p>
            <a:pPr lvl="1"/>
            <a:r>
              <a:rPr lang="en-US" sz="1200" dirty="0"/>
              <a:t>Overworked was coded as 0 = no, 1 = yes, based on whether average work hours per month exceeded a rate of 40 hours/week.</a:t>
            </a:r>
          </a:p>
          <a:p>
            <a:pPr lvl="1"/>
            <a:r>
              <a:rPr lang="en-US" sz="1200" dirty="0"/>
              <a:t>The main outcome variable is ‘left’, coded as 0 = stayed with company, 1 = left company.</a:t>
            </a:r>
          </a:p>
          <a:p>
            <a:endParaRPr lang="en-US" sz="1600" dirty="0"/>
          </a:p>
        </p:txBody>
      </p:sp>
      <p:pic>
        <p:nvPicPr>
          <p:cNvPr id="10" name="Picture 9" descr="A screen shot of a computer&#10;&#10;AI-generated content may be incorrect.">
            <a:extLst>
              <a:ext uri="{FF2B5EF4-FFF2-40B4-BE49-F238E27FC236}">
                <a16:creationId xmlns:a16="http://schemas.microsoft.com/office/drawing/2014/main" id="{7810CD2C-DD2A-BCED-6D26-A77CE310AE24}"/>
              </a:ext>
            </a:extLst>
          </p:cNvPr>
          <p:cNvPicPr>
            <a:picLocks noChangeAspect="1"/>
          </p:cNvPicPr>
          <p:nvPr/>
        </p:nvPicPr>
        <p:blipFill>
          <a:blip r:embed="rId2"/>
          <a:stretch>
            <a:fillRect/>
          </a:stretch>
        </p:blipFill>
        <p:spPr>
          <a:xfrm>
            <a:off x="2014880" y="5229931"/>
            <a:ext cx="8314639" cy="1035500"/>
          </a:xfrm>
          <a:prstGeom prst="rect">
            <a:avLst/>
          </a:prstGeom>
        </p:spPr>
      </p:pic>
      <p:sp>
        <p:nvSpPr>
          <p:cNvPr id="11" name="TextBox 10">
            <a:extLst>
              <a:ext uri="{FF2B5EF4-FFF2-40B4-BE49-F238E27FC236}">
                <a16:creationId xmlns:a16="http://schemas.microsoft.com/office/drawing/2014/main" id="{023C7AE1-D79E-D150-E00C-88FE9DB01955}"/>
              </a:ext>
            </a:extLst>
          </p:cNvPr>
          <p:cNvSpPr txBox="1"/>
          <p:nvPr/>
        </p:nvSpPr>
        <p:spPr>
          <a:xfrm>
            <a:off x="2014880" y="6265431"/>
            <a:ext cx="8314639" cy="276999"/>
          </a:xfrm>
          <a:prstGeom prst="rect">
            <a:avLst/>
          </a:prstGeom>
          <a:noFill/>
        </p:spPr>
        <p:txBody>
          <a:bodyPr wrap="square" rtlCol="0">
            <a:spAutoFit/>
          </a:bodyPr>
          <a:lstStyle/>
          <a:p>
            <a:r>
              <a:rPr lang="en-US" sz="1200" dirty="0"/>
              <a:t>Figure 1. Representative sample of 2 employees from overall data, excluding department assignments.</a:t>
            </a:r>
          </a:p>
        </p:txBody>
      </p:sp>
    </p:spTree>
    <p:extLst>
      <p:ext uri="{BB962C8B-B14F-4D97-AF65-F5344CB8AC3E}">
        <p14:creationId xmlns:p14="http://schemas.microsoft.com/office/powerpoint/2010/main" val="331524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F30AD-23BB-B97D-9320-7EDD893390CA}"/>
              </a:ext>
            </a:extLst>
          </p:cNvPr>
          <p:cNvSpPr>
            <a:spLocks noGrp="1"/>
          </p:cNvSpPr>
          <p:nvPr>
            <p:ph type="title"/>
          </p:nvPr>
        </p:nvSpPr>
        <p:spPr/>
        <p:txBody>
          <a:bodyPr/>
          <a:lstStyle/>
          <a:p>
            <a:r>
              <a:rPr lang="en-US" dirty="0"/>
              <a:t>Model Selection and Evaluation</a:t>
            </a:r>
          </a:p>
        </p:txBody>
      </p:sp>
      <p:sp>
        <p:nvSpPr>
          <p:cNvPr id="3" name="Content Placeholder 2">
            <a:extLst>
              <a:ext uri="{FF2B5EF4-FFF2-40B4-BE49-F238E27FC236}">
                <a16:creationId xmlns:a16="http://schemas.microsoft.com/office/drawing/2014/main" id="{25972AA3-C95A-61A9-E693-B647EAAF4EBE}"/>
              </a:ext>
            </a:extLst>
          </p:cNvPr>
          <p:cNvSpPr>
            <a:spLocks noGrp="1"/>
          </p:cNvSpPr>
          <p:nvPr>
            <p:ph sz="half" idx="1"/>
          </p:nvPr>
        </p:nvSpPr>
        <p:spPr/>
        <p:txBody>
          <a:bodyPr>
            <a:normAutofit/>
          </a:bodyPr>
          <a:lstStyle/>
          <a:p>
            <a:r>
              <a:rPr lang="en-US" sz="1800" dirty="0"/>
              <a:t>The outcome variable is binary, so decision tree and random forest models are appropriate.</a:t>
            </a:r>
          </a:p>
          <a:p>
            <a:r>
              <a:rPr lang="en-US" sz="1800" dirty="0"/>
              <a:t>GridSearchCV was used, refit to auc and cross-validated with 4 folds.</a:t>
            </a:r>
          </a:p>
          <a:p>
            <a:r>
              <a:rPr lang="en-US" sz="1800" dirty="0"/>
              <a:t>Scoring metrics: precision, recall, accuracy, f1, ROC area-under-curve (auc).</a:t>
            </a:r>
          </a:p>
          <a:p>
            <a:pPr lvl="1"/>
            <a:r>
              <a:rPr lang="en-US" sz="1400" dirty="0"/>
              <a:t>ROC-AUC was used as the metric of interest due to a mild imbalance between number of employees who stayed and number who left.</a:t>
            </a:r>
          </a:p>
          <a:p>
            <a:r>
              <a:rPr lang="en-US" sz="1800" dirty="0"/>
              <a:t>Data train/test split %: 75/25</a:t>
            </a:r>
          </a:p>
          <a:p>
            <a:r>
              <a:rPr lang="en-US" sz="1800" dirty="0"/>
              <a:t>Employee satisfaction was omitted from final model due to being inconsistently tracked and largely colinear with attrition.</a:t>
            </a:r>
          </a:p>
          <a:p>
            <a:endParaRPr lang="en-US" sz="1800" dirty="0"/>
          </a:p>
        </p:txBody>
      </p:sp>
      <p:sp>
        <p:nvSpPr>
          <p:cNvPr id="4" name="Content Placeholder 3">
            <a:extLst>
              <a:ext uri="{FF2B5EF4-FFF2-40B4-BE49-F238E27FC236}">
                <a16:creationId xmlns:a16="http://schemas.microsoft.com/office/drawing/2014/main" id="{8FE01792-FAD2-9EC2-FD6C-4A37507BF1A3}"/>
              </a:ext>
            </a:extLst>
          </p:cNvPr>
          <p:cNvSpPr>
            <a:spLocks noGrp="1"/>
          </p:cNvSpPr>
          <p:nvPr>
            <p:ph sz="half" idx="2"/>
          </p:nvPr>
        </p:nvSpPr>
        <p:spPr/>
        <p:txBody>
          <a:bodyPr>
            <a:normAutofit/>
          </a:bodyPr>
          <a:lstStyle/>
          <a:p>
            <a:pPr marL="0" indent="0">
              <a:buNone/>
            </a:pPr>
            <a:r>
              <a:rPr lang="en-US" sz="1800" u="sng" dirty="0"/>
              <a:t>Notable Metrics</a:t>
            </a:r>
          </a:p>
          <a:p>
            <a:pPr lvl="1"/>
            <a:r>
              <a:rPr lang="en-US" sz="1400" dirty="0"/>
              <a:t>Precision: High precision helps avoid false positives, saving resources on unnecessary intervention.</a:t>
            </a:r>
          </a:p>
          <a:p>
            <a:pPr lvl="1"/>
            <a:r>
              <a:rPr lang="en-US" sz="1400" dirty="0"/>
              <a:t>Recall: High recall helps avoid false negatives, ensuring timely intervention with employees at risk of leaving.</a:t>
            </a:r>
          </a:p>
          <a:p>
            <a:pPr lvl="1"/>
            <a:r>
              <a:rPr lang="en-US" sz="1400" dirty="0"/>
              <a:t>F1: A high F1 score means a good balance between precision and recall, ensuring the model captures true leavers while avoiding excessive false positives.</a:t>
            </a:r>
          </a:p>
          <a:p>
            <a:pPr lvl="1"/>
            <a:r>
              <a:rPr lang="en-US" sz="1400" dirty="0"/>
              <a:t>ROC-AUC: A high AUC value means the model reliably ranks employees likely to leave higher than those likely to stay, regardless of category-assignment threshold.</a:t>
            </a:r>
          </a:p>
          <a:p>
            <a:r>
              <a:rPr lang="en-US" sz="1800" dirty="0"/>
              <a:t>The Random Forest model (rf2) outperforms the decision tree (tree2) in all metrics, except recall, seen in Figure 2.</a:t>
            </a:r>
          </a:p>
        </p:txBody>
      </p:sp>
      <p:pic>
        <p:nvPicPr>
          <p:cNvPr id="11" name="Picture 10" descr="A screenshot of a calculator&#10;&#10;AI-generated content may be incorrect.">
            <a:extLst>
              <a:ext uri="{FF2B5EF4-FFF2-40B4-BE49-F238E27FC236}">
                <a16:creationId xmlns:a16="http://schemas.microsoft.com/office/drawing/2014/main" id="{A1D2789F-9607-432D-F48D-C629E484B8AB}"/>
              </a:ext>
            </a:extLst>
          </p:cNvPr>
          <p:cNvPicPr>
            <a:picLocks noChangeAspect="1"/>
          </p:cNvPicPr>
          <p:nvPr/>
        </p:nvPicPr>
        <p:blipFill>
          <a:blip r:embed="rId2"/>
          <a:stretch>
            <a:fillRect/>
          </a:stretch>
        </p:blipFill>
        <p:spPr>
          <a:xfrm>
            <a:off x="6172200" y="5257633"/>
            <a:ext cx="5181600" cy="1235242"/>
          </a:xfrm>
          <a:prstGeom prst="rect">
            <a:avLst/>
          </a:prstGeom>
        </p:spPr>
      </p:pic>
      <p:sp>
        <p:nvSpPr>
          <p:cNvPr id="5" name="TextBox 4">
            <a:extLst>
              <a:ext uri="{FF2B5EF4-FFF2-40B4-BE49-F238E27FC236}">
                <a16:creationId xmlns:a16="http://schemas.microsoft.com/office/drawing/2014/main" id="{BBBA9BDB-AC17-661E-F387-580B80EB9B26}"/>
              </a:ext>
            </a:extLst>
          </p:cNvPr>
          <p:cNvSpPr txBox="1"/>
          <p:nvPr/>
        </p:nvSpPr>
        <p:spPr>
          <a:xfrm>
            <a:off x="4605680" y="6532399"/>
            <a:ext cx="8314639" cy="276999"/>
          </a:xfrm>
          <a:prstGeom prst="rect">
            <a:avLst/>
          </a:prstGeom>
          <a:noFill/>
        </p:spPr>
        <p:txBody>
          <a:bodyPr wrap="square" rtlCol="0">
            <a:spAutoFit/>
          </a:bodyPr>
          <a:lstStyle/>
          <a:p>
            <a:r>
              <a:rPr lang="en-US" sz="1200" dirty="0"/>
              <a:t>Figure 2. Performance scores from the best estimators of decision tree and random forest classification models.</a:t>
            </a:r>
          </a:p>
        </p:txBody>
      </p:sp>
    </p:spTree>
    <p:extLst>
      <p:ext uri="{BB962C8B-B14F-4D97-AF65-F5344CB8AC3E}">
        <p14:creationId xmlns:p14="http://schemas.microsoft.com/office/powerpoint/2010/main" val="393621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8B150-9AA7-C209-93B6-83A9A76FD63C}"/>
              </a:ext>
            </a:extLst>
          </p:cNvPr>
          <p:cNvSpPr>
            <a:spLocks noGrp="1"/>
          </p:cNvSpPr>
          <p:nvPr>
            <p:ph type="title"/>
          </p:nvPr>
        </p:nvSpPr>
        <p:spPr>
          <a:xfrm>
            <a:off x="838200" y="18255"/>
            <a:ext cx="10515600" cy="845928"/>
          </a:xfrm>
        </p:spPr>
        <p:txBody>
          <a:bodyPr/>
          <a:lstStyle/>
          <a:p>
            <a:pPr algn="ctr"/>
            <a:r>
              <a:rPr lang="en-US" dirty="0"/>
              <a:t>Individual Predictor Importance</a:t>
            </a:r>
          </a:p>
        </p:txBody>
      </p:sp>
      <p:sp>
        <p:nvSpPr>
          <p:cNvPr id="3" name="Content Placeholder 2">
            <a:extLst>
              <a:ext uri="{FF2B5EF4-FFF2-40B4-BE49-F238E27FC236}">
                <a16:creationId xmlns:a16="http://schemas.microsoft.com/office/drawing/2014/main" id="{0C41E5D2-5519-FBD8-7DA5-3AD89120AC6E}"/>
              </a:ext>
            </a:extLst>
          </p:cNvPr>
          <p:cNvSpPr>
            <a:spLocks noGrp="1"/>
          </p:cNvSpPr>
          <p:nvPr>
            <p:ph sz="half" idx="1"/>
          </p:nvPr>
        </p:nvSpPr>
        <p:spPr/>
        <p:txBody>
          <a:bodyPr>
            <a:normAutofit/>
          </a:bodyPr>
          <a:lstStyle/>
          <a:p>
            <a:r>
              <a:rPr lang="en-US" sz="1800" dirty="0"/>
              <a:t>SHAP values, seen in Figure 3, display the relative contributions of each predictor to the final model outcome.</a:t>
            </a:r>
          </a:p>
          <a:p>
            <a:pPr lvl="1"/>
            <a:r>
              <a:rPr lang="en-US" sz="1400" dirty="0"/>
              <a:t>Quantifies how each variable pushes an individual prediction higher or lower (0 = stay, 1 = leave).</a:t>
            </a:r>
          </a:p>
          <a:p>
            <a:r>
              <a:rPr lang="en-US" sz="1800" dirty="0"/>
              <a:t>For an individual employee, the number of projects assigned, their tenure, their last evaluation score, and whether they are classified as overworked (&gt; 175 monthly hours).</a:t>
            </a:r>
          </a:p>
          <a:p>
            <a:r>
              <a:rPr lang="en-US" sz="1800" dirty="0"/>
              <a:t>Notably, an employee’s salary and whether they have received a promotion within the last 5 years are weak predictors of attrition.</a:t>
            </a:r>
          </a:p>
        </p:txBody>
      </p:sp>
      <p:pic>
        <p:nvPicPr>
          <p:cNvPr id="1026" name="Picture 2">
            <a:extLst>
              <a:ext uri="{FF2B5EF4-FFF2-40B4-BE49-F238E27FC236}">
                <a16:creationId xmlns:a16="http://schemas.microsoft.com/office/drawing/2014/main" id="{EF24ADEA-4C3F-1324-3614-07A5EAB175C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77710" y="864183"/>
            <a:ext cx="5597766" cy="55905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1CAC5B5-825C-6EDB-8669-69F42F338791}"/>
              </a:ext>
            </a:extLst>
          </p:cNvPr>
          <p:cNvSpPr txBox="1"/>
          <p:nvPr/>
        </p:nvSpPr>
        <p:spPr>
          <a:xfrm>
            <a:off x="3972634" y="6511220"/>
            <a:ext cx="8314639" cy="276999"/>
          </a:xfrm>
          <a:prstGeom prst="rect">
            <a:avLst/>
          </a:prstGeom>
          <a:noFill/>
        </p:spPr>
        <p:txBody>
          <a:bodyPr wrap="square" rtlCol="0">
            <a:spAutoFit/>
          </a:bodyPr>
          <a:lstStyle/>
          <a:p>
            <a:r>
              <a:rPr lang="en-US" sz="1200" dirty="0"/>
              <a:t>Figure 3. Bee swarm plot of all predictors, colored by their intra-variable value, based on their impacts on model prediction.</a:t>
            </a:r>
          </a:p>
        </p:txBody>
      </p:sp>
    </p:spTree>
    <p:extLst>
      <p:ext uri="{BB962C8B-B14F-4D97-AF65-F5344CB8AC3E}">
        <p14:creationId xmlns:p14="http://schemas.microsoft.com/office/powerpoint/2010/main" val="757386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8DF6-3D1F-3352-6320-687E999D6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5EAAB-006B-B89E-FDCD-42CF7E09CE84}"/>
              </a:ext>
            </a:extLst>
          </p:cNvPr>
          <p:cNvSpPr>
            <a:spLocks noGrp="1"/>
          </p:cNvSpPr>
          <p:nvPr>
            <p:ph type="title"/>
          </p:nvPr>
        </p:nvSpPr>
        <p:spPr>
          <a:xfrm>
            <a:off x="838200" y="18255"/>
            <a:ext cx="10515600" cy="845928"/>
          </a:xfrm>
        </p:spPr>
        <p:txBody>
          <a:bodyPr>
            <a:normAutofit/>
          </a:bodyPr>
          <a:lstStyle/>
          <a:p>
            <a:pPr algn="ctr"/>
            <a:r>
              <a:rPr lang="en-US" sz="3800" dirty="0"/>
              <a:t>Individual Predictor Importance – Number of Projects</a:t>
            </a:r>
          </a:p>
        </p:txBody>
      </p:sp>
      <p:sp>
        <p:nvSpPr>
          <p:cNvPr id="3" name="Content Placeholder 2">
            <a:extLst>
              <a:ext uri="{FF2B5EF4-FFF2-40B4-BE49-F238E27FC236}">
                <a16:creationId xmlns:a16="http://schemas.microsoft.com/office/drawing/2014/main" id="{01CFE657-82A7-8E92-2B4E-1C947FA93933}"/>
              </a:ext>
            </a:extLst>
          </p:cNvPr>
          <p:cNvSpPr>
            <a:spLocks noGrp="1"/>
          </p:cNvSpPr>
          <p:nvPr>
            <p:ph sz="half" idx="1"/>
          </p:nvPr>
        </p:nvSpPr>
        <p:spPr>
          <a:xfrm>
            <a:off x="197860" y="1771773"/>
            <a:ext cx="4913402" cy="4351338"/>
          </a:xfrm>
        </p:spPr>
        <p:txBody>
          <a:bodyPr>
            <a:normAutofit/>
          </a:bodyPr>
          <a:lstStyle/>
          <a:p>
            <a:r>
              <a:rPr lang="en-US" sz="1800" dirty="0"/>
              <a:t>SHAP dependence values for number of assigned projects, seen in Figure 4, indicate that attrition risk is lowest for employees assigned 3-5 projects.</a:t>
            </a:r>
          </a:p>
          <a:p>
            <a:pPr lvl="1"/>
            <a:r>
              <a:rPr lang="en-US" sz="1400" dirty="0"/>
              <a:t>Work underload and overload both seem to increase attrition risk.</a:t>
            </a:r>
          </a:p>
          <a:p>
            <a:r>
              <a:rPr lang="en-US" sz="1800" dirty="0"/>
              <a:t>Coloring by tenure suggests that employees assigned 2 projects tend to have a shorter tenure, and employees assigned 6-7 projects tend to have a moderate to longer tenure.</a:t>
            </a:r>
          </a:p>
        </p:txBody>
      </p:sp>
      <p:sp>
        <p:nvSpPr>
          <p:cNvPr id="5" name="TextBox 4">
            <a:extLst>
              <a:ext uri="{FF2B5EF4-FFF2-40B4-BE49-F238E27FC236}">
                <a16:creationId xmlns:a16="http://schemas.microsoft.com/office/drawing/2014/main" id="{183953DE-E0D7-6F18-41B0-0F0FD640E1BA}"/>
              </a:ext>
            </a:extLst>
          </p:cNvPr>
          <p:cNvSpPr txBox="1"/>
          <p:nvPr/>
        </p:nvSpPr>
        <p:spPr>
          <a:xfrm>
            <a:off x="5025883" y="5867040"/>
            <a:ext cx="6682526" cy="276999"/>
          </a:xfrm>
          <a:prstGeom prst="rect">
            <a:avLst/>
          </a:prstGeom>
          <a:noFill/>
        </p:spPr>
        <p:txBody>
          <a:bodyPr wrap="square" rtlCol="0">
            <a:spAutoFit/>
          </a:bodyPr>
          <a:lstStyle/>
          <a:p>
            <a:r>
              <a:rPr lang="en-US" sz="1200" dirty="0"/>
              <a:t>Figure 4. Dependence plot on the effect of the number of projects assigned on attrition prediction.</a:t>
            </a:r>
          </a:p>
        </p:txBody>
      </p:sp>
      <p:pic>
        <p:nvPicPr>
          <p:cNvPr id="4" name="Picture 2">
            <a:extLst>
              <a:ext uri="{FF2B5EF4-FFF2-40B4-BE49-F238E27FC236}">
                <a16:creationId xmlns:a16="http://schemas.microsoft.com/office/drawing/2014/main" id="{F82B67E7-1CC2-AFA0-A2CD-26D3729EB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5883" y="1055077"/>
            <a:ext cx="6968258" cy="4759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884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D6A7CC63-8B0E-5893-5C86-FC722692D5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4030" y="1182537"/>
            <a:ext cx="6964952" cy="476164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E629E32-FEAC-325F-EB83-EED6502CA02E}"/>
              </a:ext>
            </a:extLst>
          </p:cNvPr>
          <p:cNvSpPr>
            <a:spLocks noGrp="1"/>
          </p:cNvSpPr>
          <p:nvPr>
            <p:ph sz="half" idx="1"/>
          </p:nvPr>
        </p:nvSpPr>
        <p:spPr>
          <a:xfrm>
            <a:off x="275492" y="1614797"/>
            <a:ext cx="4706816" cy="4351338"/>
          </a:xfrm>
        </p:spPr>
        <p:txBody>
          <a:bodyPr>
            <a:normAutofit/>
          </a:bodyPr>
          <a:lstStyle/>
          <a:p>
            <a:r>
              <a:rPr lang="en-US" sz="1800" dirty="0"/>
              <a:t>SHAP dependence values for tenure, seen in Figure 5, indicate that attrition risk generally increases with tenure. </a:t>
            </a:r>
          </a:p>
          <a:p>
            <a:r>
              <a:rPr lang="en-US" sz="1800" dirty="0"/>
              <a:t>Additionally, when considering the interaction with employees’ last evaluation scores, attrition risk increases with both tenure AND evaluation score.</a:t>
            </a:r>
          </a:p>
        </p:txBody>
      </p:sp>
      <p:sp>
        <p:nvSpPr>
          <p:cNvPr id="6" name="Title 1">
            <a:extLst>
              <a:ext uri="{FF2B5EF4-FFF2-40B4-BE49-F238E27FC236}">
                <a16:creationId xmlns:a16="http://schemas.microsoft.com/office/drawing/2014/main" id="{93D2384B-C852-006B-FF34-B88BD0FA46F5}"/>
              </a:ext>
            </a:extLst>
          </p:cNvPr>
          <p:cNvSpPr txBox="1">
            <a:spLocks/>
          </p:cNvSpPr>
          <p:nvPr/>
        </p:nvSpPr>
        <p:spPr>
          <a:xfrm>
            <a:off x="838200" y="18255"/>
            <a:ext cx="10515600" cy="8459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dirty="0"/>
              <a:t>Individual Predictor Importance – Tenure</a:t>
            </a:r>
          </a:p>
        </p:txBody>
      </p:sp>
      <p:sp>
        <p:nvSpPr>
          <p:cNvPr id="7" name="TextBox 6">
            <a:extLst>
              <a:ext uri="{FF2B5EF4-FFF2-40B4-BE49-F238E27FC236}">
                <a16:creationId xmlns:a16="http://schemas.microsoft.com/office/drawing/2014/main" id="{C1562CED-7E31-D5FF-A4DD-84B6F3C7CFC9}"/>
              </a:ext>
            </a:extLst>
          </p:cNvPr>
          <p:cNvSpPr txBox="1"/>
          <p:nvPr/>
        </p:nvSpPr>
        <p:spPr>
          <a:xfrm>
            <a:off x="5064030" y="5966135"/>
            <a:ext cx="6682526" cy="276999"/>
          </a:xfrm>
          <a:prstGeom prst="rect">
            <a:avLst/>
          </a:prstGeom>
          <a:noFill/>
        </p:spPr>
        <p:txBody>
          <a:bodyPr wrap="square" rtlCol="0">
            <a:spAutoFit/>
          </a:bodyPr>
          <a:lstStyle/>
          <a:p>
            <a:r>
              <a:rPr lang="en-US" sz="1200" dirty="0"/>
              <a:t>Figure 5. Dependence plot on the effect of tenure on attrition prediction.</a:t>
            </a:r>
          </a:p>
        </p:txBody>
      </p:sp>
    </p:spTree>
    <p:extLst>
      <p:ext uri="{BB962C8B-B14F-4D97-AF65-F5344CB8AC3E}">
        <p14:creationId xmlns:p14="http://schemas.microsoft.com/office/powerpoint/2010/main" val="3417964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72EF3-D6A5-F6B2-DD09-9F6FB3E6188C}"/>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8D525998-74EE-8DC0-BF00-01EF9ECA9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2308" y="1201452"/>
            <a:ext cx="7098323" cy="477731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908E97D-2F80-4E30-8A8C-B563FDF6EF0C}"/>
              </a:ext>
            </a:extLst>
          </p:cNvPr>
          <p:cNvSpPr>
            <a:spLocks noGrp="1"/>
          </p:cNvSpPr>
          <p:nvPr>
            <p:ph sz="half" idx="1"/>
          </p:nvPr>
        </p:nvSpPr>
        <p:spPr>
          <a:xfrm>
            <a:off x="111369" y="1485656"/>
            <a:ext cx="4683369" cy="4223117"/>
          </a:xfrm>
        </p:spPr>
        <p:txBody>
          <a:bodyPr>
            <a:normAutofit/>
          </a:bodyPr>
          <a:lstStyle/>
          <a:p>
            <a:r>
              <a:rPr lang="en-US" sz="1800" dirty="0"/>
              <a:t>SHAP dependence values for last evaluation scores, seen in Figure 6, indicate a somewhat bimodal increase in attrition risk. </a:t>
            </a:r>
          </a:p>
          <a:p>
            <a:pPr lvl="1"/>
            <a:r>
              <a:rPr lang="en-US" sz="1400" dirty="0"/>
              <a:t>Employees with low evaluation scores and low project assignments are at increased risk, as are employees with high evaluation scores and high project assignments.</a:t>
            </a:r>
          </a:p>
          <a:p>
            <a:r>
              <a:rPr lang="en-US" sz="1800" dirty="0"/>
              <a:t>The interaction with number of assigned projects is less clear in the midrange of evaluation scores, although it reflects a more stable, lower-risk pattern.</a:t>
            </a:r>
          </a:p>
        </p:txBody>
      </p:sp>
      <p:sp>
        <p:nvSpPr>
          <p:cNvPr id="4" name="TextBox 3">
            <a:extLst>
              <a:ext uri="{FF2B5EF4-FFF2-40B4-BE49-F238E27FC236}">
                <a16:creationId xmlns:a16="http://schemas.microsoft.com/office/drawing/2014/main" id="{D753C240-9366-ECF9-602A-26367C2E5F8E}"/>
              </a:ext>
            </a:extLst>
          </p:cNvPr>
          <p:cNvSpPr txBox="1"/>
          <p:nvPr/>
        </p:nvSpPr>
        <p:spPr>
          <a:xfrm>
            <a:off x="4982308" y="5978769"/>
            <a:ext cx="6776671" cy="276999"/>
          </a:xfrm>
          <a:prstGeom prst="rect">
            <a:avLst/>
          </a:prstGeom>
          <a:noFill/>
        </p:spPr>
        <p:txBody>
          <a:bodyPr wrap="square" rtlCol="0">
            <a:spAutoFit/>
          </a:bodyPr>
          <a:lstStyle/>
          <a:p>
            <a:r>
              <a:rPr lang="en-US" sz="1200" dirty="0"/>
              <a:t>Figure 6. Dependence plot on the effect of employees’ last evaluation scores on attrition prediction.</a:t>
            </a:r>
          </a:p>
        </p:txBody>
      </p:sp>
      <p:sp>
        <p:nvSpPr>
          <p:cNvPr id="7" name="Title 1">
            <a:extLst>
              <a:ext uri="{FF2B5EF4-FFF2-40B4-BE49-F238E27FC236}">
                <a16:creationId xmlns:a16="http://schemas.microsoft.com/office/drawing/2014/main" id="{EB797CE0-D9C0-2E6D-6C9F-3E5CCC67EA2A}"/>
              </a:ext>
            </a:extLst>
          </p:cNvPr>
          <p:cNvSpPr>
            <a:spLocks noGrp="1"/>
          </p:cNvSpPr>
          <p:nvPr>
            <p:ph type="title"/>
          </p:nvPr>
        </p:nvSpPr>
        <p:spPr>
          <a:xfrm>
            <a:off x="565639" y="56183"/>
            <a:ext cx="11060722" cy="845928"/>
          </a:xfrm>
        </p:spPr>
        <p:txBody>
          <a:bodyPr>
            <a:normAutofit/>
          </a:bodyPr>
          <a:lstStyle/>
          <a:p>
            <a:pPr algn="ctr"/>
            <a:r>
              <a:rPr lang="en-US" sz="3800" dirty="0"/>
              <a:t>Individual Predictor Importance – Last Evaluation Score</a:t>
            </a:r>
          </a:p>
        </p:txBody>
      </p:sp>
    </p:spTree>
    <p:extLst>
      <p:ext uri="{BB962C8B-B14F-4D97-AF65-F5344CB8AC3E}">
        <p14:creationId xmlns:p14="http://schemas.microsoft.com/office/powerpoint/2010/main" val="3987759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A1D7-7DB5-5386-825B-5C503BB440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D943C0-9B5D-530E-3C2D-734C16FEFBB4}"/>
              </a:ext>
            </a:extLst>
          </p:cNvPr>
          <p:cNvSpPr>
            <a:spLocks noGrp="1"/>
          </p:cNvSpPr>
          <p:nvPr>
            <p:ph sz="half" idx="1"/>
          </p:nvPr>
        </p:nvSpPr>
        <p:spPr>
          <a:xfrm>
            <a:off x="111369" y="1485656"/>
            <a:ext cx="4683369" cy="4223117"/>
          </a:xfrm>
        </p:spPr>
        <p:txBody>
          <a:bodyPr>
            <a:normAutofit/>
          </a:bodyPr>
          <a:lstStyle/>
          <a:p>
            <a:r>
              <a:rPr lang="en-US" sz="1800" dirty="0"/>
              <a:t>SHAP dependence values for whether an employee is overworked (&gt;175hr/month), seen in Figure 7, do not indicate a significant pattern on attrition risk, in alignment  with the bee swam plot seen previously.</a:t>
            </a:r>
          </a:p>
          <a:p>
            <a:r>
              <a:rPr lang="en-US" sz="1800" dirty="0"/>
              <a:t>Number of assigned projects was selected as the strongest interaction by default when building the plot. Nevertheless, color distribution shows no meaningful interaction</a:t>
            </a:r>
          </a:p>
        </p:txBody>
      </p:sp>
      <p:sp>
        <p:nvSpPr>
          <p:cNvPr id="4" name="TextBox 3">
            <a:extLst>
              <a:ext uri="{FF2B5EF4-FFF2-40B4-BE49-F238E27FC236}">
                <a16:creationId xmlns:a16="http://schemas.microsoft.com/office/drawing/2014/main" id="{965F2732-BB21-7CCE-E5B9-93FEFEE5D17A}"/>
              </a:ext>
            </a:extLst>
          </p:cNvPr>
          <p:cNvSpPr txBox="1"/>
          <p:nvPr/>
        </p:nvSpPr>
        <p:spPr>
          <a:xfrm>
            <a:off x="5017478" y="5978770"/>
            <a:ext cx="6776671" cy="276999"/>
          </a:xfrm>
          <a:prstGeom prst="rect">
            <a:avLst/>
          </a:prstGeom>
          <a:noFill/>
        </p:spPr>
        <p:txBody>
          <a:bodyPr wrap="square" rtlCol="0">
            <a:spAutoFit/>
          </a:bodyPr>
          <a:lstStyle/>
          <a:p>
            <a:r>
              <a:rPr lang="en-US" sz="1200" dirty="0"/>
              <a:t>Figure 7. Dependence plot on the effect of employees being overworked on attrition prediction.</a:t>
            </a:r>
          </a:p>
        </p:txBody>
      </p:sp>
      <p:sp>
        <p:nvSpPr>
          <p:cNvPr id="7" name="Title 1">
            <a:extLst>
              <a:ext uri="{FF2B5EF4-FFF2-40B4-BE49-F238E27FC236}">
                <a16:creationId xmlns:a16="http://schemas.microsoft.com/office/drawing/2014/main" id="{35F8C01A-0E67-AFC9-D95D-60622FDC6DF9}"/>
              </a:ext>
            </a:extLst>
          </p:cNvPr>
          <p:cNvSpPr>
            <a:spLocks noGrp="1"/>
          </p:cNvSpPr>
          <p:nvPr>
            <p:ph type="title"/>
          </p:nvPr>
        </p:nvSpPr>
        <p:spPr>
          <a:xfrm>
            <a:off x="565639" y="56183"/>
            <a:ext cx="11060722" cy="845928"/>
          </a:xfrm>
        </p:spPr>
        <p:txBody>
          <a:bodyPr>
            <a:normAutofit/>
          </a:bodyPr>
          <a:lstStyle/>
          <a:p>
            <a:pPr algn="ctr"/>
            <a:r>
              <a:rPr lang="en-US" sz="3800" dirty="0"/>
              <a:t>Individual Predictor Importance – Last Evaluation Score</a:t>
            </a:r>
          </a:p>
        </p:txBody>
      </p:sp>
      <p:pic>
        <p:nvPicPr>
          <p:cNvPr id="1026" name="Picture 2">
            <a:extLst>
              <a:ext uri="{FF2B5EF4-FFF2-40B4-BE49-F238E27FC236}">
                <a16:creationId xmlns:a16="http://schemas.microsoft.com/office/drawing/2014/main" id="{33F3EB3F-B5EA-D062-FE8D-2724D297E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7478" y="1225122"/>
            <a:ext cx="7063154" cy="4753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930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53A9B-29D1-B885-0FA8-4ADD65D0CF49}"/>
              </a:ext>
            </a:extLst>
          </p:cNvPr>
          <p:cNvSpPr>
            <a:spLocks noGrp="1"/>
          </p:cNvSpPr>
          <p:nvPr>
            <p:ph type="title"/>
          </p:nvPr>
        </p:nvSpPr>
        <p:spPr>
          <a:xfrm>
            <a:off x="838200" y="18255"/>
            <a:ext cx="10515600" cy="1325563"/>
          </a:xfrm>
        </p:spPr>
        <p:txBody>
          <a:bodyPr/>
          <a:lstStyle/>
          <a:p>
            <a:pPr algn="ctr"/>
            <a:r>
              <a:rPr lang="en-US" dirty="0"/>
              <a:t>Recommendations for Sailfort</a:t>
            </a:r>
          </a:p>
        </p:txBody>
      </p:sp>
      <p:sp>
        <p:nvSpPr>
          <p:cNvPr id="3" name="Content Placeholder 2">
            <a:extLst>
              <a:ext uri="{FF2B5EF4-FFF2-40B4-BE49-F238E27FC236}">
                <a16:creationId xmlns:a16="http://schemas.microsoft.com/office/drawing/2014/main" id="{D1DE608E-C6AB-16AD-38A5-8C2603B501A6}"/>
              </a:ext>
            </a:extLst>
          </p:cNvPr>
          <p:cNvSpPr>
            <a:spLocks noGrp="1"/>
          </p:cNvSpPr>
          <p:nvPr>
            <p:ph idx="1"/>
          </p:nvPr>
        </p:nvSpPr>
        <p:spPr/>
        <p:txBody>
          <a:bodyPr/>
          <a:lstStyle/>
          <a:p>
            <a:r>
              <a:rPr lang="en-US" sz="2000" dirty="0"/>
              <a:t>To proactively reduce attrition, assign employees 3-5 projects, as operations allow.</a:t>
            </a:r>
          </a:p>
          <a:p>
            <a:pPr lvl="1"/>
            <a:r>
              <a:rPr lang="en-US" sz="1600" dirty="0"/>
              <a:t>Avoid underloading short-tenure employees (≤2 projects).</a:t>
            </a:r>
          </a:p>
          <a:p>
            <a:r>
              <a:rPr lang="en-US" sz="2000" dirty="0"/>
              <a:t>Intervention should be prepared for:</a:t>
            </a:r>
          </a:p>
          <a:p>
            <a:pPr lvl="1"/>
            <a:r>
              <a:rPr lang="en-US" sz="1600" dirty="0"/>
              <a:t>Long-tenure employees, particularly those who achieved high scores on their last evaluation.</a:t>
            </a:r>
          </a:p>
          <a:p>
            <a:pPr lvl="1"/>
            <a:r>
              <a:rPr lang="en-US" sz="1600" dirty="0"/>
              <a:t>Employees who received low last-eval scores in conjunction with fewer assigned projects and employees who received high last-eval scores in conjunction with many assigned projects</a:t>
            </a:r>
          </a:p>
          <a:p>
            <a:r>
              <a:rPr lang="en-US" sz="2000" dirty="0"/>
              <a:t>“Employee satisfaction” was originally included as a predictor in the model and did improve model performance. It was omitted from the final model on the basis that it is not reliably tracked, and it is generally very closely related to interindividual attrition likelihood.</a:t>
            </a:r>
          </a:p>
          <a:p>
            <a:pPr lvl="1"/>
            <a:r>
              <a:rPr lang="en-US" sz="1600" dirty="0"/>
              <a:t>Future versions of this model may attempt to include this again as a metric, although care should be taken to ensure it is tracked in a way to reduce bias (ensure as many employees complete a satisfaction assessment as possible and evaluate it at regular intervals).</a:t>
            </a:r>
          </a:p>
        </p:txBody>
      </p:sp>
    </p:spTree>
    <p:extLst>
      <p:ext uri="{BB962C8B-B14F-4D97-AF65-F5344CB8AC3E}">
        <p14:creationId xmlns:p14="http://schemas.microsoft.com/office/powerpoint/2010/main" val="20596464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Props/app.xml><?xml version="1.0" encoding="utf-8"?>
<Properties xmlns="http://schemas.openxmlformats.org/officeDocument/2006/extended-properties" xmlns:vt="http://schemas.openxmlformats.org/officeDocument/2006/docPropsVTypes">
  <Template>Office Theme</Template>
  <TotalTime>950</TotalTime>
  <Words>1081</Words>
  <Application>Microsoft Office PowerPoint</Application>
  <PresentationFormat>Widescreen</PresentationFormat>
  <Paragraphs>62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Predicting Employee Attrition</vt:lpstr>
      <vt:lpstr>The Task and Available Data</vt:lpstr>
      <vt:lpstr>Model Selection and Evaluation</vt:lpstr>
      <vt:lpstr>Individual Predictor Importance</vt:lpstr>
      <vt:lpstr>Individual Predictor Importance – Number of Projects</vt:lpstr>
      <vt:lpstr>PowerPoint Presentation</vt:lpstr>
      <vt:lpstr>Individual Predictor Importance – Last Evaluation Score</vt:lpstr>
      <vt:lpstr>Individual Predictor Importance – Last Evaluation Score</vt:lpstr>
      <vt:lpstr>Recommendations for Sailfort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Stanford</dc:creator>
  <cp:lastModifiedBy>Matthew Stanford</cp:lastModifiedBy>
  <cp:revision>15</cp:revision>
  <dcterms:created xsi:type="dcterms:W3CDTF">2025-12-08T17:24:14Z</dcterms:created>
  <dcterms:modified xsi:type="dcterms:W3CDTF">2025-12-26T21:36:58Z</dcterms:modified>
</cp:coreProperties>
</file>