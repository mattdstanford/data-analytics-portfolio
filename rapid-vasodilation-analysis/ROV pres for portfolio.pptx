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8" r:id="rId3"/>
    <p:sldId id="259" r:id="rId4"/>
    <p:sldId id="297" r:id="rId5"/>
    <p:sldId id="350" r:id="rId6"/>
    <p:sldId id="275" r:id="rId7"/>
    <p:sldId id="352" r:id="rId8"/>
    <p:sldId id="353" r:id="rId9"/>
    <p:sldId id="314" r:id="rId10"/>
    <p:sldId id="354" r:id="rId11"/>
    <p:sldId id="355" r:id="rId12"/>
    <p:sldId id="356" r:id="rId13"/>
    <p:sldId id="328" r:id="rId14"/>
    <p:sldId id="357" r:id="rId15"/>
    <p:sldId id="343" r:id="rId16"/>
    <p:sldId id="358" r:id="rId17"/>
    <p:sldId id="28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2260" autoAdjust="0"/>
  </p:normalViewPr>
  <p:slideViewPr>
    <p:cSldViewPr snapToGrid="0">
      <p:cViewPr varScale="1">
        <p:scale>
          <a:sx n="79" d="100"/>
          <a:sy n="79" d="100"/>
        </p:scale>
        <p:origin x="1014"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73299-E78F-459F-8AF5-F01966B5DEB4}" type="datetimeFigureOut">
              <a:rPr lang="en-US" smtClean="0"/>
              <a:t>12/26/2025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AABF58-CBFC-40ED-B422-8A7E371A4FEA}" type="slidenum">
              <a:rPr lang="en-US" smtClean="0"/>
              <a:t>‹#›</a:t>
            </a:fld>
            <a:endParaRPr lang="en-US"/>
          </a:p>
        </p:txBody>
      </p:sp>
    </p:spTree>
    <p:extLst>
      <p:ext uri="{BB962C8B-B14F-4D97-AF65-F5344CB8AC3E}">
        <p14:creationId xmlns:p14="http://schemas.microsoft.com/office/powerpoint/2010/main" val="1477260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AABF58-CBFC-40ED-B422-8A7E371A4FEA}" type="slidenum">
              <a:rPr lang="en-US" smtClean="0"/>
              <a:t>1</a:t>
            </a:fld>
            <a:endParaRPr lang="en-US"/>
          </a:p>
        </p:txBody>
      </p:sp>
    </p:spTree>
    <p:extLst>
      <p:ext uri="{BB962C8B-B14F-4D97-AF65-F5344CB8AC3E}">
        <p14:creationId xmlns:p14="http://schemas.microsoft.com/office/powerpoint/2010/main" val="4022643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(click 1) It is well established by now that oxidative metabolism is important for exercise, particularly long-term exercise, and that an increase in oxygen supply is necessary to match demand.</a:t>
            </a:r>
          </a:p>
          <a:p>
            <a:endParaRPr lang="en-US" dirty="0"/>
          </a:p>
          <a:p>
            <a:r>
              <a:rPr lang="en-US" dirty="0"/>
              <a:t>(click 2) Failure to meet demand increases reliance on anaerobic metabolism, leading to fatigue more rapidly.</a:t>
            </a:r>
          </a:p>
          <a:p>
            <a:endParaRPr lang="en-US" dirty="0"/>
          </a:p>
          <a:p>
            <a:r>
              <a:rPr lang="en-US" dirty="0"/>
              <a:t>(click 3) An increase in BLOOD FLOW to working tissues is necessary to match the oxygen supply to a new, elevated, demand. </a:t>
            </a:r>
          </a:p>
          <a:p>
            <a:endParaRPr lang="en-US" dirty="0"/>
          </a:p>
          <a:p>
            <a:r>
              <a:rPr lang="en-US" dirty="0"/>
              <a:t>This figure on the right is a schematic representing different oxygen-utilization curves over time, at different exercise intensities. (If anyone asks, the shaded region is slow component rise; representing an onset of fatigue at higher intensities). What’s particularly important about this each of these curves is how quickly one can achieve this steady state (point to horizontal lines). The more quickly one can increase blood flow to match the new oxygen demand, the less time spent in oxygen debt.</a:t>
            </a:r>
          </a:p>
        </p:txBody>
      </p:sp>
      <p:sp>
        <p:nvSpPr>
          <p:cNvPr id="4" name="Slide Number Placeholder 3"/>
          <p:cNvSpPr>
            <a:spLocks noGrp="1"/>
          </p:cNvSpPr>
          <p:nvPr>
            <p:ph type="sldNum" sz="quarter" idx="5"/>
          </p:nvPr>
        </p:nvSpPr>
        <p:spPr/>
        <p:txBody>
          <a:bodyPr/>
          <a:lstStyle/>
          <a:p>
            <a:fld id="{3AAABF58-CBFC-40ED-B422-8A7E371A4FEA}" type="slidenum">
              <a:rPr lang="en-US" smtClean="0"/>
              <a:t>2</a:t>
            </a:fld>
            <a:endParaRPr lang="en-US"/>
          </a:p>
        </p:txBody>
      </p:sp>
    </p:spTree>
    <p:extLst>
      <p:ext uri="{BB962C8B-B14F-4D97-AF65-F5344CB8AC3E}">
        <p14:creationId xmlns:p14="http://schemas.microsoft.com/office/powerpoint/2010/main" val="1450128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What we are concerned with today is one specific mechanism to increase blood flow.</a:t>
            </a:r>
          </a:p>
          <a:p>
            <a:endParaRPr lang="en-US" dirty="0"/>
          </a:p>
          <a:p>
            <a:r>
              <a:rPr lang="en-US" dirty="0"/>
              <a:t>(click 1 and 2) One of the simplest ways to illustrate blood flow mechanics is through this equation, where Q sub a is blood flow (arterial inflow in this case), delta P is the arterio-venous pressure gradient, and VC is conductance, or EASE, of flow through the arterial side.</a:t>
            </a:r>
          </a:p>
          <a:p>
            <a:endParaRPr lang="en-US" dirty="0"/>
          </a:p>
          <a:p>
            <a:r>
              <a:rPr lang="en-US" dirty="0"/>
              <a:t>(click 3, 4, 5) Blood flow can be modulated by pressure, conductance, or both. This occurs through several feedback and feedforward mechanisms. One important </a:t>
            </a:r>
            <a:r>
              <a:rPr lang="en-US" dirty="0" err="1"/>
              <a:t>feedfoward</a:t>
            </a:r>
            <a:r>
              <a:rPr lang="en-US" dirty="0"/>
              <a:t> mechanism is known as Rapid Vasodilation. It is also referred to as Rapid Onset Vasodilation, which is why it will be referred to as Rapid Vasodilation or ROV for this presentation.</a:t>
            </a:r>
          </a:p>
          <a:p>
            <a:endParaRPr lang="en-US" dirty="0"/>
          </a:p>
          <a:p>
            <a:r>
              <a:rPr lang="en-US" dirty="0"/>
              <a:t>This figure on the right represents the average time course of change in vascular conductance of 17 subjects at 5 different intensities, relative to their maximal voluntary contraction. In this study, subject lay supine on an observation table, with their arms abducted and supported, to allow them to remain at heart level. They would then be cued to squeeze a custom handgrip device with an external load based on their respective maximal voluntary contractions, for one second. Brachial artery blood flow velocity was measured for </a:t>
            </a:r>
            <a:r>
              <a:rPr lang="en-US" dirty="0" err="1"/>
              <a:t>atleast</a:t>
            </a:r>
            <a:r>
              <a:rPr lang="en-US" dirty="0"/>
              <a:t> 15 seconds following the release of the contraction and used in conjunction with brachial artery diameter, to calculate blood flow.</a:t>
            </a:r>
          </a:p>
        </p:txBody>
      </p:sp>
      <p:sp>
        <p:nvSpPr>
          <p:cNvPr id="4" name="Slide Number Placeholder 3"/>
          <p:cNvSpPr>
            <a:spLocks noGrp="1"/>
          </p:cNvSpPr>
          <p:nvPr>
            <p:ph type="sldNum" sz="quarter" idx="5"/>
          </p:nvPr>
        </p:nvSpPr>
        <p:spPr/>
        <p:txBody>
          <a:bodyPr/>
          <a:lstStyle/>
          <a:p>
            <a:fld id="{3AAABF58-CBFC-40ED-B422-8A7E371A4FEA}" type="slidenum">
              <a:rPr lang="en-US" smtClean="0"/>
              <a:t>3</a:t>
            </a:fld>
            <a:endParaRPr lang="en-US"/>
          </a:p>
        </p:txBody>
      </p:sp>
    </p:spTree>
    <p:extLst>
      <p:ext uri="{BB962C8B-B14F-4D97-AF65-F5344CB8AC3E}">
        <p14:creationId xmlns:p14="http://schemas.microsoft.com/office/powerpoint/2010/main" val="2190032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3CD20-3D3C-A26C-8657-FBD0B8578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BF4266-A2FB-572F-69E8-BD2684D21E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B8AB46-F0A2-8E0F-4D17-900D34B8CF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788EE5-2027-9028-AC46-395D0AD95053}"/>
              </a:ext>
            </a:extLst>
          </p:cNvPr>
          <p:cNvSpPr>
            <a:spLocks noGrp="1"/>
          </p:cNvSpPr>
          <p:nvPr>
            <p:ph type="sldNum" sz="quarter" idx="5"/>
          </p:nvPr>
        </p:nvSpPr>
        <p:spPr/>
        <p:txBody>
          <a:bodyPr/>
          <a:lstStyle/>
          <a:p>
            <a:fld id="{3AAABF58-CBFC-40ED-B422-8A7E371A4FEA}" type="slidenum">
              <a:rPr lang="en-US" smtClean="0"/>
              <a:t>7</a:t>
            </a:fld>
            <a:endParaRPr lang="en-US"/>
          </a:p>
        </p:txBody>
      </p:sp>
    </p:spTree>
    <p:extLst>
      <p:ext uri="{BB962C8B-B14F-4D97-AF65-F5344CB8AC3E}">
        <p14:creationId xmlns:p14="http://schemas.microsoft.com/office/powerpoint/2010/main" val="1625743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There was also a significant interaction between training status and stimulus intensity with absolute resistances for voluntary contraction. Because these resistances are absolute here, this is additional strong evidence of adaptations to ROV based on training status.</a:t>
            </a:r>
          </a:p>
        </p:txBody>
      </p:sp>
      <p:sp>
        <p:nvSpPr>
          <p:cNvPr id="4" name="Slide Number Placeholder 3"/>
          <p:cNvSpPr>
            <a:spLocks noGrp="1"/>
          </p:cNvSpPr>
          <p:nvPr>
            <p:ph type="sldNum" sz="quarter" idx="5"/>
          </p:nvPr>
        </p:nvSpPr>
        <p:spPr/>
        <p:txBody>
          <a:bodyPr/>
          <a:lstStyle/>
          <a:p>
            <a:fld id="{3AAABF58-CBFC-40ED-B422-8A7E371A4FEA}" type="slidenum">
              <a:rPr lang="en-US" smtClean="0"/>
              <a:t>9</a:t>
            </a:fld>
            <a:endParaRPr lang="en-US"/>
          </a:p>
        </p:txBody>
      </p:sp>
    </p:spTree>
    <p:extLst>
      <p:ext uri="{BB962C8B-B14F-4D97-AF65-F5344CB8AC3E}">
        <p14:creationId xmlns:p14="http://schemas.microsoft.com/office/powerpoint/2010/main" val="3016176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9F77C-2828-C08C-A76F-7699D69E5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46DF4-77C2-A2B0-27A9-8F57181A914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E3F6A6-3BB9-96DF-89AB-9762FFA81DA8}"/>
              </a:ext>
            </a:extLst>
          </p:cNvPr>
          <p:cNvSpPr>
            <a:spLocks noGrp="1"/>
          </p:cNvSpPr>
          <p:nvPr>
            <p:ph type="body" idx="1"/>
          </p:nvPr>
        </p:nvSpPr>
        <p:spPr/>
        <p:txBody>
          <a:bodyPr/>
          <a:lstStyle/>
          <a:p>
            <a:r>
              <a:rPr lang="en-US" dirty="0"/>
              <a:t>There was also a significant interaction between training status and stimulus intensity with absolute resistances for voluntary contraction. Because these resistances are absolute here, this is additional strong evidence of adaptations to ROV based on training status.</a:t>
            </a:r>
          </a:p>
        </p:txBody>
      </p:sp>
      <p:sp>
        <p:nvSpPr>
          <p:cNvPr id="4" name="Slide Number Placeholder 3">
            <a:extLst>
              <a:ext uri="{FF2B5EF4-FFF2-40B4-BE49-F238E27FC236}">
                <a16:creationId xmlns:a16="http://schemas.microsoft.com/office/drawing/2014/main" id="{AB8C7469-B07B-507E-BD80-3655F73D729F}"/>
              </a:ext>
            </a:extLst>
          </p:cNvPr>
          <p:cNvSpPr>
            <a:spLocks noGrp="1"/>
          </p:cNvSpPr>
          <p:nvPr>
            <p:ph type="sldNum" sz="quarter" idx="5"/>
          </p:nvPr>
        </p:nvSpPr>
        <p:spPr/>
        <p:txBody>
          <a:bodyPr/>
          <a:lstStyle/>
          <a:p>
            <a:fld id="{3AAABF58-CBFC-40ED-B422-8A7E371A4FEA}" type="slidenum">
              <a:rPr lang="en-US" smtClean="0"/>
              <a:t>10</a:t>
            </a:fld>
            <a:endParaRPr lang="en-US"/>
          </a:p>
        </p:txBody>
      </p:sp>
    </p:spTree>
    <p:extLst>
      <p:ext uri="{BB962C8B-B14F-4D97-AF65-F5344CB8AC3E}">
        <p14:creationId xmlns:p14="http://schemas.microsoft.com/office/powerpoint/2010/main" val="226710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EBE68-AE39-D0FF-34E1-DE45AF8E0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F9E5E-3369-AF07-57D2-A6E43F258A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AE5A37-4029-ED56-DDEE-BAACFA500E03}"/>
              </a:ext>
            </a:extLst>
          </p:cNvPr>
          <p:cNvSpPr>
            <a:spLocks noGrp="1"/>
          </p:cNvSpPr>
          <p:nvPr>
            <p:ph type="body" idx="1"/>
          </p:nvPr>
        </p:nvSpPr>
        <p:spPr/>
        <p:txBody>
          <a:bodyPr/>
          <a:lstStyle/>
          <a:p>
            <a:r>
              <a:rPr lang="en-US" dirty="0"/>
              <a:t>There was also a significant interaction between training status and stimulus intensity with absolute resistances for voluntary contraction. Because these resistances are absolute here, this is additional strong evidence of adaptations to ROV based on training status.</a:t>
            </a:r>
          </a:p>
        </p:txBody>
      </p:sp>
      <p:sp>
        <p:nvSpPr>
          <p:cNvPr id="4" name="Slide Number Placeholder 3">
            <a:extLst>
              <a:ext uri="{FF2B5EF4-FFF2-40B4-BE49-F238E27FC236}">
                <a16:creationId xmlns:a16="http://schemas.microsoft.com/office/drawing/2014/main" id="{19D0D8F3-7819-7653-3EDF-22BF217255E7}"/>
              </a:ext>
            </a:extLst>
          </p:cNvPr>
          <p:cNvSpPr>
            <a:spLocks noGrp="1"/>
          </p:cNvSpPr>
          <p:nvPr>
            <p:ph type="sldNum" sz="quarter" idx="5"/>
          </p:nvPr>
        </p:nvSpPr>
        <p:spPr/>
        <p:txBody>
          <a:bodyPr/>
          <a:lstStyle/>
          <a:p>
            <a:fld id="{3AAABF58-CBFC-40ED-B422-8A7E371A4FEA}" type="slidenum">
              <a:rPr lang="en-US" smtClean="0"/>
              <a:t>11</a:t>
            </a:fld>
            <a:endParaRPr lang="en-US"/>
          </a:p>
        </p:txBody>
      </p:sp>
    </p:spTree>
    <p:extLst>
      <p:ext uri="{BB962C8B-B14F-4D97-AF65-F5344CB8AC3E}">
        <p14:creationId xmlns:p14="http://schemas.microsoft.com/office/powerpoint/2010/main" val="3552713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75FFF-4650-E9CC-D81B-3D19AC58E8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C2CBB1-AEE3-131C-831F-DE6CE59A91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AF4BF0-59A5-6737-7E3A-03C2B81C7F54}"/>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5" name="Footer Placeholder 4">
            <a:extLst>
              <a:ext uri="{FF2B5EF4-FFF2-40B4-BE49-F238E27FC236}">
                <a16:creationId xmlns:a16="http://schemas.microsoft.com/office/drawing/2014/main" id="{9A7DC218-E410-D4C2-120A-485C3547E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387FBC-9700-2EA7-5682-DB52A5274762}"/>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2846325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63388-1689-3297-14DE-9C4A6BEA49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4ED817-8BCC-B231-279F-14CECA3E8A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0078F0-F847-59E2-1D7E-1BA02414148A}"/>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5" name="Footer Placeholder 4">
            <a:extLst>
              <a:ext uri="{FF2B5EF4-FFF2-40B4-BE49-F238E27FC236}">
                <a16:creationId xmlns:a16="http://schemas.microsoft.com/office/drawing/2014/main" id="{DD751448-B3F4-4080-E94F-D288E463C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7665DD-B02A-B3ED-167D-1B2988E2042C}"/>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2331248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0C40E-7318-BE09-2244-37CDDEF599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774625-296C-380F-4CF0-44B8D593CF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E1F9D5-7F1B-CB83-906A-59296E88B704}"/>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5" name="Footer Placeholder 4">
            <a:extLst>
              <a:ext uri="{FF2B5EF4-FFF2-40B4-BE49-F238E27FC236}">
                <a16:creationId xmlns:a16="http://schemas.microsoft.com/office/drawing/2014/main" id="{DB02665D-6561-5032-E16E-9DE521FD7F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DAC72A-B5D6-A039-FF61-31E2F21B65CF}"/>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137717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86807-D7D4-8662-C8C1-2BB0FCFA6E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2BE854-C9BA-2FE6-E471-32D9353C39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65506D-7309-CC6F-6242-D9758C1A6E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F734C4-ED09-BE83-C755-BD18D76EC9CE}"/>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6" name="Footer Placeholder 5">
            <a:extLst>
              <a:ext uri="{FF2B5EF4-FFF2-40B4-BE49-F238E27FC236}">
                <a16:creationId xmlns:a16="http://schemas.microsoft.com/office/drawing/2014/main" id="{DD83ECB9-1283-3CDC-B677-8D01D971A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5D894A-A131-7D71-951F-C68E18BEA728}"/>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1490604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6564-73AD-2FE8-01E2-050EE8A99E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1DDF57-4075-DFA8-7340-7C4FE53BD2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3AE38D-7771-54A8-1104-553590304E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02ECD0-DA88-405B-DA19-101FBD0670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A1A2E8-F9DC-43CD-CFA9-EA2D5FF21B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009B7D-A921-C181-6008-6FFC98BA2DD3}"/>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8" name="Footer Placeholder 7">
            <a:extLst>
              <a:ext uri="{FF2B5EF4-FFF2-40B4-BE49-F238E27FC236}">
                <a16:creationId xmlns:a16="http://schemas.microsoft.com/office/drawing/2014/main" id="{3D78502F-DCEC-FDE5-2580-0D902EF6F3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F8BF12-96BF-448C-8F61-781D32DBE3C2}"/>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4207460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BC3E-00FD-A923-6E39-2FB6274FB8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D2E523-49C4-E78B-03C8-7879D66315A8}"/>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4" name="Footer Placeholder 3">
            <a:extLst>
              <a:ext uri="{FF2B5EF4-FFF2-40B4-BE49-F238E27FC236}">
                <a16:creationId xmlns:a16="http://schemas.microsoft.com/office/drawing/2014/main" id="{5EAD4BFF-2AB5-5699-E6EF-9290A2A611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48DE12-532E-8D84-6185-6FD9D45FA7BF}"/>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2838444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481F10-4E88-395D-E8D2-0ECFF2C3B606}"/>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3" name="Footer Placeholder 2">
            <a:extLst>
              <a:ext uri="{FF2B5EF4-FFF2-40B4-BE49-F238E27FC236}">
                <a16:creationId xmlns:a16="http://schemas.microsoft.com/office/drawing/2014/main" id="{AF936471-CE55-4DE7-E2EC-CFE0776D94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278A04-51EB-1824-10A4-0A22BCBB9EBD}"/>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983688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EE1F5-9A3F-5438-9039-CECEE17F3C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52ECD8-8841-7959-5B1B-D6CBEF64F6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C39D7-FDDA-46DE-C3E8-A374674E3B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939982-97FF-E367-4B13-BB40318D1A5D}"/>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6" name="Footer Placeholder 5">
            <a:extLst>
              <a:ext uri="{FF2B5EF4-FFF2-40B4-BE49-F238E27FC236}">
                <a16:creationId xmlns:a16="http://schemas.microsoft.com/office/drawing/2014/main" id="{6D906941-091D-E559-2B4E-7AA60701EF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FDB3D2-463C-F709-A420-893E26C56C4C}"/>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2536269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624CB-2EE7-C951-3519-922E82B6DF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35CE36-2079-AAF2-FE90-B46E0A197B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1FCD8A-CEC1-BD10-B386-E09AD28FC7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92E061-693E-8CF3-EBF0-5F2E5A6290E9}"/>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6" name="Footer Placeholder 5">
            <a:extLst>
              <a:ext uri="{FF2B5EF4-FFF2-40B4-BE49-F238E27FC236}">
                <a16:creationId xmlns:a16="http://schemas.microsoft.com/office/drawing/2014/main" id="{40514B7F-E01D-A1BA-473D-B2F3706EA4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67942A-043A-C475-5922-87A4EDEE387E}"/>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1737219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A2CCD-641F-432E-BD9C-9218A25F2E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4609A9-05C2-9D9C-A5F8-C5EEC229BF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9BAB0C-1852-4B78-A2F9-21CB689DC7C1}"/>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5" name="Footer Placeholder 4">
            <a:extLst>
              <a:ext uri="{FF2B5EF4-FFF2-40B4-BE49-F238E27FC236}">
                <a16:creationId xmlns:a16="http://schemas.microsoft.com/office/drawing/2014/main" id="{0CF4E85F-AAB8-C3B1-4AF2-35F5F53597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D2DAC5-F702-D650-E76F-F1F7EBF19A0E}"/>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2836613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04E396-14C9-F87B-FDEA-32F48570B4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124525-9CEB-FCD7-0E43-1629113A39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EBD380-F633-CACC-DEE2-D33956454A10}"/>
              </a:ext>
            </a:extLst>
          </p:cNvPr>
          <p:cNvSpPr>
            <a:spLocks noGrp="1"/>
          </p:cNvSpPr>
          <p:nvPr>
            <p:ph type="dt" sz="half" idx="10"/>
          </p:nvPr>
        </p:nvSpPr>
        <p:spPr/>
        <p:txBody>
          <a:bodyPr/>
          <a:lstStyle/>
          <a:p>
            <a:fld id="{D85D09A2-10E3-41C1-A0EF-17A5BFE29A74}" type="datetimeFigureOut">
              <a:rPr lang="en-US" smtClean="0"/>
              <a:t>12/26/2025</a:t>
            </a:fld>
            <a:endParaRPr lang="en-US"/>
          </a:p>
        </p:txBody>
      </p:sp>
      <p:sp>
        <p:nvSpPr>
          <p:cNvPr id="5" name="Footer Placeholder 4">
            <a:extLst>
              <a:ext uri="{FF2B5EF4-FFF2-40B4-BE49-F238E27FC236}">
                <a16:creationId xmlns:a16="http://schemas.microsoft.com/office/drawing/2014/main" id="{92D1A2B5-5669-F709-E6EA-8B561AFF0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A632E6-FAB5-46B6-3442-EC11975C40E7}"/>
              </a:ext>
            </a:extLst>
          </p:cNvPr>
          <p:cNvSpPr>
            <a:spLocks noGrp="1"/>
          </p:cNvSpPr>
          <p:nvPr>
            <p:ph type="sldNum" sz="quarter" idx="12"/>
          </p:nvPr>
        </p:nvSpPr>
        <p:spPr/>
        <p:txBody>
          <a:bodyPr/>
          <a:lstStyle/>
          <a:p>
            <a:fld id="{3D59E883-24BF-44D3-BC8B-FBBB079BE843}" type="slidenum">
              <a:rPr lang="en-US" smtClean="0"/>
              <a:t>‹#›</a:t>
            </a:fld>
            <a:endParaRPr lang="en-US"/>
          </a:p>
        </p:txBody>
      </p:sp>
    </p:spTree>
    <p:extLst>
      <p:ext uri="{BB962C8B-B14F-4D97-AF65-F5344CB8AC3E}">
        <p14:creationId xmlns:p14="http://schemas.microsoft.com/office/powerpoint/2010/main" val="3809139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AFDEBD-5AC6-C36B-EE21-937651939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C9FB20-5E02-0357-3E75-BBBA484AC9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AD811B-3BE0-343B-6270-9A9D32C0EE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5D09A2-10E3-41C1-A0EF-17A5BFE29A74}" type="datetimeFigureOut">
              <a:rPr lang="en-US" smtClean="0"/>
              <a:t>12/26/2025</a:t>
            </a:fld>
            <a:endParaRPr lang="en-US"/>
          </a:p>
        </p:txBody>
      </p:sp>
      <p:sp>
        <p:nvSpPr>
          <p:cNvPr id="5" name="Footer Placeholder 4">
            <a:extLst>
              <a:ext uri="{FF2B5EF4-FFF2-40B4-BE49-F238E27FC236}">
                <a16:creationId xmlns:a16="http://schemas.microsoft.com/office/drawing/2014/main" id="{F0680089-93B8-2A29-43E5-F98BCEC0BB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2E0ED7D-66C0-52B8-FA34-1019332E20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59E883-24BF-44D3-BC8B-FBBB079BE843}" type="slidenum">
              <a:rPr lang="en-US" smtClean="0"/>
              <a:t>‹#›</a:t>
            </a:fld>
            <a:endParaRPr lang="en-US"/>
          </a:p>
        </p:txBody>
      </p:sp>
    </p:spTree>
    <p:extLst>
      <p:ext uri="{BB962C8B-B14F-4D97-AF65-F5344CB8AC3E}">
        <p14:creationId xmlns:p14="http://schemas.microsoft.com/office/powerpoint/2010/main" val="1031361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6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113/jphysiol.2007.131250" TargetMode="External"/><Relationship Id="rId2" Type="http://schemas.openxmlformats.org/officeDocument/2006/relationships/hyperlink" Target="https://doi.org/10.1152/ajpheart.00298.2013" TargetMode="External"/><Relationship Id="rId1" Type="http://schemas.openxmlformats.org/officeDocument/2006/relationships/slideLayout" Target="../slideLayouts/slideLayout2.xml"/><Relationship Id="rId5" Type="http://schemas.openxmlformats.org/officeDocument/2006/relationships/hyperlink" Target="https://doi.org/10.1113/jphysiol.2014.274456" TargetMode="External"/><Relationship Id="rId4" Type="http://schemas.openxmlformats.org/officeDocument/2006/relationships/hyperlink" Target="https://doi.org/10.1152/japplphysiol.01043.201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81087-3C98-3062-EF90-ED72D6FB3740}"/>
              </a:ext>
            </a:extLst>
          </p:cNvPr>
          <p:cNvSpPr>
            <a:spLocks noGrp="1"/>
          </p:cNvSpPr>
          <p:nvPr>
            <p:ph type="ctrTitle"/>
          </p:nvPr>
        </p:nvSpPr>
        <p:spPr>
          <a:xfrm>
            <a:off x="661737" y="517357"/>
            <a:ext cx="10840452" cy="1322781"/>
          </a:xfrm>
        </p:spPr>
        <p:txBody>
          <a:bodyPr>
            <a:normAutofit/>
          </a:bodyPr>
          <a:lstStyle/>
          <a:p>
            <a:r>
              <a:rPr lang="en-US" sz="3900" dirty="0">
                <a:latin typeface="Times New Roman" panose="02020603050405020304" pitchFamily="18" charset="0"/>
                <a:cs typeface="Times New Roman" panose="02020603050405020304" pitchFamily="18" charset="0"/>
              </a:rPr>
              <a:t>The Influence of Training Status On Mechanisms of Rapid Vasodilation In Healthy Adults</a:t>
            </a:r>
          </a:p>
        </p:txBody>
      </p:sp>
      <p:sp>
        <p:nvSpPr>
          <p:cNvPr id="3" name="Subtitle 2">
            <a:extLst>
              <a:ext uri="{FF2B5EF4-FFF2-40B4-BE49-F238E27FC236}">
                <a16:creationId xmlns:a16="http://schemas.microsoft.com/office/drawing/2014/main" id="{7D76B8D2-77DD-EF76-DC2D-036AC18A9C1D}"/>
              </a:ext>
            </a:extLst>
          </p:cNvPr>
          <p:cNvSpPr>
            <a:spLocks noGrp="1"/>
          </p:cNvSpPr>
          <p:nvPr>
            <p:ph type="subTitle" idx="1"/>
          </p:nvPr>
        </p:nvSpPr>
        <p:spPr>
          <a:xfrm>
            <a:off x="1163840" y="2419785"/>
            <a:ext cx="9862609" cy="1655762"/>
          </a:xfrm>
        </p:spPr>
        <p:txBody>
          <a:bodyPr>
            <a:noAutofit/>
          </a:bodyPr>
          <a:lstStyle/>
          <a:p>
            <a:r>
              <a:rPr lang="en-US" sz="1800" dirty="0">
                <a:latin typeface="Times New Roman" panose="02020603050405020304" pitchFamily="18" charset="0"/>
                <a:cs typeface="Times New Roman" panose="02020603050405020304" pitchFamily="18" charset="0"/>
              </a:rPr>
              <a:t>Matthew Stanford</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 human physiology study using ultrasound, Near InfraRed Spectroscopy (NIRS), and inferential statistics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This study investigated how exercise training status affects chemical, mechanical, and neural mechanisms of forearm rapid vasodilation. Twenty-five subjects completed a standardized stimulation protocol, which assessed forearm blood flow, vascular conductance, and oxygen saturation, using doppler ultrasound, finger photoplethysmography, and NIRS. Intergroup comparisons, conducted using t-tests/non-parametric equivalents, and ANOVAs, reveal distinct differences in vascular response to brief stimuli between forearm trained and sedentary individuals.</a:t>
            </a:r>
          </a:p>
        </p:txBody>
      </p:sp>
      <p:sp>
        <p:nvSpPr>
          <p:cNvPr id="4" name="Rectangle 3">
            <a:extLst>
              <a:ext uri="{FF2B5EF4-FFF2-40B4-BE49-F238E27FC236}">
                <a16:creationId xmlns:a16="http://schemas.microsoft.com/office/drawing/2014/main" id="{E1E594E9-FE2F-85D9-B1E7-3BABED9E6049}"/>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2E4E927E-7FAF-C705-30CE-E605A1EFCC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7829" y="5695726"/>
            <a:ext cx="4574633" cy="1269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69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B4A21-5C40-6BA4-E132-9F39408F0085}"/>
              </a:ext>
            </a:extLst>
          </p:cNvPr>
          <p:cNvSpPr>
            <a:spLocks noGrp="1"/>
          </p:cNvSpPr>
          <p:nvPr>
            <p:ph type="title"/>
          </p:nvPr>
        </p:nvSpPr>
        <p:spPr/>
        <p:txBody>
          <a:bodyPr>
            <a:normAutofit/>
          </a:bodyPr>
          <a:lstStyle/>
          <a:p>
            <a:r>
              <a:rPr lang="en-US" sz="4100" dirty="0">
                <a:latin typeface="Times New Roman" panose="02020603050405020304" pitchFamily="18" charset="0"/>
                <a:cs typeface="Times New Roman" panose="02020603050405020304" pitchFamily="18" charset="0"/>
              </a:rPr>
              <a:t>Introduction</a:t>
            </a:r>
          </a:p>
        </p:txBody>
      </p:sp>
      <p:pic>
        <p:nvPicPr>
          <p:cNvPr id="9" name="Content Placeholder 8" descr="A graph of a number of different types of weather&#10;&#10;Description automatically generated with medium confidence">
            <a:extLst>
              <a:ext uri="{FF2B5EF4-FFF2-40B4-BE49-F238E27FC236}">
                <a16:creationId xmlns:a16="http://schemas.microsoft.com/office/drawing/2014/main" id="{9B7C25DA-BF94-F785-31F5-27525DC0B7E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34308" y="854431"/>
            <a:ext cx="5810440" cy="4939353"/>
          </a:xfrm>
        </p:spPr>
      </p:pic>
      <p:sp>
        <p:nvSpPr>
          <p:cNvPr id="10" name="TextBox 9">
            <a:extLst>
              <a:ext uri="{FF2B5EF4-FFF2-40B4-BE49-F238E27FC236}">
                <a16:creationId xmlns:a16="http://schemas.microsoft.com/office/drawing/2014/main" id="{34ECCB7F-EE76-56CE-9C7E-E4A28852B3BD}"/>
              </a:ext>
            </a:extLst>
          </p:cNvPr>
          <p:cNvSpPr txBox="1"/>
          <p:nvPr/>
        </p:nvSpPr>
        <p:spPr>
          <a:xfrm>
            <a:off x="747252" y="1789471"/>
            <a:ext cx="4630993"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Oxidative metabolism is crucial for long-term exercise and relies on an appropriate increase in oxygen supply to match demand to avoid fatigue-onset (Xu &amp; Rhodes, 1999).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 increase in blood flow to working tissue is necessary to match oxygen supply to oxygen demand (Hanson et al., 2021).</a:t>
            </a:r>
          </a:p>
        </p:txBody>
      </p:sp>
      <p:sp>
        <p:nvSpPr>
          <p:cNvPr id="11" name="TextBox 10">
            <a:extLst>
              <a:ext uri="{FF2B5EF4-FFF2-40B4-BE49-F238E27FC236}">
                <a16:creationId xmlns:a16="http://schemas.microsoft.com/office/drawing/2014/main" id="{D5350263-9A18-D372-45F6-687EF391A5E6}"/>
              </a:ext>
            </a:extLst>
          </p:cNvPr>
          <p:cNvSpPr txBox="1"/>
          <p:nvPr/>
        </p:nvSpPr>
        <p:spPr>
          <a:xfrm>
            <a:off x="7580244" y="5927142"/>
            <a:ext cx="234991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(Xu &amp; Rhodes, 1999).</a:t>
            </a:r>
            <a:endParaRPr lang="en-US" dirty="0"/>
          </a:p>
        </p:txBody>
      </p:sp>
      <p:sp>
        <p:nvSpPr>
          <p:cNvPr id="3" name="Rectangle 2">
            <a:extLst>
              <a:ext uri="{FF2B5EF4-FFF2-40B4-BE49-F238E27FC236}">
                <a16:creationId xmlns:a16="http://schemas.microsoft.com/office/drawing/2014/main" id="{966B42C4-D996-DDF0-6921-B1C4560CCA8B}"/>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42269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ntraception&#10;&#10;Description automatically generated">
            <a:extLst>
              <a:ext uri="{FF2B5EF4-FFF2-40B4-BE49-F238E27FC236}">
                <a16:creationId xmlns:a16="http://schemas.microsoft.com/office/drawing/2014/main" id="{B15E133A-E735-0628-7DDC-B28227DFF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8455" y="794142"/>
            <a:ext cx="4644212" cy="2062965"/>
          </a:xfrm>
          <a:prstGeom prst="rect">
            <a:avLst/>
          </a:prstGeom>
        </p:spPr>
      </p:pic>
      <p:sp>
        <p:nvSpPr>
          <p:cNvPr id="2" name="Title 1">
            <a:extLst>
              <a:ext uri="{FF2B5EF4-FFF2-40B4-BE49-F238E27FC236}">
                <a16:creationId xmlns:a16="http://schemas.microsoft.com/office/drawing/2014/main" id="{F39DCC53-975B-FD18-FFA7-7002E98B7B59}"/>
              </a:ext>
            </a:extLst>
          </p:cNvPr>
          <p:cNvSpPr>
            <a:spLocks noGrp="1"/>
          </p:cNvSpPr>
          <p:nvPr>
            <p:ph type="title"/>
          </p:nvPr>
        </p:nvSpPr>
        <p:spPr>
          <a:xfrm>
            <a:off x="838200" y="187893"/>
            <a:ext cx="10515600" cy="914576"/>
          </a:xfrm>
        </p:spPr>
        <p:txBody>
          <a:bodyPr>
            <a:normAutofit/>
          </a:bodyPr>
          <a:lstStyle/>
          <a:p>
            <a:r>
              <a:rPr lang="en-US" sz="4100" dirty="0">
                <a:latin typeface="Times New Roman" panose="02020603050405020304" pitchFamily="18" charset="0"/>
                <a:cs typeface="Times New Roman" panose="02020603050405020304" pitchFamily="18" charset="0"/>
              </a:rPr>
              <a:t>Rapid Vasodilation as an Experimental Model</a:t>
            </a:r>
          </a:p>
        </p:txBody>
      </p:sp>
      <p:sp>
        <p:nvSpPr>
          <p:cNvPr id="6" name="TextBox 5">
            <a:extLst>
              <a:ext uri="{FF2B5EF4-FFF2-40B4-BE49-F238E27FC236}">
                <a16:creationId xmlns:a16="http://schemas.microsoft.com/office/drawing/2014/main" id="{96AAF4B3-A6D2-1432-47C3-55C3DA2B568B}"/>
              </a:ext>
            </a:extLst>
          </p:cNvPr>
          <p:cNvSpPr txBox="1"/>
          <p:nvPr/>
        </p:nvSpPr>
        <p:spPr>
          <a:xfrm>
            <a:off x="7066829" y="6386476"/>
            <a:ext cx="5125171" cy="307392"/>
          </a:xfrm>
          <a:prstGeom prst="rect">
            <a:avLst/>
          </a:prstGeom>
          <a:noFill/>
        </p:spPr>
        <p:txBody>
          <a:bodyPr wrap="square" rtlCol="0">
            <a:spAutoFit/>
          </a:bodyPr>
          <a:lstStyle/>
          <a:p>
            <a:pPr>
              <a:lnSpc>
                <a:spcPct val="107000"/>
              </a:lnSpc>
              <a:spcBef>
                <a:spcPts val="0"/>
              </a:spcBef>
              <a:spcAft>
                <a:spcPts val="800"/>
              </a:spcAft>
            </a:pPr>
            <a:r>
              <a:rPr lang="en-US" sz="14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sz="1400" dirty="0">
                <a:latin typeface="Times New Roman" panose="02020603050405020304" pitchFamily="18" charset="0"/>
                <a:ea typeface="SimSun" panose="02010600030101010101" pitchFamily="2" charset="-122"/>
                <a:cs typeface="Times New Roman" panose="02020603050405020304" pitchFamily="18" charset="0"/>
              </a:rPr>
              <a:t>Clifford and </a:t>
            </a:r>
            <a:r>
              <a:rPr lang="en-US" sz="1400" dirty="0" err="1">
                <a:latin typeface="Times New Roman" panose="02020603050405020304" pitchFamily="18" charset="0"/>
                <a:ea typeface="SimSun" panose="02010600030101010101" pitchFamily="2" charset="-122"/>
                <a:cs typeface="Times New Roman" panose="02020603050405020304" pitchFamily="18" charset="0"/>
              </a:rPr>
              <a:t>Tschakovksy</a:t>
            </a:r>
            <a:r>
              <a:rPr lang="en-US" sz="1400" dirty="0">
                <a:latin typeface="Times New Roman" panose="02020603050405020304" pitchFamily="18" charset="0"/>
                <a:ea typeface="SimSun" panose="02010600030101010101" pitchFamily="2" charset="-122"/>
                <a:cs typeface="Times New Roman" panose="02020603050405020304" pitchFamily="18" charset="0"/>
              </a:rPr>
              <a:t>, 2008 (top); Kirby</a:t>
            </a:r>
            <a:r>
              <a:rPr lang="en-US" sz="1400" dirty="0">
                <a:effectLst/>
                <a:latin typeface="Times New Roman" panose="02020603050405020304" pitchFamily="18" charset="0"/>
                <a:ea typeface="SimSun" panose="02010600030101010101" pitchFamily="2" charset="-122"/>
                <a:cs typeface="Times New Roman" panose="02020603050405020304" pitchFamily="18" charset="0"/>
              </a:rPr>
              <a:t> et al., </a:t>
            </a:r>
            <a:r>
              <a:rPr lang="en-US" sz="1400" dirty="0">
                <a:latin typeface="Times New Roman" panose="02020603050405020304" pitchFamily="18" charset="0"/>
                <a:ea typeface="SimSun" panose="02010600030101010101" pitchFamily="2" charset="-122"/>
                <a:cs typeface="Times New Roman" panose="02020603050405020304" pitchFamily="18" charset="0"/>
              </a:rPr>
              <a:t>2007 (bottom)</a:t>
            </a:r>
            <a:r>
              <a:rPr lang="en-US" sz="1400" dirty="0">
                <a:effectLst/>
                <a:latin typeface="Times New Roman" panose="02020603050405020304" pitchFamily="18" charset="0"/>
                <a:ea typeface="SimSun" panose="02010600030101010101" pitchFamily="2" charset="-122"/>
                <a:cs typeface="Times New Roman" panose="02020603050405020304" pitchFamily="18" charset="0"/>
              </a:rPr>
              <a:t>).</a:t>
            </a:r>
          </a:p>
        </p:txBody>
      </p:sp>
      <p:sp>
        <p:nvSpPr>
          <p:cNvPr id="4" name="Rectangle 3">
            <a:extLst>
              <a:ext uri="{FF2B5EF4-FFF2-40B4-BE49-F238E27FC236}">
                <a16:creationId xmlns:a16="http://schemas.microsoft.com/office/drawing/2014/main" id="{640098C1-8CE2-CF88-71C9-0D3917A20749}"/>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descr="A diagram of muscle contractions&#10;&#10;Description automatically generated">
            <a:extLst>
              <a:ext uri="{FF2B5EF4-FFF2-40B4-BE49-F238E27FC236}">
                <a16:creationId xmlns:a16="http://schemas.microsoft.com/office/drawing/2014/main" id="{88E32BD8-86AB-A2BD-67A9-7AEDBE1EAF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66829" y="3169277"/>
            <a:ext cx="4705807" cy="3047468"/>
          </a:xfrm>
          <a:prstGeom prst="rect">
            <a:avLst/>
          </a:prstGeom>
        </p:spPr>
      </p:pic>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9E3BA205-F259-C2B3-E72C-7B4BA2F25CF0}"/>
                  </a:ext>
                </a:extLst>
              </p:cNvPr>
              <p:cNvSpPr>
                <a:spLocks noGrp="1"/>
              </p:cNvSpPr>
              <p:nvPr>
                <p:ph idx="1"/>
              </p:nvPr>
            </p:nvSpPr>
            <p:spPr>
              <a:xfrm>
                <a:off x="193092" y="1825624"/>
                <a:ext cx="6895836" cy="4844483"/>
              </a:xfrm>
            </p:spPr>
            <p:txBody>
              <a:bodyPr>
                <a:normAutofit fontScale="92500" lnSpcReduction="10000"/>
              </a:bodyPr>
              <a:lstStyle/>
              <a:p>
                <a:pPr>
                  <a:lnSpc>
                    <a:spcPct val="107000"/>
                  </a:lnSpc>
                  <a:spcBef>
                    <a:spcPts val="0"/>
                  </a:spcBef>
                  <a:spcAft>
                    <a:spcPts val="800"/>
                  </a:spcAft>
                </a:pPr>
                <a:r>
                  <a:rPr lang="en-US" sz="2000" dirty="0">
                    <a:latin typeface="Times New Roman" panose="02020603050405020304" pitchFamily="18" charset="0"/>
                    <a:ea typeface="SimSun" panose="02010600030101010101" pitchFamily="2" charset="-122"/>
                    <a:cs typeface="Times New Roman" panose="02020603050405020304" pitchFamily="18" charset="0"/>
                  </a:rPr>
                  <a:t>Q</a:t>
                </a:r>
                <a:r>
                  <a:rPr lang="en-US" sz="2000" baseline="-25000" dirty="0">
                    <a:latin typeface="Times New Roman" panose="02020603050405020304" pitchFamily="18" charset="0"/>
                    <a:ea typeface="SimSun" panose="02010600030101010101" pitchFamily="2" charset="-122"/>
                    <a:cs typeface="Times New Roman" panose="02020603050405020304" pitchFamily="18" charset="0"/>
                  </a:rPr>
                  <a:t>a</a:t>
                </a:r>
                <a:r>
                  <a:rPr lang="en-US" sz="2000" dirty="0">
                    <a:latin typeface="Times New Roman" panose="02020603050405020304" pitchFamily="18" charset="0"/>
                    <a:ea typeface="SimSun" panose="02010600030101010101" pitchFamily="2" charset="-122"/>
                    <a:cs typeface="Times New Roman" panose="02020603050405020304" pitchFamily="18" charset="0"/>
                  </a:rPr>
                  <a:t> = </a:t>
                </a:r>
                <a14:m>
                  <m:oMath xmlns:m="http://schemas.openxmlformats.org/officeDocument/2006/math">
                    <m:r>
                      <a:rPr lang="en-US" sz="2000" i="1">
                        <a:latin typeface="Cambria Math" panose="02040503050406030204" pitchFamily="18" charset="0"/>
                        <a:ea typeface="SimSun" panose="02010600030101010101" pitchFamily="2" charset="-122"/>
                        <a:cs typeface="Arial" panose="020B0604020202020204" pitchFamily="34" charset="0"/>
                      </a:rPr>
                      <m:t>∆</m:t>
                    </m:r>
                  </m:oMath>
                </a14:m>
                <a:r>
                  <a:rPr lang="en-US" sz="2000" dirty="0">
                    <a:latin typeface="Times New Roman" panose="02020603050405020304" pitchFamily="18" charset="0"/>
                    <a:ea typeface="SimSun" panose="02010600030101010101" pitchFamily="2" charset="-122"/>
                    <a:cs typeface="Times New Roman" panose="02020603050405020304" pitchFamily="18" charset="0"/>
                  </a:rPr>
                  <a:t>P*VC (Tschakovsky et al., 1996).</a:t>
                </a:r>
              </a:p>
              <a:p>
                <a:pPr lvl="1"/>
                <a:r>
                  <a:rPr lang="en-US" sz="1600" dirty="0">
                    <a:latin typeface="Times New Roman" panose="02020603050405020304" pitchFamily="18" charset="0"/>
                    <a:cs typeface="Times New Roman" panose="02020603050405020304" pitchFamily="18" charset="0"/>
                  </a:rPr>
                  <a:t>Q</a:t>
                </a:r>
                <a:r>
                  <a:rPr lang="en-US" sz="1600" baseline="-25000" dirty="0">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 = arterial inflow (blood flow), </a:t>
                </a:r>
                <a14:m>
                  <m:oMath xmlns:m="http://schemas.openxmlformats.org/officeDocument/2006/math">
                    <m:r>
                      <a:rPr lang="en-US" sz="16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1600" dirty="0">
                    <a:latin typeface="Times New Roman" panose="02020603050405020304" pitchFamily="18" charset="0"/>
                    <a:cs typeface="Times New Roman" panose="02020603050405020304" pitchFamily="18" charset="0"/>
                  </a:rPr>
                  <a:t>P = arterio-venous pressure gradient, VC = vascular (arterial) conductance</a:t>
                </a:r>
              </a:p>
              <a:p>
                <a:pPr>
                  <a:lnSpc>
                    <a:spcPct val="107000"/>
                  </a:lnSpc>
                  <a:spcBef>
                    <a:spcPts val="0"/>
                  </a:spcBef>
                  <a:spcAft>
                    <a:spcPts val="800"/>
                  </a:spcAft>
                </a:pPr>
                <a:r>
                  <a:rPr lang="en-US" sz="2000" dirty="0">
                    <a:latin typeface="Times New Roman" panose="02020603050405020304" pitchFamily="18" charset="0"/>
                    <a:cs typeface="Times New Roman" panose="02020603050405020304" pitchFamily="18" charset="0"/>
                  </a:rPr>
                  <a:t>Rapid vasodilation (ROV) occurs in response to skeletal muscle contraction or vascular compression (Kirby et al., 2007).</a:t>
                </a:r>
              </a:p>
              <a:p>
                <a:pPr>
                  <a:lnSpc>
                    <a:spcPct val="107000"/>
                  </a:lnSpc>
                  <a:spcBef>
                    <a:spcPts val="0"/>
                  </a:spcBef>
                  <a:spcAft>
                    <a:spcPts val="800"/>
                  </a:spcAft>
                </a:pPr>
                <a:r>
                  <a:rPr lang="en-US" sz="2000" dirty="0">
                    <a:latin typeface="Times New Roman" panose="02020603050405020304" pitchFamily="18" charset="0"/>
                    <a:cs typeface="Times New Roman" panose="02020603050405020304" pitchFamily="18" charset="0"/>
                  </a:rPr>
                  <a:t>ROV causes a transient increase in resistance vessel diameter (top right figure), increasing vascular conductance (bottom right figure) and, thus, blood flow (see equation above).</a:t>
                </a:r>
              </a:p>
              <a:p>
                <a:pPr>
                  <a:lnSpc>
                    <a:spcPct val="107000"/>
                  </a:lnSpc>
                  <a:spcBef>
                    <a:spcPts val="0"/>
                  </a:spcBef>
                  <a:spcAft>
                    <a:spcPts val="800"/>
                  </a:spcAft>
                </a:pPr>
                <a:r>
                  <a:rPr lang="en-US" sz="2000" dirty="0">
                    <a:latin typeface="Times New Roman" panose="02020603050405020304" pitchFamily="18" charset="0"/>
                    <a:cs typeface="Times New Roman" panose="02020603050405020304" pitchFamily="18" charset="0"/>
                  </a:rPr>
                  <a:t>Chronic endurance training has been shown to preserve ROV responses in older adults (aged ~60+) compared to old untrained, but these observations may be explained by other factors that are preserved in old age through exercise (Hughes et al., 2016).</a:t>
                </a:r>
              </a:p>
              <a:p>
                <a:pPr lvl="1">
                  <a:lnSpc>
                    <a:spcPct val="107000"/>
                  </a:lnSpc>
                  <a:spcBef>
                    <a:spcPts val="0"/>
                  </a:spcBef>
                  <a:spcAft>
                    <a:spcPts val="800"/>
                  </a:spcAft>
                </a:pPr>
                <a:r>
                  <a:rPr lang="en-US" sz="1600" dirty="0">
                    <a:latin typeface="Times New Roman" panose="02020603050405020304" pitchFamily="18" charset="0"/>
                    <a:cs typeface="Times New Roman" panose="02020603050405020304" pitchFamily="18" charset="0"/>
                  </a:rPr>
                  <a:t>Untrained older adults did not have improved responses compared to young untrained adults.</a:t>
                </a:r>
              </a:p>
              <a:p>
                <a:pPr lvl="1">
                  <a:lnSpc>
                    <a:spcPct val="107000"/>
                  </a:lnSpc>
                  <a:spcBef>
                    <a:spcPts val="0"/>
                  </a:spcBef>
                  <a:spcAft>
                    <a:spcPts val="800"/>
                  </a:spcAft>
                </a:pPr>
                <a:r>
                  <a:rPr lang="en-US" sz="1600" dirty="0">
                    <a:latin typeface="Times New Roman" panose="02020603050405020304" pitchFamily="18" charset="0"/>
                    <a:cs typeface="Times New Roman" panose="02020603050405020304" pitchFamily="18" charset="0"/>
                  </a:rPr>
                  <a:t>Prior to this current study, it was unknown whether exercise training could promote adaptations to ROV in healthy young adults.</a:t>
                </a:r>
              </a:p>
              <a:p>
                <a:pPr>
                  <a:lnSpc>
                    <a:spcPct val="107000"/>
                  </a:lnSpc>
                  <a:spcBef>
                    <a:spcPts val="0"/>
                  </a:spcBef>
                  <a:spcAft>
                    <a:spcPts val="800"/>
                  </a:spcAft>
                </a:pPr>
                <a:endParaRPr lang="en-US" sz="2000" dirty="0">
                  <a:latin typeface="Times New Roman" panose="02020603050405020304" pitchFamily="18" charset="0"/>
                  <a:cs typeface="Times New Roman" panose="02020603050405020304" pitchFamily="18" charset="0"/>
                </a:endParaRPr>
              </a:p>
              <a:p>
                <a:pPr marL="0" indent="0">
                  <a:lnSpc>
                    <a:spcPct val="107000"/>
                  </a:lnSpc>
                  <a:spcBef>
                    <a:spcPts val="0"/>
                  </a:spcBef>
                  <a:spcAft>
                    <a:spcPts val="800"/>
                  </a:spcAft>
                  <a:buNone/>
                </a:pPr>
                <a:endParaRPr lang="en-US" dirty="0">
                  <a:effectLst/>
                  <a:latin typeface="Times New Roman" panose="02020603050405020304" pitchFamily="18" charset="0"/>
                  <a:ea typeface="SimSun" panose="02010600030101010101" pitchFamily="2" charset="-122"/>
                  <a:cs typeface="Times New Roman" panose="02020603050405020304" pitchFamily="18" charset="0"/>
                </a:endParaRPr>
              </a:p>
            </p:txBody>
          </p:sp>
        </mc:Choice>
        <mc:Fallback xmlns="">
          <p:sp>
            <p:nvSpPr>
              <p:cNvPr id="10" name="Content Placeholder 2">
                <a:extLst>
                  <a:ext uri="{FF2B5EF4-FFF2-40B4-BE49-F238E27FC236}">
                    <a16:creationId xmlns:a16="http://schemas.microsoft.com/office/drawing/2014/main" id="{9E3BA205-F259-C2B3-E72C-7B4BA2F25CF0}"/>
                  </a:ext>
                </a:extLst>
              </p:cNvPr>
              <p:cNvSpPr>
                <a:spLocks noGrp="1" noRot="1" noChangeAspect="1" noMove="1" noResize="1" noEditPoints="1" noAdjustHandles="1" noChangeArrowheads="1" noChangeShapeType="1" noTextEdit="1"/>
              </p:cNvSpPr>
              <p:nvPr>
                <p:ph idx="1"/>
              </p:nvPr>
            </p:nvSpPr>
            <p:spPr>
              <a:xfrm>
                <a:off x="193092" y="1825624"/>
                <a:ext cx="6895836" cy="4844483"/>
              </a:xfrm>
              <a:blipFill>
                <a:blip r:embed="rId5"/>
                <a:stretch>
                  <a:fillRect l="-707" t="-755" r="-1415"/>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A488114E-26C0-083D-98DF-9C6BFCF70EF6}"/>
              </a:ext>
            </a:extLst>
          </p:cNvPr>
          <p:cNvCxnSpPr>
            <a:cxnSpLocks/>
          </p:cNvCxnSpPr>
          <p:nvPr/>
        </p:nvCxnSpPr>
        <p:spPr>
          <a:xfrm flipV="1">
            <a:off x="646340" y="1415571"/>
            <a:ext cx="2" cy="40266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F501F25-D819-71C3-2369-75B51E9B3908}"/>
              </a:ext>
            </a:extLst>
          </p:cNvPr>
          <p:cNvCxnSpPr>
            <a:cxnSpLocks/>
          </p:cNvCxnSpPr>
          <p:nvPr/>
        </p:nvCxnSpPr>
        <p:spPr>
          <a:xfrm flipV="1">
            <a:off x="1585584" y="1414638"/>
            <a:ext cx="2" cy="40266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623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DCC53-975B-FD18-FFA7-7002E98B7B59}"/>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Study Design Overview – Main Research Question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B06D9F-098F-4F7E-D5F1-904453333EE8}"/>
                  </a:ext>
                </a:extLst>
              </p:cNvPr>
              <p:cNvSpPr>
                <a:spLocks noGrp="1"/>
              </p:cNvSpPr>
              <p:nvPr>
                <p:ph idx="1"/>
              </p:nvPr>
            </p:nvSpPr>
            <p:spPr>
              <a:xfrm>
                <a:off x="838200" y="1501161"/>
                <a:ext cx="10400071" cy="3977027"/>
              </a:xfrm>
            </p:spPr>
            <p:txBody>
              <a:bodyPr>
                <a:normAutofit fontScale="70000" lnSpcReduction="20000"/>
              </a:bodyPr>
              <a:lstStyle/>
              <a:p>
                <a:pPr marL="0" marR="0" lvl="0" indent="0">
                  <a:lnSpc>
                    <a:spcPct val="100000"/>
                  </a:lnSpc>
                  <a:spcBef>
                    <a:spcPts val="0"/>
                  </a:spcBef>
                  <a:spcAft>
                    <a:spcPts val="800"/>
                  </a:spcAft>
                  <a:buNone/>
                  <a:tabLst>
                    <a:tab pos="457200" algn="l"/>
                  </a:tabLst>
                </a:pPr>
                <a:r>
                  <a:rPr lang="en-US" sz="2400" u="sng" dirty="0">
                    <a:latin typeface="Times New Roman" panose="02020603050405020304" pitchFamily="18" charset="0"/>
                    <a:ea typeface="SimSun" panose="02010600030101010101" pitchFamily="2" charset="-122"/>
                    <a:cs typeface="Arial" panose="020B0604020202020204" pitchFamily="34" charset="0"/>
                  </a:rPr>
                  <a:t>Main Hypotheses</a:t>
                </a:r>
              </a:p>
              <a:p>
                <a:pPr marL="0" marR="0" lvl="0" indent="0">
                  <a:lnSpc>
                    <a:spcPct val="100000"/>
                  </a:lnSpc>
                  <a:spcBef>
                    <a:spcPts val="0"/>
                  </a:spcBef>
                  <a:spcAft>
                    <a:spcPts val="800"/>
                  </a:spcAft>
                  <a:buNone/>
                </a:pPr>
                <a:r>
                  <a:rPr lang="en-US" sz="2400" dirty="0">
                    <a:latin typeface="Times New Roman" panose="02020603050405020304" pitchFamily="18" charset="0"/>
                    <a:ea typeface="SimSun" panose="02010600030101010101" pitchFamily="2" charset="-122"/>
                    <a:cs typeface="Arial" panose="020B0604020202020204" pitchFamily="34" charset="0"/>
                  </a:rPr>
                  <a:t>Trained subjects will display greater peak and total FVC response to a 1-second, voluntary contraction, at both absolute and relative intensities, and to electrically stimulated contractions and external compression at the same absolute stimulus, compared to sedentary counterparts.</a:t>
                </a:r>
              </a:p>
              <a:p>
                <a:pPr marL="0" indent="0">
                  <a:lnSpc>
                    <a:spcPct val="100000"/>
                  </a:lnSpc>
                  <a:spcBef>
                    <a:spcPts val="0"/>
                  </a:spcBef>
                  <a:spcAft>
                    <a:spcPts val="800"/>
                  </a:spcAft>
                  <a:buNone/>
                  <a:tabLst>
                    <a:tab pos="457200" algn="l"/>
                  </a:tabLst>
                </a:pPr>
                <a:endParaRPr lang="en-US" sz="2400" dirty="0">
                  <a:effectLst/>
                  <a:latin typeface="Times New Roman" panose="02020603050405020304" pitchFamily="18" charset="0"/>
                  <a:ea typeface="SimSun" panose="02010600030101010101" pitchFamily="2" charset="-122"/>
                  <a:cs typeface="Arial" panose="020B0604020202020204" pitchFamily="34" charset="0"/>
                </a:endParaRPr>
              </a:p>
              <a:p>
                <a:pPr>
                  <a:lnSpc>
                    <a:spcPct val="100000"/>
                  </a:lnSpc>
                  <a:spcBef>
                    <a:spcPts val="0"/>
                  </a:spcBef>
                  <a:spcAft>
                    <a:spcPts val="800"/>
                  </a:spcAft>
                  <a:tabLst>
                    <a:tab pos="457200" algn="l"/>
                  </a:tabLst>
                </a:pPr>
                <a:r>
                  <a:rPr lang="en-US" sz="2400" dirty="0">
                    <a:effectLst/>
                    <a:latin typeface="Times New Roman" panose="02020603050405020304" pitchFamily="18" charset="0"/>
                    <a:ea typeface="SimSun" panose="02010600030101010101" pitchFamily="2" charset="-122"/>
                    <a:cs typeface="Arial" panose="020B0604020202020204" pitchFamily="34" charset="0"/>
                  </a:rPr>
                  <a:t>Of the 25 subjects who completed the full protocol, 16 subjects were included in final analysis (8 trained, 8 sedentary, matched based on age (</a:t>
                </a:r>
                <a14:m>
                  <m:oMath xmlns:m="http://schemas.openxmlformats.org/officeDocument/2006/math">
                    <m:r>
                      <a:rPr lang="en-US" sz="2400" i="1" smtClean="0">
                        <a:effectLst/>
                        <a:latin typeface="Cambria Math" panose="02040503050406030204" pitchFamily="18" charset="0"/>
                        <a:ea typeface="Cambria Math" panose="02040503050406030204" pitchFamily="18" charset="0"/>
                        <a:cs typeface="Arial" panose="020B0604020202020204" pitchFamily="34" charset="0"/>
                      </a:rPr>
                      <m:t>±</m:t>
                    </m:r>
                  </m:oMath>
                </a14:m>
                <a:r>
                  <a:rPr lang="en-US" sz="2400" dirty="0">
                    <a:effectLst/>
                    <a:latin typeface="Times New Roman" panose="02020603050405020304" pitchFamily="18" charset="0"/>
                    <a:ea typeface="SimSun" panose="02010600030101010101" pitchFamily="2" charset="-122"/>
                    <a:cs typeface="Arial" panose="020B0604020202020204" pitchFamily="34" charset="0"/>
                  </a:rPr>
                  <a:t> 3 years) and height (</a:t>
                </a:r>
                <a14:m>
                  <m:oMath xmlns:m="http://schemas.openxmlformats.org/officeDocument/2006/math">
                    <m:r>
                      <a:rPr lang="en-US" sz="2400" i="1" smtClean="0">
                        <a:effectLst/>
                        <a:latin typeface="Cambria Math" panose="02040503050406030204" pitchFamily="18" charset="0"/>
                        <a:ea typeface="Cambria Math" panose="02040503050406030204" pitchFamily="18" charset="0"/>
                        <a:cs typeface="Arial" panose="020B0604020202020204" pitchFamily="34" charset="0"/>
                      </a:rPr>
                      <m:t>±</m:t>
                    </m:r>
                  </m:oMath>
                </a14:m>
                <a:r>
                  <a:rPr lang="en-US" sz="2400" dirty="0">
                    <a:effectLst/>
                    <a:latin typeface="Times New Roman" panose="02020603050405020304" pitchFamily="18" charset="0"/>
                    <a:ea typeface="SimSun" panose="02010600030101010101" pitchFamily="2" charset="-122"/>
                    <a:cs typeface="Arial" panose="020B0604020202020204" pitchFamily="34" charset="0"/>
                  </a:rPr>
                  <a:t> 2.5 cm)).</a:t>
                </a:r>
              </a:p>
              <a:p>
                <a:pPr lvl="1">
                  <a:lnSpc>
                    <a:spcPct val="100000"/>
                  </a:lnSpc>
                  <a:spcBef>
                    <a:spcPts val="0"/>
                  </a:spcBef>
                  <a:spcAft>
                    <a:spcPts val="800"/>
                  </a:spcAft>
                  <a:tabLst>
                    <a:tab pos="457200" algn="l"/>
                  </a:tabLst>
                </a:pPr>
                <a:r>
                  <a:rPr lang="en-US" sz="2000" dirty="0">
                    <a:latin typeface="Times New Roman" panose="02020603050405020304" pitchFamily="18" charset="0"/>
                    <a:ea typeface="SimSun" panose="02010600030101010101" pitchFamily="2" charset="-122"/>
                    <a:cs typeface="Arial" panose="020B0604020202020204" pitchFamily="34" charset="0"/>
                  </a:rPr>
                  <a:t>2 visits per subject, including 1 experimental visit (see protocol highlighted in purple, below).</a:t>
                </a:r>
              </a:p>
              <a:p>
                <a:pPr>
                  <a:lnSpc>
                    <a:spcPct val="100000"/>
                  </a:lnSpc>
                  <a:spcBef>
                    <a:spcPts val="0"/>
                  </a:spcBef>
                  <a:spcAft>
                    <a:spcPts val="800"/>
                  </a:spcAft>
                  <a:tabLst>
                    <a:tab pos="457200" algn="l"/>
                  </a:tabLst>
                </a:pPr>
                <a:r>
                  <a:rPr lang="en-US" sz="2400" dirty="0">
                    <a:effectLst/>
                    <a:latin typeface="Times New Roman" panose="02020603050405020304" pitchFamily="18" charset="0"/>
                    <a:ea typeface="SimSun" panose="02010600030101010101" pitchFamily="2" charset="-122"/>
                    <a:cs typeface="Arial" panose="020B0604020202020204" pitchFamily="34" charset="0"/>
                  </a:rPr>
                  <a:t>1-second stimuli applied to the forearm: voluntary contraction (5 intensities), involuntary contraction via electrical stimulation (2 intensities), mechanical compression (3 intensities).</a:t>
                </a:r>
                <a:endParaRPr lang="en-US" sz="2400" dirty="0">
                  <a:latin typeface="Times New Roman" panose="02020603050405020304" pitchFamily="18" charset="0"/>
                  <a:ea typeface="SimSun" panose="02010600030101010101" pitchFamily="2" charset="-122"/>
                  <a:cs typeface="Arial" panose="020B0604020202020204" pitchFamily="34" charset="0"/>
                </a:endParaRPr>
              </a:p>
              <a:p>
                <a:pPr>
                  <a:lnSpc>
                    <a:spcPct val="100000"/>
                  </a:lnSpc>
                  <a:spcBef>
                    <a:spcPts val="0"/>
                  </a:spcBef>
                  <a:spcAft>
                    <a:spcPts val="800"/>
                  </a:spcAft>
                  <a:tabLst>
                    <a:tab pos="457200" algn="l"/>
                  </a:tabLst>
                </a:pPr>
                <a:r>
                  <a:rPr lang="en-US" sz="2400" dirty="0">
                    <a:effectLst/>
                    <a:latin typeface="Times New Roman" panose="02020603050405020304" pitchFamily="18" charset="0"/>
                    <a:ea typeface="SimSun" panose="02010600030101010101" pitchFamily="2" charset="-122"/>
                    <a:cs typeface="Arial" panose="020B0604020202020204" pitchFamily="34" charset="0"/>
                  </a:rPr>
                  <a:t>Randomized, single-blind design.</a:t>
                </a:r>
              </a:p>
              <a:p>
                <a:pPr>
                  <a:lnSpc>
                    <a:spcPct val="100000"/>
                  </a:lnSpc>
                  <a:spcBef>
                    <a:spcPts val="0"/>
                  </a:spcBef>
                  <a:spcAft>
                    <a:spcPts val="800"/>
                  </a:spcAft>
                  <a:tabLst>
                    <a:tab pos="457200" algn="l"/>
                  </a:tabLst>
                </a:pPr>
                <a:r>
                  <a:rPr lang="en-US" sz="2400" dirty="0">
                    <a:latin typeface="Times New Roman" panose="02020603050405020304" pitchFamily="18" charset="0"/>
                    <a:ea typeface="SimSun" panose="02010600030101010101" pitchFamily="2" charset="-122"/>
                    <a:cs typeface="Arial" panose="020B0604020202020204" pitchFamily="34" charset="0"/>
                  </a:rPr>
                  <a:t>Forearm blood flow assessed indirectly via ultrasound imaging of the brachial artery, mean arterial pressure assessed using finger photoplethysmography, forearm tissue oxygen saturation assessed locally using a wired NIRS probe.</a:t>
                </a:r>
                <a:endParaRPr lang="en-US" sz="2400" dirty="0">
                  <a:effectLst/>
                  <a:latin typeface="Times New Roman" panose="02020603050405020304" pitchFamily="18" charset="0"/>
                  <a:ea typeface="SimSun" panose="02010600030101010101" pitchFamily="2" charset="-122"/>
                  <a:cs typeface="Arial" panose="020B0604020202020204" pitchFamily="34" charset="0"/>
                </a:endParaRPr>
              </a:p>
              <a:p>
                <a:pPr>
                  <a:lnSpc>
                    <a:spcPct val="100000"/>
                  </a:lnSpc>
                  <a:spcBef>
                    <a:spcPts val="0"/>
                  </a:spcBef>
                  <a:spcAft>
                    <a:spcPts val="800"/>
                  </a:spcAft>
                  <a:tabLst>
                    <a:tab pos="457200" algn="l"/>
                  </a:tabLst>
                </a:pPr>
                <a:endParaRPr lang="en-US" sz="2400" dirty="0">
                  <a:effectLst/>
                  <a:latin typeface="Times New Roman" panose="02020603050405020304" pitchFamily="18" charset="0"/>
                  <a:ea typeface="SimSun" panose="02010600030101010101" pitchFamily="2" charset="-122"/>
                  <a:cs typeface="Arial" panose="020B0604020202020204" pitchFamily="34" charset="0"/>
                </a:endParaRPr>
              </a:p>
              <a:p>
                <a:pPr marL="0" marR="0" lvl="0" indent="0">
                  <a:lnSpc>
                    <a:spcPct val="200000"/>
                  </a:lnSpc>
                  <a:spcBef>
                    <a:spcPts val="0"/>
                  </a:spcBef>
                  <a:spcAft>
                    <a:spcPts val="800"/>
                  </a:spcAft>
                  <a:buNone/>
                </a:pP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AFB06D9F-098F-4F7E-D5F1-904453333EE8}"/>
                  </a:ext>
                </a:extLst>
              </p:cNvPr>
              <p:cNvSpPr>
                <a:spLocks noGrp="1" noRot="1" noChangeAspect="1" noMove="1" noResize="1" noEditPoints="1" noAdjustHandles="1" noChangeArrowheads="1" noChangeShapeType="1" noTextEdit="1"/>
              </p:cNvSpPr>
              <p:nvPr>
                <p:ph idx="1"/>
              </p:nvPr>
            </p:nvSpPr>
            <p:spPr>
              <a:xfrm>
                <a:off x="838200" y="1501161"/>
                <a:ext cx="10400071" cy="3977027"/>
              </a:xfrm>
              <a:blipFill>
                <a:blip r:embed="rId2"/>
                <a:stretch>
                  <a:fillRect l="-410" t="-1531" r="-703"/>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79019D72-DECF-5BC1-CF73-82A7B3901E49}"/>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4" name="Straight Connector 13">
            <a:extLst>
              <a:ext uri="{FF2B5EF4-FFF2-40B4-BE49-F238E27FC236}">
                <a16:creationId xmlns:a16="http://schemas.microsoft.com/office/drawing/2014/main" id="{E5292253-C26C-B77C-8A10-4DECBCBED28C}"/>
              </a:ext>
            </a:extLst>
          </p:cNvPr>
          <p:cNvCxnSpPr/>
          <p:nvPr/>
        </p:nvCxnSpPr>
        <p:spPr>
          <a:xfrm>
            <a:off x="11001375" y="5486400"/>
            <a:ext cx="23689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3A982A0-AC80-8FE6-42C2-08A100F29285}"/>
              </a:ext>
            </a:extLst>
          </p:cNvPr>
          <p:cNvCxnSpPr/>
          <p:nvPr/>
        </p:nvCxnSpPr>
        <p:spPr>
          <a:xfrm>
            <a:off x="11238271" y="5486400"/>
            <a:ext cx="0" cy="45836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4AA85E4C-88FB-0BE8-0F2A-A33B31F9BF84}"/>
              </a:ext>
            </a:extLst>
          </p:cNvPr>
          <p:cNvCxnSpPr/>
          <p:nvPr/>
        </p:nvCxnSpPr>
        <p:spPr>
          <a:xfrm flipH="1">
            <a:off x="838200" y="5944769"/>
            <a:ext cx="104000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75A7530-C448-383E-1F50-766A5CF4BAFC}"/>
              </a:ext>
            </a:extLst>
          </p:cNvPr>
          <p:cNvCxnSpPr/>
          <p:nvPr/>
        </p:nvCxnSpPr>
        <p:spPr>
          <a:xfrm>
            <a:off x="838200" y="5944769"/>
            <a:ext cx="0" cy="36049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F98FC77-8283-94BB-9E91-1B3F9E1D0DBE}"/>
              </a:ext>
            </a:extLst>
          </p:cNvPr>
          <p:cNvCxnSpPr/>
          <p:nvPr/>
        </p:nvCxnSpPr>
        <p:spPr>
          <a:xfrm>
            <a:off x="838200" y="6305266"/>
            <a:ext cx="317912"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23" name="Table 22">
            <a:extLst>
              <a:ext uri="{FF2B5EF4-FFF2-40B4-BE49-F238E27FC236}">
                <a16:creationId xmlns:a16="http://schemas.microsoft.com/office/drawing/2014/main" id="{B4D03D06-4034-6D2F-975B-4E2B41EAFD4F}"/>
              </a:ext>
            </a:extLst>
          </p:cNvPr>
          <p:cNvGraphicFramePr>
            <a:graphicFrameLocks noGrp="1"/>
          </p:cNvGraphicFramePr>
          <p:nvPr>
            <p:extLst>
              <p:ext uri="{D42A27DB-BD31-4B8C-83A1-F6EECF244321}">
                <p14:modId xmlns:p14="http://schemas.microsoft.com/office/powerpoint/2010/main" val="1461213873"/>
              </p:ext>
            </p:extLst>
          </p:nvPr>
        </p:nvGraphicFramePr>
        <p:xfrm>
          <a:off x="244862" y="5234075"/>
          <a:ext cx="10756512" cy="518160"/>
        </p:xfrm>
        <a:graphic>
          <a:graphicData uri="http://schemas.openxmlformats.org/drawingml/2006/table">
            <a:tbl>
              <a:tblPr firstRow="1" bandRow="1">
                <a:tableStyleId>{5C22544A-7EE6-4342-B048-85BDC9FD1C3A}</a:tableStyleId>
              </a:tblPr>
              <a:tblGrid>
                <a:gridCol w="1613008">
                  <a:extLst>
                    <a:ext uri="{9D8B030D-6E8A-4147-A177-3AD203B41FA5}">
                      <a16:colId xmlns:a16="http://schemas.microsoft.com/office/drawing/2014/main" val="1468026232"/>
                    </a:ext>
                  </a:extLst>
                </a:gridCol>
                <a:gridCol w="753979">
                  <a:extLst>
                    <a:ext uri="{9D8B030D-6E8A-4147-A177-3AD203B41FA5}">
                      <a16:colId xmlns:a16="http://schemas.microsoft.com/office/drawing/2014/main" val="435943970"/>
                    </a:ext>
                  </a:extLst>
                </a:gridCol>
                <a:gridCol w="2229852">
                  <a:extLst>
                    <a:ext uri="{9D8B030D-6E8A-4147-A177-3AD203B41FA5}">
                      <a16:colId xmlns:a16="http://schemas.microsoft.com/office/drawing/2014/main" val="3627666893"/>
                    </a:ext>
                  </a:extLst>
                </a:gridCol>
                <a:gridCol w="1058779">
                  <a:extLst>
                    <a:ext uri="{9D8B030D-6E8A-4147-A177-3AD203B41FA5}">
                      <a16:colId xmlns:a16="http://schemas.microsoft.com/office/drawing/2014/main" val="2234748561"/>
                    </a:ext>
                  </a:extLst>
                </a:gridCol>
                <a:gridCol w="2951748">
                  <a:extLst>
                    <a:ext uri="{9D8B030D-6E8A-4147-A177-3AD203B41FA5}">
                      <a16:colId xmlns:a16="http://schemas.microsoft.com/office/drawing/2014/main" val="4068673698"/>
                    </a:ext>
                  </a:extLst>
                </a:gridCol>
                <a:gridCol w="2149146">
                  <a:extLst>
                    <a:ext uri="{9D8B030D-6E8A-4147-A177-3AD203B41FA5}">
                      <a16:colId xmlns:a16="http://schemas.microsoft.com/office/drawing/2014/main" val="2738979434"/>
                    </a:ext>
                  </a:extLst>
                </a:gridCol>
              </a:tblGrid>
              <a:tr h="370840">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Instrumentation</a:t>
                      </a:r>
                    </a:p>
                    <a:p>
                      <a:pPr algn="ctr"/>
                      <a:r>
                        <a:rPr lang="en-US" sz="1400" b="0" dirty="0">
                          <a:solidFill>
                            <a:schemeClr val="tx1"/>
                          </a:solidFill>
                          <a:latin typeface="Times New Roman" panose="02020603050405020304" pitchFamily="18" charset="0"/>
                          <a:cs typeface="Times New Roman" panose="02020603050405020304" pitchFamily="18" charset="0"/>
                        </a:rPr>
                        <a:t>20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Rest</a:t>
                      </a:r>
                    </a:p>
                    <a:p>
                      <a:pPr algn="ctr"/>
                      <a:r>
                        <a:rPr lang="en-US" sz="1400" b="0" dirty="0">
                          <a:solidFill>
                            <a:schemeClr val="tx1"/>
                          </a:solidFill>
                          <a:latin typeface="Times New Roman" panose="02020603050405020304" pitchFamily="18" charset="0"/>
                          <a:cs typeface="Times New Roman" panose="02020603050405020304" pitchFamily="18" charset="0"/>
                        </a:rPr>
                        <a:t>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Randomized Stimuli Trial 1</a:t>
                      </a:r>
                    </a:p>
                    <a:p>
                      <a:pPr algn="ctr"/>
                      <a:r>
                        <a:rPr lang="en-US" sz="1400" b="0" dirty="0">
                          <a:solidFill>
                            <a:schemeClr val="tx1"/>
                          </a:solidFill>
                          <a:latin typeface="Times New Roman" panose="02020603050405020304" pitchFamily="18" charset="0"/>
                          <a:cs typeface="Times New Roman" panose="02020603050405020304" pitchFamily="18" charset="0"/>
                        </a:rPr>
                        <a:t>20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Rest</a:t>
                      </a:r>
                    </a:p>
                    <a:p>
                      <a:pPr algn="ctr"/>
                      <a:r>
                        <a:rPr lang="en-US" sz="1400" b="0" dirty="0">
                          <a:solidFill>
                            <a:schemeClr val="tx1"/>
                          </a:solidFill>
                          <a:latin typeface="Times New Roman" panose="02020603050405020304" pitchFamily="18" charset="0"/>
                          <a:cs typeface="Times New Roman" panose="02020603050405020304" pitchFamily="18" charset="0"/>
                        </a:rPr>
                        <a:t>~2-3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Randomized Stimuli Trial 2</a:t>
                      </a:r>
                    </a:p>
                    <a:p>
                      <a:pPr algn="ctr"/>
                      <a:r>
                        <a:rPr lang="en-US" sz="1400" b="0" dirty="0">
                          <a:solidFill>
                            <a:schemeClr val="tx1"/>
                          </a:solidFill>
                          <a:latin typeface="Times New Roman" panose="02020603050405020304" pitchFamily="18" charset="0"/>
                          <a:cs typeface="Times New Roman" panose="02020603050405020304" pitchFamily="18" charset="0"/>
                        </a:rPr>
                        <a:t>20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Re-Instrumentation</a:t>
                      </a:r>
                    </a:p>
                    <a:p>
                      <a:pPr algn="ctr"/>
                      <a:r>
                        <a:rPr lang="en-US" sz="1400" b="0" dirty="0">
                          <a:solidFill>
                            <a:schemeClr val="tx1"/>
                          </a:solidFill>
                          <a:latin typeface="Times New Roman" panose="02020603050405020304" pitchFamily="18" charset="0"/>
                          <a:cs typeface="Times New Roman" panose="02020603050405020304" pitchFamily="18" charset="0"/>
                        </a:rPr>
                        <a:t>~10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1500440"/>
                  </a:ext>
                </a:extLst>
              </a:tr>
            </a:tbl>
          </a:graphicData>
        </a:graphic>
      </p:graphicFrame>
      <p:graphicFrame>
        <p:nvGraphicFramePr>
          <p:cNvPr id="24" name="Table 23">
            <a:extLst>
              <a:ext uri="{FF2B5EF4-FFF2-40B4-BE49-F238E27FC236}">
                <a16:creationId xmlns:a16="http://schemas.microsoft.com/office/drawing/2014/main" id="{CE74B616-7A5E-CDB2-A2D3-FC1292F894FA}"/>
              </a:ext>
            </a:extLst>
          </p:cNvPr>
          <p:cNvGraphicFramePr>
            <a:graphicFrameLocks noGrp="1"/>
          </p:cNvGraphicFramePr>
          <p:nvPr>
            <p:extLst>
              <p:ext uri="{D42A27DB-BD31-4B8C-83A1-F6EECF244321}">
                <p14:modId xmlns:p14="http://schemas.microsoft.com/office/powerpoint/2010/main" val="30780295"/>
              </p:ext>
            </p:extLst>
          </p:nvPr>
        </p:nvGraphicFramePr>
        <p:xfrm>
          <a:off x="1156112" y="6090875"/>
          <a:ext cx="10734083" cy="518160"/>
        </p:xfrm>
        <a:graphic>
          <a:graphicData uri="http://schemas.openxmlformats.org/drawingml/2006/table">
            <a:tbl>
              <a:tblPr firstRow="1" bandRow="1">
                <a:tableStyleId>{5C22544A-7EE6-4342-B048-85BDC9FD1C3A}</a:tableStyleId>
              </a:tblPr>
              <a:tblGrid>
                <a:gridCol w="961446">
                  <a:extLst>
                    <a:ext uri="{9D8B030D-6E8A-4147-A177-3AD203B41FA5}">
                      <a16:colId xmlns:a16="http://schemas.microsoft.com/office/drawing/2014/main" val="1468026232"/>
                    </a:ext>
                  </a:extLst>
                </a:gridCol>
                <a:gridCol w="2342147">
                  <a:extLst>
                    <a:ext uri="{9D8B030D-6E8A-4147-A177-3AD203B41FA5}">
                      <a16:colId xmlns:a16="http://schemas.microsoft.com/office/drawing/2014/main" val="435943970"/>
                    </a:ext>
                  </a:extLst>
                </a:gridCol>
                <a:gridCol w="1010653">
                  <a:extLst>
                    <a:ext uri="{9D8B030D-6E8A-4147-A177-3AD203B41FA5}">
                      <a16:colId xmlns:a16="http://schemas.microsoft.com/office/drawing/2014/main" val="3627666893"/>
                    </a:ext>
                  </a:extLst>
                </a:gridCol>
                <a:gridCol w="3336758">
                  <a:extLst>
                    <a:ext uri="{9D8B030D-6E8A-4147-A177-3AD203B41FA5}">
                      <a16:colId xmlns:a16="http://schemas.microsoft.com/office/drawing/2014/main" val="2234748561"/>
                    </a:ext>
                  </a:extLst>
                </a:gridCol>
                <a:gridCol w="3083079">
                  <a:extLst>
                    <a:ext uri="{9D8B030D-6E8A-4147-A177-3AD203B41FA5}">
                      <a16:colId xmlns:a16="http://schemas.microsoft.com/office/drawing/2014/main" val="4068673698"/>
                    </a:ext>
                  </a:extLst>
                </a:gridCol>
              </a:tblGrid>
              <a:tr h="370840">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Rest</a:t>
                      </a:r>
                    </a:p>
                    <a:p>
                      <a:pPr algn="ctr"/>
                      <a:r>
                        <a:rPr lang="en-US" sz="1400" b="0" dirty="0">
                          <a:solidFill>
                            <a:schemeClr val="tx1"/>
                          </a:solidFill>
                          <a:latin typeface="Times New Roman" panose="02020603050405020304" pitchFamily="18" charset="0"/>
                          <a:cs typeface="Times New Roman" panose="02020603050405020304" pitchFamily="18" charset="0"/>
                        </a:rPr>
                        <a:t>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Mitochondrial Function </a:t>
                      </a:r>
                    </a:p>
                    <a:p>
                      <a:pPr algn="ctr"/>
                      <a:r>
                        <a:rPr lang="en-US" sz="1400" b="0" dirty="0">
                          <a:solidFill>
                            <a:schemeClr val="tx1"/>
                          </a:solidFill>
                          <a:latin typeface="Times New Roman" panose="02020603050405020304" pitchFamily="18" charset="0"/>
                          <a:cs typeface="Times New Roman" panose="02020603050405020304" pitchFamily="18" charset="0"/>
                        </a:rPr>
                        <a:t>~7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Rest</a:t>
                      </a:r>
                    </a:p>
                    <a:p>
                      <a:pPr algn="ctr"/>
                      <a:r>
                        <a:rPr lang="en-US" sz="1400" b="0" dirty="0">
                          <a:solidFill>
                            <a:schemeClr val="tx1"/>
                          </a:solidFill>
                          <a:latin typeface="Times New Roman" panose="02020603050405020304" pitchFamily="18" charset="0"/>
                          <a:cs typeface="Times New Roman" panose="02020603050405020304" pitchFamily="18" charset="0"/>
                        </a:rPr>
                        <a:t>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Pre-Critical Force Contractions</a:t>
                      </a:r>
                    </a:p>
                    <a:p>
                      <a:pPr algn="ctr"/>
                      <a:r>
                        <a:rPr lang="en-US" sz="1400" b="0" dirty="0">
                          <a:solidFill>
                            <a:schemeClr val="tx1"/>
                          </a:solidFill>
                          <a:latin typeface="Times New Roman" panose="02020603050405020304" pitchFamily="18" charset="0"/>
                          <a:cs typeface="Times New Roman" panose="02020603050405020304" pitchFamily="18" charset="0"/>
                        </a:rPr>
                        <a:t>3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Critical Force Test</a:t>
                      </a:r>
                    </a:p>
                    <a:p>
                      <a:pPr algn="ctr"/>
                      <a:r>
                        <a:rPr lang="en-US" sz="1400" b="0" dirty="0">
                          <a:solidFill>
                            <a:schemeClr val="tx1"/>
                          </a:solidFill>
                          <a:latin typeface="Times New Roman" panose="02020603050405020304" pitchFamily="18" charset="0"/>
                          <a:cs typeface="Times New Roman" panose="02020603050405020304" pitchFamily="18" charset="0"/>
                        </a:rPr>
                        <a:t>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1500440"/>
                  </a:ext>
                </a:extLst>
              </a:tr>
            </a:tbl>
          </a:graphicData>
        </a:graphic>
      </p:graphicFrame>
      <p:sp>
        <p:nvSpPr>
          <p:cNvPr id="25" name="Rectangle 24">
            <a:extLst>
              <a:ext uri="{FF2B5EF4-FFF2-40B4-BE49-F238E27FC236}">
                <a16:creationId xmlns:a16="http://schemas.microsoft.com/office/drawing/2014/main" id="{287C510F-06A8-5D10-FA8B-BDC969B013F9}"/>
              </a:ext>
            </a:extLst>
          </p:cNvPr>
          <p:cNvSpPr/>
          <p:nvPr/>
        </p:nvSpPr>
        <p:spPr>
          <a:xfrm>
            <a:off x="148046" y="5159687"/>
            <a:ext cx="10931266" cy="692256"/>
          </a:xfrm>
          <a:prstGeom prst="rect">
            <a:avLst/>
          </a:prstGeom>
          <a:no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553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67BCE-0F00-9D90-4C67-C70394C7E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7FCDA-462B-E7DC-04C2-633F894EAE6F}"/>
              </a:ext>
            </a:extLst>
          </p:cNvPr>
          <p:cNvSpPr>
            <a:spLocks noGrp="1"/>
          </p:cNvSpPr>
          <p:nvPr>
            <p:ph type="title"/>
          </p:nvPr>
        </p:nvSpPr>
        <p:spPr>
          <a:xfrm>
            <a:off x="481761" y="365125"/>
            <a:ext cx="11408430" cy="1325563"/>
          </a:xfrm>
        </p:spPr>
        <p:txBody>
          <a:bodyPr>
            <a:normAutofit/>
          </a:bodyPr>
          <a:lstStyle/>
          <a:p>
            <a:r>
              <a:rPr lang="en-US" sz="3200" dirty="0">
                <a:latin typeface="Times New Roman" panose="02020603050405020304" pitchFamily="18" charset="0"/>
                <a:cs typeface="Times New Roman" panose="02020603050405020304" pitchFamily="18" charset="0"/>
              </a:rPr>
              <a:t>Study Design Overview – Mitochondrial Function and Critical Force</a:t>
            </a:r>
          </a:p>
        </p:txBody>
      </p:sp>
      <p:sp>
        <p:nvSpPr>
          <p:cNvPr id="3" name="Content Placeholder 2">
            <a:extLst>
              <a:ext uri="{FF2B5EF4-FFF2-40B4-BE49-F238E27FC236}">
                <a16:creationId xmlns:a16="http://schemas.microsoft.com/office/drawing/2014/main" id="{57FD7E9A-14B0-93E3-457A-A76C4CB5632C}"/>
              </a:ext>
            </a:extLst>
          </p:cNvPr>
          <p:cNvSpPr>
            <a:spLocks noGrp="1"/>
          </p:cNvSpPr>
          <p:nvPr>
            <p:ph idx="1"/>
          </p:nvPr>
        </p:nvSpPr>
        <p:spPr>
          <a:xfrm>
            <a:off x="838200" y="1346560"/>
            <a:ext cx="10400071" cy="3977027"/>
          </a:xfrm>
        </p:spPr>
        <p:txBody>
          <a:bodyPr>
            <a:normAutofit/>
          </a:bodyPr>
          <a:lstStyle/>
          <a:p>
            <a:pPr>
              <a:lnSpc>
                <a:spcPct val="100000"/>
              </a:lnSpc>
              <a:spcBef>
                <a:spcPts val="0"/>
              </a:spcBef>
            </a:pPr>
            <a:r>
              <a:rPr lang="en-US" sz="1900" dirty="0">
                <a:latin typeface="Times New Roman" panose="02020603050405020304" pitchFamily="18" charset="0"/>
                <a:ea typeface="SimSun" panose="02010600030101010101" pitchFamily="2" charset="-122"/>
                <a:cs typeface="Times New Roman" panose="02020603050405020304" pitchFamily="18" charset="0"/>
              </a:rPr>
              <a:t>Forearm skeletal muscle oxygenation was measured continuously via NIRS in the flexor digitorum </a:t>
            </a:r>
            <a:r>
              <a:rPr lang="en-US" sz="1900" dirty="0" err="1">
                <a:latin typeface="Times New Roman" panose="02020603050405020304" pitchFamily="18" charset="0"/>
                <a:ea typeface="SimSun" panose="02010600030101010101" pitchFamily="2" charset="-122"/>
                <a:cs typeface="Times New Roman" panose="02020603050405020304" pitchFamily="18" charset="0"/>
              </a:rPr>
              <a:t>profundus</a:t>
            </a:r>
            <a:r>
              <a:rPr lang="en-US" sz="1900" dirty="0">
                <a:latin typeface="Times New Roman" panose="02020603050405020304" pitchFamily="18" charset="0"/>
                <a:ea typeface="SimSun" panose="02010600030101010101" pitchFamily="2" charset="-122"/>
                <a:cs typeface="Times New Roman" panose="02020603050405020304" pitchFamily="18" charset="0"/>
              </a:rPr>
              <a:t> of the non-dominant arm (see protocol highlighted in purple, below).</a:t>
            </a:r>
          </a:p>
          <a:p>
            <a:pPr>
              <a:lnSpc>
                <a:spcPct val="100000"/>
              </a:lnSpc>
              <a:spcBef>
                <a:spcPts val="0"/>
              </a:spcBef>
            </a:pPr>
            <a:r>
              <a:rPr lang="en-US" sz="1900" dirty="0">
                <a:latin typeface="Times New Roman" panose="02020603050405020304" pitchFamily="18" charset="0"/>
                <a:ea typeface="SimSun" panose="02010600030101010101" pitchFamily="2" charset="-122"/>
                <a:cs typeface="Times New Roman" panose="02020603050405020304" pitchFamily="18" charset="0"/>
              </a:rPr>
              <a:t>Mitochondrial function: Subjects performed brief bout of maximal forearm exercise (0.5sec contract, 0.5sec relax; 15 sec), followed by a series of cuff occlusions at a pressure of 230mmHg, in the order below: occlusion numbers ; inflation (sec)/deflation (sec) (Rosenberry et al., 2018; Ryan et al., 2013).</a:t>
            </a:r>
          </a:p>
          <a:p>
            <a:pPr lvl="1">
              <a:lnSpc>
                <a:spcPct val="100000"/>
              </a:lnSpc>
              <a:spcBef>
                <a:spcPts val="0"/>
              </a:spcBef>
            </a:pPr>
            <a:r>
              <a:rPr lang="en-US" sz="1500" dirty="0">
                <a:latin typeface="Times New Roman" panose="02020603050405020304" pitchFamily="18" charset="0"/>
                <a:ea typeface="SimSun" panose="02010600030101010101" pitchFamily="2" charset="-122"/>
                <a:cs typeface="Times New Roman" panose="02020603050405020304" pitchFamily="18" charset="0"/>
              </a:rPr>
              <a:t>1-6 ; 5/5</a:t>
            </a:r>
          </a:p>
          <a:p>
            <a:pPr lvl="1">
              <a:lnSpc>
                <a:spcPct val="100000"/>
              </a:lnSpc>
              <a:spcBef>
                <a:spcPts val="0"/>
              </a:spcBef>
            </a:pPr>
            <a:r>
              <a:rPr lang="en-US" sz="1500" dirty="0">
                <a:latin typeface="Times New Roman" panose="02020603050405020304" pitchFamily="18" charset="0"/>
                <a:ea typeface="SimSun" panose="02010600030101010101" pitchFamily="2" charset="-122"/>
                <a:cs typeface="Times New Roman" panose="02020603050405020304" pitchFamily="18" charset="0"/>
              </a:rPr>
              <a:t>7-10 ; 7/10</a:t>
            </a:r>
          </a:p>
          <a:p>
            <a:pPr lvl="1">
              <a:lnSpc>
                <a:spcPct val="100000"/>
              </a:lnSpc>
              <a:spcBef>
                <a:spcPts val="0"/>
              </a:spcBef>
            </a:pPr>
            <a:r>
              <a:rPr lang="en-US" sz="1500" dirty="0">
                <a:latin typeface="Times New Roman" panose="02020603050405020304" pitchFamily="18" charset="0"/>
                <a:ea typeface="SimSun" panose="02010600030101010101" pitchFamily="2" charset="-122"/>
                <a:cs typeface="Times New Roman" panose="02020603050405020304" pitchFamily="18" charset="0"/>
              </a:rPr>
              <a:t>11-14 ; 10/15</a:t>
            </a:r>
          </a:p>
          <a:p>
            <a:pPr lvl="1">
              <a:lnSpc>
                <a:spcPct val="100000"/>
              </a:lnSpc>
              <a:spcBef>
                <a:spcPts val="0"/>
              </a:spcBef>
            </a:pPr>
            <a:r>
              <a:rPr lang="en-US" sz="1500" dirty="0">
                <a:latin typeface="Times New Roman" panose="02020603050405020304" pitchFamily="18" charset="0"/>
                <a:ea typeface="SimSun" panose="02010600030101010101" pitchFamily="2" charset="-122"/>
                <a:cs typeface="Times New Roman" panose="02020603050405020304" pitchFamily="18" charset="0"/>
              </a:rPr>
              <a:t>15-18 ; 10/20</a:t>
            </a:r>
          </a:p>
          <a:p>
            <a:pPr>
              <a:lnSpc>
                <a:spcPct val="100000"/>
              </a:lnSpc>
              <a:spcBef>
                <a:spcPts val="0"/>
              </a:spcBef>
            </a:pPr>
            <a:r>
              <a:rPr lang="en-US" sz="1900" dirty="0">
                <a:latin typeface="Times New Roman" panose="02020603050405020304" pitchFamily="18" charset="0"/>
                <a:ea typeface="SimSun" panose="02010600030101010101" pitchFamily="2" charset="-122"/>
                <a:cs typeface="Times New Roman" panose="02020603050405020304" pitchFamily="18" charset="0"/>
              </a:rPr>
              <a:t>Pre-critical force contractions: Subjects performed 3, maximal, handgrip contractions for 1 second each, separated by 1 minute each.</a:t>
            </a:r>
          </a:p>
          <a:p>
            <a:pPr>
              <a:lnSpc>
                <a:spcPct val="100000"/>
              </a:lnSpc>
              <a:spcBef>
                <a:spcPts val="0"/>
              </a:spcBef>
            </a:pPr>
            <a:r>
              <a:rPr lang="en-US" sz="1900" dirty="0">
                <a:latin typeface="Times New Roman" panose="02020603050405020304" pitchFamily="18" charset="0"/>
                <a:ea typeface="SimSun" panose="02010600030101010101" pitchFamily="2" charset="-122"/>
                <a:cs typeface="Times New Roman" panose="02020603050405020304" pitchFamily="18" charset="0"/>
              </a:rPr>
              <a:t>Critical force test: A 10-minute, maximal effort forearm-critical force test was performed following completion of the pre-critical force stage (Kellawan &amp; </a:t>
            </a:r>
            <a:r>
              <a:rPr lang="en-US" sz="1900" dirty="0" err="1">
                <a:latin typeface="Times New Roman" panose="02020603050405020304" pitchFamily="18" charset="0"/>
                <a:ea typeface="SimSun" panose="02010600030101010101" pitchFamily="2" charset="-122"/>
                <a:cs typeface="Times New Roman" panose="02020603050405020304" pitchFamily="18" charset="0"/>
              </a:rPr>
              <a:t>Tschakovsky</a:t>
            </a:r>
            <a:r>
              <a:rPr lang="en-US" sz="1900" dirty="0">
                <a:latin typeface="Times New Roman" panose="02020603050405020304" pitchFamily="18" charset="0"/>
                <a:ea typeface="SimSun" panose="02010600030101010101" pitchFamily="2" charset="-122"/>
                <a:cs typeface="Times New Roman" panose="02020603050405020304" pitchFamily="18" charset="0"/>
              </a:rPr>
              <a:t>, 2014).</a:t>
            </a:r>
          </a:p>
          <a:p>
            <a:pPr lvl="1">
              <a:lnSpc>
                <a:spcPct val="100000"/>
              </a:lnSpc>
              <a:spcBef>
                <a:spcPts val="0"/>
              </a:spcBef>
            </a:pPr>
            <a:r>
              <a:rPr lang="en-US" sz="1500" dirty="0">
                <a:latin typeface="Times New Roman" panose="02020603050405020304" pitchFamily="18" charset="0"/>
                <a:ea typeface="SimSun" panose="02010600030101010101" pitchFamily="2" charset="-122"/>
                <a:cs typeface="Times New Roman" panose="02020603050405020304" pitchFamily="18" charset="0"/>
              </a:rPr>
              <a:t>Subjects performed 200 MVCs at a rate of 1 second contraction, 2 second rest (totaling 10 minutes).</a:t>
            </a:r>
          </a:p>
          <a:p>
            <a:pPr>
              <a:lnSpc>
                <a:spcPct val="100000"/>
              </a:lnSpc>
              <a:spcBef>
                <a:spcPts val="0"/>
              </a:spcBef>
              <a:spcAft>
                <a:spcPts val="800"/>
              </a:spcAft>
              <a:tabLst>
                <a:tab pos="457200" algn="l"/>
              </a:tabLst>
            </a:pPr>
            <a:endParaRPr lang="en-US" sz="2400" dirty="0">
              <a:effectLst/>
              <a:latin typeface="Times New Roman" panose="02020603050405020304" pitchFamily="18" charset="0"/>
              <a:ea typeface="SimSun" panose="02010600030101010101" pitchFamily="2" charset="-122"/>
              <a:cs typeface="Arial" panose="020B0604020202020204" pitchFamily="34" charset="0"/>
            </a:endParaRPr>
          </a:p>
          <a:p>
            <a:pPr marL="0" marR="0" lvl="0" indent="0">
              <a:lnSpc>
                <a:spcPct val="200000"/>
              </a:lnSpc>
              <a:spcBef>
                <a:spcPts val="0"/>
              </a:spcBef>
              <a:spcAft>
                <a:spcPts val="800"/>
              </a:spcAft>
              <a:buNone/>
            </a:pP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Rectangle 3">
            <a:extLst>
              <a:ext uri="{FF2B5EF4-FFF2-40B4-BE49-F238E27FC236}">
                <a16:creationId xmlns:a16="http://schemas.microsoft.com/office/drawing/2014/main" id="{BB306AFD-D26A-8C41-9672-DD0D92B2EA34}"/>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4" name="Straight Connector 13">
            <a:extLst>
              <a:ext uri="{FF2B5EF4-FFF2-40B4-BE49-F238E27FC236}">
                <a16:creationId xmlns:a16="http://schemas.microsoft.com/office/drawing/2014/main" id="{826BB147-96D4-161C-96FA-F02C245514D3}"/>
              </a:ext>
            </a:extLst>
          </p:cNvPr>
          <p:cNvCxnSpPr/>
          <p:nvPr/>
        </p:nvCxnSpPr>
        <p:spPr>
          <a:xfrm>
            <a:off x="11001375" y="5486400"/>
            <a:ext cx="23689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30931A9-A609-4285-C931-125E8B4E1C95}"/>
              </a:ext>
            </a:extLst>
          </p:cNvPr>
          <p:cNvCxnSpPr/>
          <p:nvPr/>
        </p:nvCxnSpPr>
        <p:spPr>
          <a:xfrm>
            <a:off x="11238271" y="5486400"/>
            <a:ext cx="0" cy="45836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C775AC0-A36B-67C7-D73F-17B04EF6D54C}"/>
              </a:ext>
            </a:extLst>
          </p:cNvPr>
          <p:cNvCxnSpPr/>
          <p:nvPr/>
        </p:nvCxnSpPr>
        <p:spPr>
          <a:xfrm flipH="1">
            <a:off x="838200" y="5944769"/>
            <a:ext cx="104000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B0C6874-725F-D813-BC27-E216F877014A}"/>
              </a:ext>
            </a:extLst>
          </p:cNvPr>
          <p:cNvCxnSpPr/>
          <p:nvPr/>
        </p:nvCxnSpPr>
        <p:spPr>
          <a:xfrm>
            <a:off x="838200" y="5944769"/>
            <a:ext cx="0" cy="36049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6AE7296-3430-9DC0-AC7F-8F13A69324F5}"/>
              </a:ext>
            </a:extLst>
          </p:cNvPr>
          <p:cNvCxnSpPr/>
          <p:nvPr/>
        </p:nvCxnSpPr>
        <p:spPr>
          <a:xfrm>
            <a:off x="838200" y="6305266"/>
            <a:ext cx="317912"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23" name="Table 22">
            <a:extLst>
              <a:ext uri="{FF2B5EF4-FFF2-40B4-BE49-F238E27FC236}">
                <a16:creationId xmlns:a16="http://schemas.microsoft.com/office/drawing/2014/main" id="{ED21A4C8-3D16-7D5C-C155-B0C4433B6FCA}"/>
              </a:ext>
            </a:extLst>
          </p:cNvPr>
          <p:cNvGraphicFramePr>
            <a:graphicFrameLocks noGrp="1"/>
          </p:cNvGraphicFramePr>
          <p:nvPr/>
        </p:nvGraphicFramePr>
        <p:xfrm>
          <a:off x="244862" y="5234075"/>
          <a:ext cx="10756512" cy="518160"/>
        </p:xfrm>
        <a:graphic>
          <a:graphicData uri="http://schemas.openxmlformats.org/drawingml/2006/table">
            <a:tbl>
              <a:tblPr firstRow="1" bandRow="1">
                <a:tableStyleId>{5C22544A-7EE6-4342-B048-85BDC9FD1C3A}</a:tableStyleId>
              </a:tblPr>
              <a:tblGrid>
                <a:gridCol w="1613008">
                  <a:extLst>
                    <a:ext uri="{9D8B030D-6E8A-4147-A177-3AD203B41FA5}">
                      <a16:colId xmlns:a16="http://schemas.microsoft.com/office/drawing/2014/main" val="1468026232"/>
                    </a:ext>
                  </a:extLst>
                </a:gridCol>
                <a:gridCol w="753979">
                  <a:extLst>
                    <a:ext uri="{9D8B030D-6E8A-4147-A177-3AD203B41FA5}">
                      <a16:colId xmlns:a16="http://schemas.microsoft.com/office/drawing/2014/main" val="435943970"/>
                    </a:ext>
                  </a:extLst>
                </a:gridCol>
                <a:gridCol w="2229852">
                  <a:extLst>
                    <a:ext uri="{9D8B030D-6E8A-4147-A177-3AD203B41FA5}">
                      <a16:colId xmlns:a16="http://schemas.microsoft.com/office/drawing/2014/main" val="3627666893"/>
                    </a:ext>
                  </a:extLst>
                </a:gridCol>
                <a:gridCol w="1058779">
                  <a:extLst>
                    <a:ext uri="{9D8B030D-6E8A-4147-A177-3AD203B41FA5}">
                      <a16:colId xmlns:a16="http://schemas.microsoft.com/office/drawing/2014/main" val="2234748561"/>
                    </a:ext>
                  </a:extLst>
                </a:gridCol>
                <a:gridCol w="2951748">
                  <a:extLst>
                    <a:ext uri="{9D8B030D-6E8A-4147-A177-3AD203B41FA5}">
                      <a16:colId xmlns:a16="http://schemas.microsoft.com/office/drawing/2014/main" val="4068673698"/>
                    </a:ext>
                  </a:extLst>
                </a:gridCol>
                <a:gridCol w="2149146">
                  <a:extLst>
                    <a:ext uri="{9D8B030D-6E8A-4147-A177-3AD203B41FA5}">
                      <a16:colId xmlns:a16="http://schemas.microsoft.com/office/drawing/2014/main" val="2738979434"/>
                    </a:ext>
                  </a:extLst>
                </a:gridCol>
              </a:tblGrid>
              <a:tr h="370840">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Instrumentation</a:t>
                      </a:r>
                    </a:p>
                    <a:p>
                      <a:pPr algn="ctr"/>
                      <a:r>
                        <a:rPr lang="en-US" sz="1400" b="0" dirty="0">
                          <a:solidFill>
                            <a:schemeClr val="tx1"/>
                          </a:solidFill>
                          <a:latin typeface="Times New Roman" panose="02020603050405020304" pitchFamily="18" charset="0"/>
                          <a:cs typeface="Times New Roman" panose="02020603050405020304" pitchFamily="18" charset="0"/>
                        </a:rPr>
                        <a:t>20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Rest</a:t>
                      </a:r>
                    </a:p>
                    <a:p>
                      <a:pPr algn="ctr"/>
                      <a:r>
                        <a:rPr lang="en-US" sz="1400" b="0" dirty="0">
                          <a:solidFill>
                            <a:schemeClr val="tx1"/>
                          </a:solidFill>
                          <a:latin typeface="Times New Roman" panose="02020603050405020304" pitchFamily="18" charset="0"/>
                          <a:cs typeface="Times New Roman" panose="02020603050405020304" pitchFamily="18" charset="0"/>
                        </a:rPr>
                        <a:t>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Randomized Stimuli Trial 1</a:t>
                      </a:r>
                    </a:p>
                    <a:p>
                      <a:pPr algn="ctr"/>
                      <a:r>
                        <a:rPr lang="en-US" sz="1400" b="0" dirty="0">
                          <a:solidFill>
                            <a:schemeClr val="tx1"/>
                          </a:solidFill>
                          <a:latin typeface="Times New Roman" panose="02020603050405020304" pitchFamily="18" charset="0"/>
                          <a:cs typeface="Times New Roman" panose="02020603050405020304" pitchFamily="18" charset="0"/>
                        </a:rPr>
                        <a:t>20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Rest</a:t>
                      </a:r>
                    </a:p>
                    <a:p>
                      <a:pPr algn="ctr"/>
                      <a:r>
                        <a:rPr lang="en-US" sz="1400" b="0" dirty="0">
                          <a:solidFill>
                            <a:schemeClr val="tx1"/>
                          </a:solidFill>
                          <a:latin typeface="Times New Roman" panose="02020603050405020304" pitchFamily="18" charset="0"/>
                          <a:cs typeface="Times New Roman" panose="02020603050405020304" pitchFamily="18" charset="0"/>
                        </a:rPr>
                        <a:t>~2-3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Randomized Stimuli Trial 2</a:t>
                      </a:r>
                    </a:p>
                    <a:p>
                      <a:pPr algn="ctr"/>
                      <a:r>
                        <a:rPr lang="en-US" sz="1400" b="0" dirty="0">
                          <a:solidFill>
                            <a:schemeClr val="tx1"/>
                          </a:solidFill>
                          <a:latin typeface="Times New Roman" panose="02020603050405020304" pitchFamily="18" charset="0"/>
                          <a:cs typeface="Times New Roman" panose="02020603050405020304" pitchFamily="18" charset="0"/>
                        </a:rPr>
                        <a:t>20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Re-Instrumentation</a:t>
                      </a:r>
                    </a:p>
                    <a:p>
                      <a:pPr algn="ctr"/>
                      <a:r>
                        <a:rPr lang="en-US" sz="1400" b="0" dirty="0">
                          <a:solidFill>
                            <a:schemeClr val="tx1"/>
                          </a:solidFill>
                          <a:latin typeface="Times New Roman" panose="02020603050405020304" pitchFamily="18" charset="0"/>
                          <a:cs typeface="Times New Roman" panose="02020603050405020304" pitchFamily="18" charset="0"/>
                        </a:rPr>
                        <a:t>~10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1500440"/>
                  </a:ext>
                </a:extLst>
              </a:tr>
            </a:tbl>
          </a:graphicData>
        </a:graphic>
      </p:graphicFrame>
      <p:graphicFrame>
        <p:nvGraphicFramePr>
          <p:cNvPr id="24" name="Table 23">
            <a:extLst>
              <a:ext uri="{FF2B5EF4-FFF2-40B4-BE49-F238E27FC236}">
                <a16:creationId xmlns:a16="http://schemas.microsoft.com/office/drawing/2014/main" id="{3512FCAA-2066-9D6C-E2AC-1AB68F8D2B3B}"/>
              </a:ext>
            </a:extLst>
          </p:cNvPr>
          <p:cNvGraphicFramePr>
            <a:graphicFrameLocks noGrp="1"/>
          </p:cNvGraphicFramePr>
          <p:nvPr/>
        </p:nvGraphicFramePr>
        <p:xfrm>
          <a:off x="1156112" y="6090875"/>
          <a:ext cx="10734083" cy="518160"/>
        </p:xfrm>
        <a:graphic>
          <a:graphicData uri="http://schemas.openxmlformats.org/drawingml/2006/table">
            <a:tbl>
              <a:tblPr firstRow="1" bandRow="1">
                <a:tableStyleId>{5C22544A-7EE6-4342-B048-85BDC9FD1C3A}</a:tableStyleId>
              </a:tblPr>
              <a:tblGrid>
                <a:gridCol w="961446">
                  <a:extLst>
                    <a:ext uri="{9D8B030D-6E8A-4147-A177-3AD203B41FA5}">
                      <a16:colId xmlns:a16="http://schemas.microsoft.com/office/drawing/2014/main" val="1468026232"/>
                    </a:ext>
                  </a:extLst>
                </a:gridCol>
                <a:gridCol w="2342147">
                  <a:extLst>
                    <a:ext uri="{9D8B030D-6E8A-4147-A177-3AD203B41FA5}">
                      <a16:colId xmlns:a16="http://schemas.microsoft.com/office/drawing/2014/main" val="435943970"/>
                    </a:ext>
                  </a:extLst>
                </a:gridCol>
                <a:gridCol w="1010653">
                  <a:extLst>
                    <a:ext uri="{9D8B030D-6E8A-4147-A177-3AD203B41FA5}">
                      <a16:colId xmlns:a16="http://schemas.microsoft.com/office/drawing/2014/main" val="3627666893"/>
                    </a:ext>
                  </a:extLst>
                </a:gridCol>
                <a:gridCol w="3336758">
                  <a:extLst>
                    <a:ext uri="{9D8B030D-6E8A-4147-A177-3AD203B41FA5}">
                      <a16:colId xmlns:a16="http://schemas.microsoft.com/office/drawing/2014/main" val="2234748561"/>
                    </a:ext>
                  </a:extLst>
                </a:gridCol>
                <a:gridCol w="3083079">
                  <a:extLst>
                    <a:ext uri="{9D8B030D-6E8A-4147-A177-3AD203B41FA5}">
                      <a16:colId xmlns:a16="http://schemas.microsoft.com/office/drawing/2014/main" val="4068673698"/>
                    </a:ext>
                  </a:extLst>
                </a:gridCol>
              </a:tblGrid>
              <a:tr h="370840">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Rest</a:t>
                      </a:r>
                    </a:p>
                    <a:p>
                      <a:pPr algn="ctr"/>
                      <a:r>
                        <a:rPr lang="en-US" sz="1400" b="0" dirty="0">
                          <a:solidFill>
                            <a:schemeClr val="tx1"/>
                          </a:solidFill>
                          <a:latin typeface="Times New Roman" panose="02020603050405020304" pitchFamily="18" charset="0"/>
                          <a:cs typeface="Times New Roman" panose="02020603050405020304" pitchFamily="18" charset="0"/>
                        </a:rPr>
                        <a:t>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Mitochondrial Function </a:t>
                      </a:r>
                    </a:p>
                    <a:p>
                      <a:pPr algn="ctr"/>
                      <a:r>
                        <a:rPr lang="en-US" sz="1400" b="0" dirty="0">
                          <a:solidFill>
                            <a:schemeClr val="tx1"/>
                          </a:solidFill>
                          <a:latin typeface="Times New Roman" panose="02020603050405020304" pitchFamily="18" charset="0"/>
                          <a:cs typeface="Times New Roman" panose="02020603050405020304" pitchFamily="18" charset="0"/>
                        </a:rPr>
                        <a:t>~7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Rest</a:t>
                      </a:r>
                    </a:p>
                    <a:p>
                      <a:pPr algn="ctr"/>
                      <a:r>
                        <a:rPr lang="en-US" sz="1400" b="0" dirty="0">
                          <a:solidFill>
                            <a:schemeClr val="tx1"/>
                          </a:solidFill>
                          <a:latin typeface="Times New Roman" panose="02020603050405020304" pitchFamily="18" charset="0"/>
                          <a:cs typeface="Times New Roman" panose="02020603050405020304" pitchFamily="18" charset="0"/>
                        </a:rPr>
                        <a:t>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Pre-Critical Force Contractions</a:t>
                      </a:r>
                    </a:p>
                    <a:p>
                      <a:pPr algn="ctr"/>
                      <a:r>
                        <a:rPr lang="en-US" sz="1400" b="0" dirty="0">
                          <a:solidFill>
                            <a:schemeClr val="tx1"/>
                          </a:solidFill>
                          <a:latin typeface="Times New Roman" panose="02020603050405020304" pitchFamily="18" charset="0"/>
                          <a:cs typeface="Times New Roman" panose="02020603050405020304" pitchFamily="18" charset="0"/>
                        </a:rPr>
                        <a:t>3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Critical Force Test</a:t>
                      </a:r>
                    </a:p>
                    <a:p>
                      <a:pPr algn="ctr"/>
                      <a:r>
                        <a:rPr lang="en-US" sz="1400" b="0" dirty="0">
                          <a:solidFill>
                            <a:schemeClr val="tx1"/>
                          </a:solidFill>
                          <a:latin typeface="Times New Roman" panose="02020603050405020304" pitchFamily="18" charset="0"/>
                          <a:cs typeface="Times New Roman" panose="02020603050405020304" pitchFamily="18" charset="0"/>
                        </a:rPr>
                        <a:t>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1500440"/>
                  </a:ext>
                </a:extLst>
              </a:tr>
            </a:tbl>
          </a:graphicData>
        </a:graphic>
      </p:graphicFrame>
      <p:sp>
        <p:nvSpPr>
          <p:cNvPr id="5" name="Rectangle 4">
            <a:extLst>
              <a:ext uri="{FF2B5EF4-FFF2-40B4-BE49-F238E27FC236}">
                <a16:creationId xmlns:a16="http://schemas.microsoft.com/office/drawing/2014/main" id="{F128BBC1-B47D-E928-4255-4A982883B724}"/>
              </a:ext>
            </a:extLst>
          </p:cNvPr>
          <p:cNvSpPr/>
          <p:nvPr/>
        </p:nvSpPr>
        <p:spPr>
          <a:xfrm>
            <a:off x="997156" y="6005053"/>
            <a:ext cx="11000555" cy="692256"/>
          </a:xfrm>
          <a:prstGeom prst="rect">
            <a:avLst/>
          </a:prstGeom>
          <a:no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8769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DCC53-975B-FD18-FFA7-7002E98B7B59}"/>
              </a:ext>
            </a:extLst>
          </p:cNvPr>
          <p:cNvSpPr>
            <a:spLocks noGrp="1"/>
          </p:cNvSpPr>
          <p:nvPr>
            <p:ph type="title"/>
          </p:nvPr>
        </p:nvSpPr>
        <p:spPr>
          <a:xfrm>
            <a:off x="838200" y="84445"/>
            <a:ext cx="10515600" cy="1325563"/>
          </a:xfrm>
        </p:spPr>
        <p:txBody>
          <a:bodyPr>
            <a:normAutofit/>
          </a:bodyPr>
          <a:lstStyle/>
          <a:p>
            <a:r>
              <a:rPr lang="en-US" sz="4100" dirty="0">
                <a:latin typeface="Times New Roman" panose="02020603050405020304" pitchFamily="18" charset="0"/>
                <a:cs typeface="Times New Roman" panose="02020603050405020304" pitchFamily="18" charset="0"/>
              </a:rPr>
              <a:t>Measurement and Processing - ROV</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B06D9F-098F-4F7E-D5F1-904453333EE8}"/>
                  </a:ext>
                </a:extLst>
              </p:cNvPr>
              <p:cNvSpPr>
                <a:spLocks noGrp="1"/>
              </p:cNvSpPr>
              <p:nvPr>
                <p:ph idx="1"/>
              </p:nvPr>
            </p:nvSpPr>
            <p:spPr>
              <a:xfrm>
                <a:off x="472440" y="1148627"/>
                <a:ext cx="9489707" cy="1867989"/>
              </a:xfrm>
            </p:spPr>
            <p:txBody>
              <a:bodyPr>
                <a:normAutofit/>
              </a:bodyPr>
              <a:lstStyle/>
              <a:p>
                <a:pPr>
                  <a:lnSpc>
                    <a:spcPts val="3400"/>
                  </a:lnSpc>
                  <a:spcBef>
                    <a:spcPts val="0"/>
                  </a:spcBef>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Extracted brachial artery diameter and blood flow velocity per cardiac cycle (heart beat).</a:t>
                </a:r>
              </a:p>
              <a:p>
                <a:pPr lvl="1">
                  <a:lnSpc>
                    <a:spcPts val="34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Forearm Blood Flow (ml/min) = 60 (s/min)*Blood Velocity (cm/s)*</a:t>
                </a:r>
                <a14:m>
                  <m:oMath xmlns:m="http://schemas.openxmlformats.org/officeDocument/2006/math">
                    <m:r>
                      <a:rPr lang="en-US" sz="1600" i="1">
                        <a:latin typeface="Cambria Math" panose="02040503050406030204" pitchFamily="18" charset="0"/>
                        <a:ea typeface="SimSun" panose="02010600030101010101" pitchFamily="2" charset="-122"/>
                        <a:cs typeface="Arial" panose="020B0604020202020204" pitchFamily="34" charset="0"/>
                      </a:rPr>
                      <m:t>𝜋</m:t>
                    </m:r>
                  </m:oMath>
                </a14:m>
                <a:r>
                  <a:rPr lang="en-US" sz="1600" dirty="0">
                    <a:latin typeface="Times New Roman" panose="02020603050405020304" pitchFamily="18" charset="0"/>
                    <a:ea typeface="SimSun" panose="02010600030101010101" pitchFamily="2" charset="-122"/>
                    <a:cs typeface="Times New Roman" panose="02020603050405020304" pitchFamily="18" charset="0"/>
                  </a:rPr>
                  <a:t>*[</a:t>
                </a:r>
                <a14:m>
                  <m:oMath xmlns:m="http://schemas.openxmlformats.org/officeDocument/2006/math">
                    <m:f>
                      <m:fPr>
                        <m:ctrlPr>
                          <a:rPr lang="en-US" sz="1600" i="1">
                            <a:latin typeface="Cambria Math" panose="02040503050406030204" pitchFamily="18" charset="0"/>
                            <a:ea typeface="SimSun" panose="02010600030101010101" pitchFamily="2" charset="-122"/>
                            <a:cs typeface="Arial" panose="020B0604020202020204" pitchFamily="34" charset="0"/>
                          </a:rPr>
                        </m:ctrlPr>
                      </m:fPr>
                      <m:num>
                        <m:r>
                          <a:rPr lang="en-US" sz="1600" i="1">
                            <a:latin typeface="Cambria Math" panose="02040503050406030204" pitchFamily="18" charset="0"/>
                            <a:ea typeface="SimSun" panose="02010600030101010101" pitchFamily="2" charset="-122"/>
                            <a:cs typeface="Arial" panose="020B0604020202020204" pitchFamily="34" charset="0"/>
                          </a:rPr>
                          <m:t>𝐵𝑟𝑎𝑐h𝑖𝑎𝑙</m:t>
                        </m:r>
                        <m:r>
                          <a:rPr lang="en-US" sz="1600" i="1">
                            <a:latin typeface="Cambria Math" panose="02040503050406030204" pitchFamily="18" charset="0"/>
                            <a:ea typeface="SimSun" panose="02010600030101010101" pitchFamily="2" charset="-122"/>
                            <a:cs typeface="Arial" panose="020B0604020202020204" pitchFamily="34" charset="0"/>
                          </a:rPr>
                          <m:t> </m:t>
                        </m:r>
                        <m:r>
                          <a:rPr lang="en-US" sz="1600" i="1">
                            <a:latin typeface="Cambria Math" panose="02040503050406030204" pitchFamily="18" charset="0"/>
                            <a:ea typeface="SimSun" panose="02010600030101010101" pitchFamily="2" charset="-122"/>
                            <a:cs typeface="Arial" panose="020B0604020202020204" pitchFamily="34" charset="0"/>
                          </a:rPr>
                          <m:t>𝐴𝑟𝑡𝑒𝑟𝑦</m:t>
                        </m:r>
                        <m:r>
                          <a:rPr lang="en-US" sz="1600" i="1">
                            <a:latin typeface="Cambria Math" panose="02040503050406030204" pitchFamily="18" charset="0"/>
                            <a:ea typeface="SimSun" panose="02010600030101010101" pitchFamily="2" charset="-122"/>
                            <a:cs typeface="Arial" panose="020B0604020202020204" pitchFamily="34" charset="0"/>
                          </a:rPr>
                          <m:t> </m:t>
                        </m:r>
                        <m:r>
                          <a:rPr lang="en-US" sz="1600" i="1">
                            <a:latin typeface="Cambria Math" panose="02040503050406030204" pitchFamily="18" charset="0"/>
                            <a:ea typeface="SimSun" panose="02010600030101010101" pitchFamily="2" charset="-122"/>
                            <a:cs typeface="Arial" panose="020B0604020202020204" pitchFamily="34" charset="0"/>
                          </a:rPr>
                          <m:t>𝐷𝑖𝑎𝑚𝑒𝑡𝑒𝑟</m:t>
                        </m:r>
                        <m:r>
                          <a:rPr lang="en-US" sz="1600" i="1">
                            <a:latin typeface="Cambria Math" panose="02040503050406030204" pitchFamily="18" charset="0"/>
                            <a:ea typeface="SimSun" panose="02010600030101010101" pitchFamily="2" charset="-122"/>
                            <a:cs typeface="Arial" panose="020B0604020202020204" pitchFamily="34" charset="0"/>
                          </a:rPr>
                          <m:t> (</m:t>
                        </m:r>
                        <m:r>
                          <a:rPr lang="en-US" sz="1600" i="1">
                            <a:latin typeface="Cambria Math" panose="02040503050406030204" pitchFamily="18" charset="0"/>
                            <a:ea typeface="SimSun" panose="02010600030101010101" pitchFamily="2" charset="-122"/>
                            <a:cs typeface="Arial" panose="020B0604020202020204" pitchFamily="34" charset="0"/>
                          </a:rPr>
                          <m:t>𝑐𝑚</m:t>
                        </m:r>
                        <m:r>
                          <a:rPr lang="en-US" sz="1600" i="1">
                            <a:latin typeface="Cambria Math" panose="02040503050406030204" pitchFamily="18" charset="0"/>
                            <a:ea typeface="SimSun" panose="02010600030101010101" pitchFamily="2" charset="-122"/>
                            <a:cs typeface="Arial" panose="020B0604020202020204" pitchFamily="34" charset="0"/>
                          </a:rPr>
                          <m:t>)</m:t>
                        </m:r>
                      </m:num>
                      <m:den>
                        <m:r>
                          <a:rPr lang="en-US" sz="1600" i="1">
                            <a:latin typeface="Cambria Math" panose="02040503050406030204" pitchFamily="18" charset="0"/>
                            <a:ea typeface="SimSun" panose="02010600030101010101" pitchFamily="2" charset="-122"/>
                            <a:cs typeface="Arial" panose="020B0604020202020204" pitchFamily="34" charset="0"/>
                          </a:rPr>
                          <m:t>2</m:t>
                        </m:r>
                      </m:den>
                    </m:f>
                  </m:oMath>
                </a14:m>
                <a:r>
                  <a:rPr lang="en-US" sz="1600" dirty="0">
                    <a:latin typeface="Times New Roman" panose="02020603050405020304" pitchFamily="18" charset="0"/>
                    <a:ea typeface="SimSun" panose="02010600030101010101" pitchFamily="2" charset="-122"/>
                    <a:cs typeface="Times New Roman" panose="02020603050405020304" pitchFamily="18" charset="0"/>
                  </a:rPr>
                  <a:t>]</a:t>
                </a:r>
                <a:r>
                  <a:rPr lang="en-US" sz="1600" baseline="30000" dirty="0">
                    <a:latin typeface="Times New Roman" panose="02020603050405020304" pitchFamily="18" charset="0"/>
                    <a:ea typeface="SimSun" panose="02010600030101010101" pitchFamily="2" charset="-122"/>
                    <a:cs typeface="Times New Roman" panose="02020603050405020304" pitchFamily="18" charset="0"/>
                  </a:rPr>
                  <a:t>2</a:t>
                </a:r>
              </a:p>
              <a:p>
                <a:pPr lvl="1">
                  <a:lnSpc>
                    <a:spcPts val="34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Forearm Vascular Conductance (FVC) (ml/min/100mmHg) = [</a:t>
                </a:r>
                <a14:m>
                  <m:oMath xmlns:m="http://schemas.openxmlformats.org/officeDocument/2006/math">
                    <m:f>
                      <m:fPr>
                        <m:ctrlPr>
                          <a:rPr lang="en-US" sz="1600" i="1">
                            <a:latin typeface="Cambria Math" panose="02040503050406030204" pitchFamily="18" charset="0"/>
                            <a:ea typeface="SimSun" panose="02010600030101010101" pitchFamily="2" charset="-122"/>
                            <a:cs typeface="Arial" panose="020B0604020202020204" pitchFamily="34" charset="0"/>
                          </a:rPr>
                        </m:ctrlPr>
                      </m:fPr>
                      <m:num>
                        <m:r>
                          <a:rPr lang="en-US" sz="1600" i="1">
                            <a:latin typeface="Cambria Math" panose="02040503050406030204" pitchFamily="18" charset="0"/>
                            <a:ea typeface="SimSun" panose="02010600030101010101" pitchFamily="2" charset="-122"/>
                            <a:cs typeface="Arial" panose="020B0604020202020204" pitchFamily="34" charset="0"/>
                          </a:rPr>
                          <m:t>𝐹𝑜𝑟𝑒𝑎𝑟𝑚</m:t>
                        </m:r>
                        <m:r>
                          <a:rPr lang="en-US" sz="1600" i="1">
                            <a:latin typeface="Cambria Math" panose="02040503050406030204" pitchFamily="18" charset="0"/>
                            <a:ea typeface="SimSun" panose="02010600030101010101" pitchFamily="2" charset="-122"/>
                            <a:cs typeface="Arial" panose="020B0604020202020204" pitchFamily="34" charset="0"/>
                          </a:rPr>
                          <m:t> </m:t>
                        </m:r>
                        <m:r>
                          <a:rPr lang="en-US" sz="1600" i="1">
                            <a:latin typeface="Cambria Math" panose="02040503050406030204" pitchFamily="18" charset="0"/>
                            <a:ea typeface="SimSun" panose="02010600030101010101" pitchFamily="2" charset="-122"/>
                            <a:cs typeface="Arial" panose="020B0604020202020204" pitchFamily="34" charset="0"/>
                          </a:rPr>
                          <m:t>𝐵𝑙𝑜𝑜𝑑</m:t>
                        </m:r>
                        <m:r>
                          <a:rPr lang="en-US" sz="1600" i="1">
                            <a:latin typeface="Cambria Math" panose="02040503050406030204" pitchFamily="18" charset="0"/>
                            <a:ea typeface="SimSun" panose="02010600030101010101" pitchFamily="2" charset="-122"/>
                            <a:cs typeface="Arial" panose="020B0604020202020204" pitchFamily="34" charset="0"/>
                          </a:rPr>
                          <m:t> </m:t>
                        </m:r>
                        <m:r>
                          <a:rPr lang="en-US" sz="1600" i="1">
                            <a:latin typeface="Cambria Math" panose="02040503050406030204" pitchFamily="18" charset="0"/>
                            <a:ea typeface="SimSun" panose="02010600030101010101" pitchFamily="2" charset="-122"/>
                            <a:cs typeface="Arial" panose="020B0604020202020204" pitchFamily="34" charset="0"/>
                          </a:rPr>
                          <m:t>𝐹𝑙𝑜𝑤</m:t>
                        </m:r>
                        <m:r>
                          <a:rPr lang="en-US" sz="1600" i="1">
                            <a:latin typeface="Cambria Math" panose="02040503050406030204" pitchFamily="18" charset="0"/>
                            <a:ea typeface="SimSun" panose="02010600030101010101" pitchFamily="2" charset="-122"/>
                            <a:cs typeface="Arial" panose="020B0604020202020204" pitchFamily="34" charset="0"/>
                          </a:rPr>
                          <m:t> (</m:t>
                        </m:r>
                        <m:r>
                          <a:rPr lang="en-US" sz="1600" i="1">
                            <a:latin typeface="Cambria Math" panose="02040503050406030204" pitchFamily="18" charset="0"/>
                            <a:ea typeface="SimSun" panose="02010600030101010101" pitchFamily="2" charset="-122"/>
                            <a:cs typeface="Arial" panose="020B0604020202020204" pitchFamily="34" charset="0"/>
                          </a:rPr>
                          <m:t>𝑚𝑙</m:t>
                        </m:r>
                        <m:r>
                          <a:rPr lang="en-US" sz="1600" i="1">
                            <a:latin typeface="Cambria Math" panose="02040503050406030204" pitchFamily="18" charset="0"/>
                            <a:ea typeface="SimSun" panose="02010600030101010101" pitchFamily="2" charset="-122"/>
                            <a:cs typeface="Arial" panose="020B0604020202020204" pitchFamily="34" charset="0"/>
                          </a:rPr>
                          <m:t>/</m:t>
                        </m:r>
                        <m:r>
                          <a:rPr lang="en-US" sz="1600" i="1">
                            <a:latin typeface="Cambria Math" panose="02040503050406030204" pitchFamily="18" charset="0"/>
                            <a:ea typeface="SimSun" panose="02010600030101010101" pitchFamily="2" charset="-122"/>
                            <a:cs typeface="Arial" panose="020B0604020202020204" pitchFamily="34" charset="0"/>
                          </a:rPr>
                          <m:t>𝑚𝑖𝑛</m:t>
                        </m:r>
                        <m:r>
                          <a:rPr lang="en-US" sz="1600" i="1">
                            <a:latin typeface="Cambria Math" panose="02040503050406030204" pitchFamily="18" charset="0"/>
                            <a:ea typeface="SimSun" panose="02010600030101010101" pitchFamily="2" charset="-122"/>
                            <a:cs typeface="Arial" panose="020B0604020202020204" pitchFamily="34" charset="0"/>
                          </a:rPr>
                          <m:t>)</m:t>
                        </m:r>
                      </m:num>
                      <m:den>
                        <m:r>
                          <a:rPr lang="en-US" sz="1600" i="1">
                            <a:latin typeface="Cambria Math" panose="02040503050406030204" pitchFamily="18" charset="0"/>
                            <a:ea typeface="SimSun" panose="02010600030101010101" pitchFamily="2" charset="-122"/>
                            <a:cs typeface="Arial" panose="020B0604020202020204" pitchFamily="34" charset="0"/>
                          </a:rPr>
                          <m:t>𝑀𝐴𝑃</m:t>
                        </m:r>
                        <m:r>
                          <a:rPr lang="en-US" sz="1600" i="1">
                            <a:latin typeface="Cambria Math" panose="02040503050406030204" pitchFamily="18" charset="0"/>
                            <a:ea typeface="SimSun" panose="02010600030101010101" pitchFamily="2" charset="-122"/>
                            <a:cs typeface="Arial" panose="020B0604020202020204" pitchFamily="34" charset="0"/>
                          </a:rPr>
                          <m:t> (</m:t>
                        </m:r>
                        <m:r>
                          <a:rPr lang="en-US" sz="1600" i="1">
                            <a:latin typeface="Cambria Math" panose="02040503050406030204" pitchFamily="18" charset="0"/>
                            <a:ea typeface="SimSun" panose="02010600030101010101" pitchFamily="2" charset="-122"/>
                            <a:cs typeface="Arial" panose="020B0604020202020204" pitchFamily="34" charset="0"/>
                          </a:rPr>
                          <m:t>𝑚𝑚𝐻𝑔</m:t>
                        </m:r>
                        <m:r>
                          <a:rPr lang="en-US" sz="1600" i="1">
                            <a:latin typeface="Cambria Math" panose="02040503050406030204" pitchFamily="18" charset="0"/>
                            <a:ea typeface="SimSun" panose="02010600030101010101" pitchFamily="2" charset="-122"/>
                            <a:cs typeface="Arial" panose="020B0604020202020204" pitchFamily="34" charset="0"/>
                          </a:rPr>
                          <m:t>)</m:t>
                        </m:r>
                      </m:den>
                    </m:f>
                  </m:oMath>
                </a14:m>
                <a:r>
                  <a:rPr lang="en-US" sz="1600" dirty="0">
                    <a:latin typeface="Times New Roman" panose="02020603050405020304" pitchFamily="18" charset="0"/>
                    <a:ea typeface="SimSun" panose="02010600030101010101" pitchFamily="2" charset="-122"/>
                    <a:cs typeface="Times New Roman" panose="02020603050405020304" pitchFamily="18" charset="0"/>
                  </a:rPr>
                  <a:t>]*100</a:t>
                </a:r>
              </a:p>
              <a:p>
                <a:pPr lvl="1">
                  <a:lnSpc>
                    <a:spcPts val="34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FVC was calculated beat-to-beat, as an average.</a:t>
                </a:r>
              </a:p>
            </p:txBody>
          </p:sp>
        </mc:Choice>
        <mc:Fallback xmlns="">
          <p:sp>
            <p:nvSpPr>
              <p:cNvPr id="3" name="Content Placeholder 2">
                <a:extLst>
                  <a:ext uri="{FF2B5EF4-FFF2-40B4-BE49-F238E27FC236}">
                    <a16:creationId xmlns:a16="http://schemas.microsoft.com/office/drawing/2014/main" id="{AFB06D9F-098F-4F7E-D5F1-904453333EE8}"/>
                  </a:ext>
                </a:extLst>
              </p:cNvPr>
              <p:cNvSpPr>
                <a:spLocks noGrp="1" noRot="1" noChangeAspect="1" noMove="1" noResize="1" noEditPoints="1" noAdjustHandles="1" noChangeArrowheads="1" noChangeShapeType="1" noTextEdit="1"/>
              </p:cNvSpPr>
              <p:nvPr>
                <p:ph idx="1"/>
              </p:nvPr>
            </p:nvSpPr>
            <p:spPr>
              <a:xfrm>
                <a:off x="472440" y="1148627"/>
                <a:ext cx="9489707" cy="1867989"/>
              </a:xfrm>
              <a:blipFill>
                <a:blip r:embed="rId2"/>
                <a:stretch>
                  <a:fillRect l="-578"/>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79019D72-DECF-5BC1-CF73-82A7B3901E49}"/>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line graph with numbers&#10;&#10;AI-generated content may be incorrect.">
            <a:extLst>
              <a:ext uri="{FF2B5EF4-FFF2-40B4-BE49-F238E27FC236}">
                <a16:creationId xmlns:a16="http://schemas.microsoft.com/office/drawing/2014/main" id="{61BE97FC-1BCB-8F06-D9A3-EAEF24E29A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3522" y="3442661"/>
            <a:ext cx="3627839" cy="2628388"/>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6AADB3F-2E79-C202-B6D6-BD61F2C1A3CD}"/>
                  </a:ext>
                </a:extLst>
              </p:cNvPr>
              <p:cNvSpPr txBox="1"/>
              <p:nvPr/>
            </p:nvSpPr>
            <p:spPr>
              <a:xfrm rot="16200000">
                <a:off x="7111543" y="4388638"/>
                <a:ext cx="1867989" cy="246221"/>
              </a:xfrm>
              <a:prstGeom prst="rect">
                <a:avLst/>
              </a:prstGeom>
              <a:noFill/>
            </p:spPr>
            <p:txBody>
              <a:bodyPr wrap="square" rtlCol="0">
                <a:spAutoFit/>
              </a:bodyPr>
              <a:lstStyle/>
              <a:p>
                <a14:m>
                  <m:oMath xmlns:m="http://schemas.openxmlformats.org/officeDocument/2006/math">
                    <m:r>
                      <a:rPr lang="en-US" sz="1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1000" dirty="0">
                    <a:latin typeface="Times New Roman" panose="02020603050405020304" pitchFamily="18" charset="0"/>
                    <a:cs typeface="Times New Roman" panose="02020603050405020304" pitchFamily="18" charset="0"/>
                  </a:rPr>
                  <a:t>FVC (ml/min/100mmHg)</a:t>
                </a:r>
              </a:p>
            </p:txBody>
          </p:sp>
        </mc:Choice>
        <mc:Fallback xmlns="">
          <p:sp>
            <p:nvSpPr>
              <p:cNvPr id="6" name="TextBox 5">
                <a:extLst>
                  <a:ext uri="{FF2B5EF4-FFF2-40B4-BE49-F238E27FC236}">
                    <a16:creationId xmlns:a16="http://schemas.microsoft.com/office/drawing/2014/main" id="{B6AADB3F-2E79-C202-B6D6-BD61F2C1A3CD}"/>
                  </a:ext>
                </a:extLst>
              </p:cNvPr>
              <p:cNvSpPr txBox="1">
                <a:spLocks noRot="1" noChangeAspect="1" noMove="1" noResize="1" noEditPoints="1" noAdjustHandles="1" noChangeArrowheads="1" noChangeShapeType="1" noTextEdit="1"/>
              </p:cNvSpPr>
              <p:nvPr/>
            </p:nvSpPr>
            <p:spPr>
              <a:xfrm rot="16200000">
                <a:off x="7111543" y="4388638"/>
                <a:ext cx="1867989" cy="246221"/>
              </a:xfrm>
              <a:prstGeom prst="rect">
                <a:avLst/>
              </a:prstGeom>
              <a:blipFill>
                <a:blip r:embed="rId4"/>
                <a:stretch>
                  <a:fillRect r="-12500"/>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4614066-8D92-1C84-520A-66F111C3A660}"/>
              </a:ext>
            </a:extLst>
          </p:cNvPr>
          <p:cNvSpPr txBox="1"/>
          <p:nvPr/>
        </p:nvSpPr>
        <p:spPr>
          <a:xfrm>
            <a:off x="9532917" y="6017107"/>
            <a:ext cx="969983"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Cardiac Cycles</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546E786D-7E4A-404A-43B4-15A303F316CF}"/>
                  </a:ext>
                </a:extLst>
              </p:cNvPr>
              <p:cNvSpPr txBox="1">
                <a:spLocks/>
              </p:cNvSpPr>
              <p:nvPr/>
            </p:nvSpPr>
            <p:spPr>
              <a:xfrm>
                <a:off x="472440" y="3085404"/>
                <a:ext cx="7270909" cy="305481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200"/>
                  </a:lnSpc>
                  <a:spcBef>
                    <a:spcPts val="0"/>
                  </a:spcBef>
                </a:pPr>
                <a:r>
                  <a:rPr lang="en-US" sz="2300" dirty="0">
                    <a:latin typeface="Times New Roman" panose="02020603050405020304" pitchFamily="18" charset="0"/>
                    <a:ea typeface="Cambria Math" panose="02040503050406030204" pitchFamily="18" charset="0"/>
                    <a:cs typeface="Times New Roman" panose="02020603050405020304" pitchFamily="18" charset="0"/>
                  </a:rPr>
                  <a:t>∆FVC = FVC- FVCrestAVG</a:t>
                </a:r>
              </a:p>
              <a:p>
                <a:pPr lvl="1">
                  <a:lnSpc>
                    <a:spcPts val="3200"/>
                  </a:lnSpc>
                  <a:spcBef>
                    <a:spcPts val="0"/>
                  </a:spcBef>
                  <a:defRPr/>
                </a:pPr>
                <a14:m>
                  <m:oMath xmlns:m="http://schemas.openxmlformats.org/officeDocument/2006/math">
                    <m:r>
                      <a:rPr lang="en-US" sz="17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1700" dirty="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a:t>FVC reported was the average across the 2 trials for each subject.</a:t>
                </a:r>
              </a:p>
              <a:p>
                <a:pPr lvl="1">
                  <a:lnSpc>
                    <a:spcPts val="3200"/>
                  </a:lnSpc>
                  <a:spcBef>
                    <a:spcPts val="0"/>
                  </a:spcBef>
                  <a:defRPr/>
                </a:pPr>
                <a:r>
                  <a:rPr lang="en-US" sz="1700" dirty="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a:t>Processed first 30 cardiac cycles, post stimulus, averaged last 30 cardiac cycles pre stimulus.</a:t>
                </a:r>
              </a:p>
              <a:p>
                <a:pPr lvl="1">
                  <a:lnSpc>
                    <a:spcPts val="3200"/>
                  </a:lnSpc>
                  <a:spcBef>
                    <a:spcPts val="0"/>
                  </a:spcBef>
                  <a:defRPr/>
                </a:pPr>
                <a14:m>
                  <m:oMath xmlns:m="http://schemas.openxmlformats.org/officeDocument/2006/math">
                    <m:r>
                      <a:rPr lang="en-US" sz="1700" i="1" kern="100" smtClean="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FVC</a:t>
                </a:r>
                <a:r>
                  <a:rPr lang="en-US" sz="1700" kern="100" baseline="-25000" dirty="0">
                    <a:latin typeface="Times New Roman" panose="02020603050405020304" pitchFamily="18" charset="0"/>
                    <a:ea typeface="Times New Roman" panose="02020603050405020304" pitchFamily="18" charset="0"/>
                    <a:cs typeface="Times New Roman" panose="02020603050405020304" pitchFamily="18" charset="0"/>
                  </a:rPr>
                  <a:t>total</a:t>
                </a:r>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 = AUC</a:t>
                </a:r>
                <a14:m>
                  <m:oMath xmlns:m="http://schemas.openxmlformats.org/officeDocument/2006/math">
                    <m:r>
                      <a:rPr lang="en-US" sz="1700" i="1" kern="100" baseline="-2500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700" kern="100" baseline="-25000" dirty="0">
                    <a:latin typeface="Times New Roman" panose="02020603050405020304" pitchFamily="18" charset="0"/>
                    <a:ea typeface="Times New Roman" panose="02020603050405020304" pitchFamily="18" charset="0"/>
                    <a:cs typeface="Times New Roman" panose="02020603050405020304" pitchFamily="18" charset="0"/>
                  </a:rPr>
                  <a:t>FVC</a:t>
                </a:r>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 over 30 cardiac cycles immediately post stimulus.</a:t>
                </a:r>
                <a:endParaRPr lang="en-US" sz="1700" i="1" kern="100" dirty="0">
                  <a:latin typeface="Cambria Math" panose="02040503050406030204" pitchFamily="18" charset="0"/>
                  <a:ea typeface="Aptos" panose="020B0004020202020204" pitchFamily="34" charset="0"/>
                  <a:cs typeface="Times New Roman" panose="02020603050405020304" pitchFamily="18" charset="0"/>
                </a:endParaRPr>
              </a:p>
              <a:p>
                <a:pPr lvl="1">
                  <a:lnSpc>
                    <a:spcPts val="3200"/>
                  </a:lnSpc>
                  <a:spcBef>
                    <a:spcPts val="0"/>
                  </a:spcBef>
                  <a:defRPr/>
                </a:pPr>
                <a14:m>
                  <m:oMath xmlns:m="http://schemas.openxmlformats.org/officeDocument/2006/math">
                    <m:r>
                      <a:rPr lang="en-US" sz="1700" i="1" kern="100">
                        <a:latin typeface="Cambria Math" panose="02040503050406030204" pitchFamily="18" charset="0"/>
                        <a:ea typeface="Aptos" panose="020B0004020202020204" pitchFamily="34" charset="0"/>
                        <a:cs typeface="Times New Roman" panose="02020603050405020304" pitchFamily="18" charset="0"/>
                      </a:rPr>
                      <m:t>∆</m:t>
                    </m:r>
                  </m:oMath>
                </a14:m>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FVC</a:t>
                </a:r>
                <a:r>
                  <a:rPr lang="en-US" sz="1700" kern="100" baseline="-25000" dirty="0">
                    <a:latin typeface="Times New Roman" panose="02020603050405020304" pitchFamily="18" charset="0"/>
                    <a:ea typeface="Times New Roman" panose="02020603050405020304" pitchFamily="18" charset="0"/>
                    <a:cs typeface="Times New Roman" panose="02020603050405020304" pitchFamily="18" charset="0"/>
                  </a:rPr>
                  <a:t>peak</a:t>
                </a:r>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 = Largest </a:t>
                </a:r>
                <a14:m>
                  <m:oMath xmlns:m="http://schemas.openxmlformats.org/officeDocument/2006/math">
                    <m:r>
                      <a:rPr lang="en-US" sz="1700" i="1" kern="10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FVC observed within 30 cardiac cycles immediately post stimulus.</a:t>
                </a:r>
              </a:p>
              <a:p>
                <a:pPr lvl="1">
                  <a:lnSpc>
                    <a:spcPts val="3200"/>
                  </a:lnSpc>
                  <a:spcBef>
                    <a:spcPts val="0"/>
                  </a:spcBef>
                  <a:defRPr/>
                </a:pPr>
                <a:r>
                  <a:rPr lang="en-US" sz="1700" kern="100" dirty="0">
                    <a:latin typeface="Times New Roman" panose="02020603050405020304" pitchFamily="18" charset="0"/>
                    <a:ea typeface="Aptos" panose="020B0004020202020204" pitchFamily="34" charset="0"/>
                    <a:cs typeface="Times New Roman" panose="02020603050405020304" pitchFamily="18" charset="0"/>
                  </a:rPr>
                  <a:t>Chemical+Mechanical Contribution to (15kg or MVC) ∆FVC</a:t>
                </a:r>
                <a:r>
                  <a:rPr lang="en-US" sz="1700" kern="100" baseline="-25000" dirty="0">
                    <a:latin typeface="Times New Roman" panose="02020603050405020304" pitchFamily="18" charset="0"/>
                    <a:ea typeface="Aptos" panose="020B0004020202020204" pitchFamily="34" charset="0"/>
                    <a:cs typeface="Times New Roman" panose="02020603050405020304" pitchFamily="18" charset="0"/>
                  </a:rPr>
                  <a:t>total</a:t>
                </a:r>
                <a:r>
                  <a:rPr lang="en-US" sz="1700" kern="100" dirty="0">
                    <a:latin typeface="Times New Roman" panose="02020603050405020304" pitchFamily="18" charset="0"/>
                    <a:ea typeface="Aptos" panose="020B0004020202020204" pitchFamily="34" charset="0"/>
                    <a:cs typeface="Times New Roman" panose="02020603050405020304" pitchFamily="18" charset="0"/>
                  </a:rPr>
                  <a:t> = </a:t>
                </a:r>
                <a14:m>
                  <m:oMath xmlns:m="http://schemas.openxmlformats.org/officeDocument/2006/math">
                    <m:d>
                      <m:dPr>
                        <m:begChr m:val="["/>
                        <m:endChr m:val="]"/>
                        <m:ctrlPr>
                          <a:rPr lang="en-US" sz="1700" i="1" kern="100">
                            <a:latin typeface="Cambria Math" panose="02040503050406030204" pitchFamily="18" charset="0"/>
                            <a:ea typeface="Aptos" panose="020B0004020202020204" pitchFamily="34" charset="0"/>
                            <a:cs typeface="Times New Roman" panose="02020603050405020304" pitchFamily="18" charset="0"/>
                          </a:rPr>
                        </m:ctrlPr>
                      </m:dPr>
                      <m:e>
                        <m:f>
                          <m:fPr>
                            <m:ctrlPr>
                              <a:rPr lang="en-US" sz="1700" i="1" kern="100">
                                <a:latin typeface="Cambria Math" panose="02040503050406030204" pitchFamily="18" charset="0"/>
                                <a:ea typeface="Aptos" panose="020B0004020202020204" pitchFamily="34" charset="0"/>
                                <a:cs typeface="Times New Roman" panose="02020603050405020304" pitchFamily="18" charset="0"/>
                              </a:rPr>
                            </m:ctrlPr>
                          </m:fPr>
                          <m:num>
                            <m:r>
                              <a:rPr lang="en-US" sz="1700" i="1" kern="100">
                                <a:latin typeface="Cambria Math" panose="02040503050406030204" pitchFamily="18" charset="0"/>
                                <a:ea typeface="Aptos" panose="020B0004020202020204" pitchFamily="34" charset="0"/>
                                <a:cs typeface="Times New Roman" panose="02020603050405020304" pitchFamily="18" charset="0"/>
                              </a:rPr>
                              <m:t>∆</m:t>
                            </m:r>
                            <m:r>
                              <a:rPr lang="en-US" sz="1700" i="1" kern="100">
                                <a:latin typeface="Cambria Math" panose="02040503050406030204" pitchFamily="18" charset="0"/>
                                <a:ea typeface="Aptos" panose="020B0004020202020204" pitchFamily="34" charset="0"/>
                                <a:cs typeface="Times New Roman" panose="02020603050405020304" pitchFamily="18" charset="0"/>
                              </a:rPr>
                              <m:t>𝐹𝑉𝐶𝑡𝑜𝑡𝑎𝑙</m:t>
                            </m:r>
                            <m:r>
                              <a:rPr lang="en-US" sz="1700" i="1" kern="100">
                                <a:latin typeface="Cambria Math" panose="02040503050406030204" pitchFamily="18" charset="0"/>
                                <a:ea typeface="Aptos" panose="020B0004020202020204" pitchFamily="34" charset="0"/>
                                <a:cs typeface="Times New Roman" panose="02020603050405020304" pitchFamily="18" charset="0"/>
                              </a:rPr>
                              <m:t>(10</m:t>
                            </m:r>
                            <m:r>
                              <a:rPr lang="en-US" sz="1700" i="1" kern="100">
                                <a:latin typeface="Cambria Math" panose="02040503050406030204" pitchFamily="18" charset="0"/>
                                <a:ea typeface="Aptos" panose="020B0004020202020204" pitchFamily="34" charset="0"/>
                                <a:cs typeface="Times New Roman" panose="02020603050405020304" pitchFamily="18" charset="0"/>
                              </a:rPr>
                              <m:t>𝑚𝐴</m:t>
                            </m:r>
                            <m:r>
                              <a:rPr lang="en-US" sz="1700" i="1" kern="100">
                                <a:latin typeface="Cambria Math" panose="02040503050406030204" pitchFamily="18" charset="0"/>
                                <a:ea typeface="Aptos" panose="020B0004020202020204" pitchFamily="34" charset="0"/>
                                <a:cs typeface="Times New Roman" panose="02020603050405020304" pitchFamily="18" charset="0"/>
                              </a:rPr>
                              <m:t>)</m:t>
                            </m:r>
                          </m:num>
                          <m:den>
                            <m:r>
                              <a:rPr lang="en-US" sz="1700" i="1" kern="100">
                                <a:latin typeface="Cambria Math" panose="02040503050406030204" pitchFamily="18" charset="0"/>
                                <a:ea typeface="Aptos" panose="020B0004020202020204" pitchFamily="34" charset="0"/>
                                <a:cs typeface="Times New Roman" panose="02020603050405020304" pitchFamily="18" charset="0"/>
                              </a:rPr>
                              <m:t>∆</m:t>
                            </m:r>
                            <m:r>
                              <a:rPr lang="en-US" sz="1700" i="1" kern="100">
                                <a:latin typeface="Cambria Math" panose="02040503050406030204" pitchFamily="18" charset="0"/>
                                <a:ea typeface="Aptos" panose="020B0004020202020204" pitchFamily="34" charset="0"/>
                                <a:cs typeface="Times New Roman" panose="02020603050405020304" pitchFamily="18" charset="0"/>
                              </a:rPr>
                              <m:t>𝐹𝑉𝐶𝑡𝑜𝑡𝑎𝑙</m:t>
                            </m:r>
                            <m:r>
                              <a:rPr lang="en-US" sz="1700" i="1" kern="100">
                                <a:latin typeface="Cambria Math" panose="02040503050406030204" pitchFamily="18" charset="0"/>
                                <a:ea typeface="Aptos" panose="020B0004020202020204" pitchFamily="34" charset="0"/>
                                <a:cs typeface="Times New Roman" panose="02020603050405020304" pitchFamily="18" charset="0"/>
                              </a:rPr>
                              <m:t>(15</m:t>
                            </m:r>
                            <m:r>
                              <a:rPr lang="en-US" sz="1700" i="1" kern="100">
                                <a:latin typeface="Cambria Math" panose="02040503050406030204" pitchFamily="18" charset="0"/>
                                <a:ea typeface="Aptos" panose="020B0004020202020204" pitchFamily="34" charset="0"/>
                                <a:cs typeface="Times New Roman" panose="02020603050405020304" pitchFamily="18" charset="0"/>
                              </a:rPr>
                              <m:t>𝑘𝑔</m:t>
                            </m:r>
                            <m:r>
                              <a:rPr lang="en-US" sz="1700" i="1" kern="100">
                                <a:latin typeface="Cambria Math" panose="02040503050406030204" pitchFamily="18" charset="0"/>
                                <a:ea typeface="Aptos" panose="020B0004020202020204" pitchFamily="34" charset="0"/>
                                <a:cs typeface="Times New Roman" panose="02020603050405020304" pitchFamily="18" charset="0"/>
                              </a:rPr>
                              <m:t> </m:t>
                            </m:r>
                            <m:r>
                              <a:rPr lang="en-US" sz="1700" i="1" kern="100">
                                <a:latin typeface="Cambria Math" panose="02040503050406030204" pitchFamily="18" charset="0"/>
                                <a:ea typeface="Aptos" panose="020B0004020202020204" pitchFamily="34" charset="0"/>
                                <a:cs typeface="Times New Roman" panose="02020603050405020304" pitchFamily="18" charset="0"/>
                              </a:rPr>
                              <m:t>𝑜𝑟</m:t>
                            </m:r>
                            <m:r>
                              <a:rPr lang="en-US" sz="1700" i="1" kern="100">
                                <a:latin typeface="Cambria Math" panose="02040503050406030204" pitchFamily="18" charset="0"/>
                                <a:ea typeface="Aptos" panose="020B0004020202020204" pitchFamily="34" charset="0"/>
                                <a:cs typeface="Times New Roman" panose="02020603050405020304" pitchFamily="18" charset="0"/>
                              </a:rPr>
                              <m:t> </m:t>
                            </m:r>
                            <m:r>
                              <a:rPr lang="en-US" sz="1700" i="1" kern="100">
                                <a:latin typeface="Cambria Math" panose="02040503050406030204" pitchFamily="18" charset="0"/>
                                <a:ea typeface="Aptos" panose="020B0004020202020204" pitchFamily="34" charset="0"/>
                                <a:cs typeface="Times New Roman" panose="02020603050405020304" pitchFamily="18" charset="0"/>
                              </a:rPr>
                              <m:t>𝑀𝑉𝐶</m:t>
                            </m:r>
                            <m:r>
                              <a:rPr lang="en-US" sz="1700" i="1" kern="100">
                                <a:latin typeface="Cambria Math" panose="02040503050406030204" pitchFamily="18" charset="0"/>
                                <a:ea typeface="Aptos" panose="020B0004020202020204" pitchFamily="34" charset="0"/>
                                <a:cs typeface="Times New Roman" panose="02020603050405020304" pitchFamily="18" charset="0"/>
                              </a:rPr>
                              <m:t>)</m:t>
                            </m:r>
                          </m:den>
                        </m:f>
                      </m:e>
                    </m:d>
                  </m:oMath>
                </a14:m>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*100</a:t>
                </a:r>
                <a:endParaRPr lang="en-US" sz="1700" kern="100" dirty="0">
                  <a:latin typeface="Aptos" panose="020B0004020202020204" pitchFamily="34" charset="0"/>
                  <a:ea typeface="Aptos" panose="020B0004020202020204" pitchFamily="34" charset="0"/>
                  <a:cs typeface="Times New Roman" panose="02020603050405020304" pitchFamily="18" charset="0"/>
                </a:endParaRPr>
              </a:p>
              <a:p>
                <a:pPr lvl="1">
                  <a:lnSpc>
                    <a:spcPts val="3200"/>
                  </a:lnSpc>
                  <a:spcBef>
                    <a:spcPts val="0"/>
                  </a:spcBef>
                  <a:defRPr/>
                </a:pPr>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Mechanical Contribution to 10mA </a:t>
                </a:r>
                <a14:m>
                  <m:oMath xmlns:m="http://schemas.openxmlformats.org/officeDocument/2006/math">
                    <m:r>
                      <a:rPr lang="en-US" sz="1700" i="1" kern="10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FVC</a:t>
                </a:r>
                <a:r>
                  <a:rPr lang="en-US" sz="1700" kern="100" baseline="-25000" dirty="0">
                    <a:latin typeface="Times New Roman" panose="02020603050405020304" pitchFamily="18" charset="0"/>
                    <a:ea typeface="Times New Roman" panose="02020603050405020304" pitchFamily="18" charset="0"/>
                    <a:cs typeface="Times New Roman" panose="02020603050405020304" pitchFamily="18" charset="0"/>
                  </a:rPr>
                  <a:t>total</a:t>
                </a:r>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1700" i="1" kern="100">
                            <a:latin typeface="Cambria Math" panose="02040503050406030204" pitchFamily="18" charset="0"/>
                            <a:ea typeface="Aptos" panose="020B0004020202020204" pitchFamily="34" charset="0"/>
                            <a:cs typeface="Times New Roman" panose="02020603050405020304" pitchFamily="18" charset="0"/>
                          </a:rPr>
                        </m:ctrlPr>
                      </m:dPr>
                      <m:e>
                        <m:f>
                          <m:fPr>
                            <m:ctrlPr>
                              <a:rPr lang="en-US" sz="1700" i="1" kern="100">
                                <a:latin typeface="Cambria Math" panose="02040503050406030204" pitchFamily="18" charset="0"/>
                                <a:ea typeface="Aptos" panose="020B0004020202020204" pitchFamily="34" charset="0"/>
                                <a:cs typeface="Times New Roman" panose="02020603050405020304" pitchFamily="18" charset="0"/>
                              </a:rPr>
                            </m:ctrlPr>
                          </m:fPr>
                          <m:num>
                            <m:r>
                              <a:rPr lang="en-US" sz="1700" i="1" kern="100">
                                <a:latin typeface="Cambria Math" panose="02040503050406030204" pitchFamily="18" charset="0"/>
                                <a:ea typeface="Aptos" panose="020B0004020202020204" pitchFamily="34" charset="0"/>
                                <a:cs typeface="Times New Roman" panose="02020603050405020304" pitchFamily="18" charset="0"/>
                              </a:rPr>
                              <m:t>∆</m:t>
                            </m:r>
                            <m:r>
                              <a:rPr lang="en-US" sz="1700" i="1" kern="100">
                                <a:latin typeface="Cambria Math" panose="02040503050406030204" pitchFamily="18" charset="0"/>
                                <a:ea typeface="Aptos" panose="020B0004020202020204" pitchFamily="34" charset="0"/>
                                <a:cs typeface="Times New Roman" panose="02020603050405020304" pitchFamily="18" charset="0"/>
                              </a:rPr>
                              <m:t>𝐹𝑉𝐶𝑡𝑜𝑡𝑎𝑙</m:t>
                            </m:r>
                            <m:d>
                              <m:dPr>
                                <m:ctrlPr>
                                  <a:rPr lang="en-US" sz="1700" i="1" kern="100">
                                    <a:latin typeface="Cambria Math" panose="02040503050406030204" pitchFamily="18" charset="0"/>
                                    <a:ea typeface="Aptos" panose="020B0004020202020204" pitchFamily="34" charset="0"/>
                                    <a:cs typeface="Times New Roman" panose="02020603050405020304" pitchFamily="18" charset="0"/>
                                  </a:rPr>
                                </m:ctrlPr>
                              </m:dPr>
                              <m:e>
                                <m:r>
                                  <a:rPr lang="en-US" sz="1700" i="1" kern="100">
                                    <a:latin typeface="Cambria Math" panose="02040503050406030204" pitchFamily="18" charset="0"/>
                                    <a:ea typeface="Aptos" panose="020B0004020202020204" pitchFamily="34" charset="0"/>
                                    <a:cs typeface="Times New Roman" panose="02020603050405020304" pitchFamily="18" charset="0"/>
                                  </a:rPr>
                                  <m:t>300</m:t>
                                </m:r>
                                <m:r>
                                  <a:rPr lang="en-US" sz="1700" i="1" kern="100">
                                    <a:latin typeface="Cambria Math" panose="02040503050406030204" pitchFamily="18" charset="0"/>
                                    <a:ea typeface="Aptos" panose="020B0004020202020204" pitchFamily="34" charset="0"/>
                                    <a:cs typeface="Times New Roman" panose="02020603050405020304" pitchFamily="18" charset="0"/>
                                  </a:rPr>
                                  <m:t>𝑚𝑚𝐻𝑔</m:t>
                                </m:r>
                              </m:e>
                            </m:d>
                          </m:num>
                          <m:den>
                            <m:r>
                              <a:rPr lang="en-US" sz="1700" i="1" kern="100">
                                <a:latin typeface="Cambria Math" panose="02040503050406030204" pitchFamily="18" charset="0"/>
                                <a:ea typeface="Aptos" panose="020B0004020202020204" pitchFamily="34" charset="0"/>
                                <a:cs typeface="Times New Roman" panose="02020603050405020304" pitchFamily="18" charset="0"/>
                              </a:rPr>
                              <m:t>∆</m:t>
                            </m:r>
                            <m:r>
                              <a:rPr lang="en-US" sz="1700" i="1" kern="100">
                                <a:latin typeface="Cambria Math" panose="02040503050406030204" pitchFamily="18" charset="0"/>
                                <a:ea typeface="Aptos" panose="020B0004020202020204" pitchFamily="34" charset="0"/>
                                <a:cs typeface="Times New Roman" panose="02020603050405020304" pitchFamily="18" charset="0"/>
                              </a:rPr>
                              <m:t>𝐹𝑉𝐶𝑡𝑜𝑡𝑎𝑙</m:t>
                            </m:r>
                            <m:r>
                              <a:rPr lang="en-US" sz="1700" i="1" kern="100">
                                <a:latin typeface="Cambria Math" panose="02040503050406030204" pitchFamily="18" charset="0"/>
                                <a:ea typeface="Aptos" panose="020B0004020202020204" pitchFamily="34" charset="0"/>
                                <a:cs typeface="Times New Roman" panose="02020603050405020304" pitchFamily="18" charset="0"/>
                              </a:rPr>
                              <m:t>(10</m:t>
                            </m:r>
                            <m:r>
                              <a:rPr lang="en-US" sz="1700" i="1" kern="100">
                                <a:latin typeface="Cambria Math" panose="02040503050406030204" pitchFamily="18" charset="0"/>
                                <a:ea typeface="Aptos" panose="020B0004020202020204" pitchFamily="34" charset="0"/>
                                <a:cs typeface="Times New Roman" panose="02020603050405020304" pitchFamily="18" charset="0"/>
                              </a:rPr>
                              <m:t>𝑚𝐴</m:t>
                            </m:r>
                            <m:r>
                              <a:rPr lang="en-US" sz="1700" i="1" kern="100">
                                <a:latin typeface="Cambria Math" panose="02040503050406030204" pitchFamily="18" charset="0"/>
                                <a:ea typeface="Aptos" panose="020B0004020202020204" pitchFamily="34" charset="0"/>
                                <a:cs typeface="Times New Roman" panose="02020603050405020304" pitchFamily="18" charset="0"/>
                              </a:rPr>
                              <m:t>)</m:t>
                            </m:r>
                          </m:den>
                        </m:f>
                      </m:e>
                    </m:d>
                  </m:oMath>
                </a14:m>
                <a:r>
                  <a:rPr lang="en-US" sz="1700" kern="100" dirty="0">
                    <a:latin typeface="Times New Roman" panose="02020603050405020304" pitchFamily="18" charset="0"/>
                    <a:ea typeface="Times New Roman" panose="02020603050405020304" pitchFamily="18" charset="0"/>
                    <a:cs typeface="Times New Roman" panose="02020603050405020304" pitchFamily="18" charset="0"/>
                  </a:rPr>
                  <a:t>*100</a:t>
                </a:r>
                <a:endParaRPr lang="en-US" sz="1700" dirty="0">
                  <a:latin typeface="Times New Roman" panose="02020603050405020304" pitchFamily="18" charset="0"/>
                  <a:ea typeface="SimSun" panose="02010600030101010101" pitchFamily="2" charset="-122"/>
                  <a:cs typeface="Times New Roman" panose="02020603050405020304" pitchFamily="18" charset="0"/>
                </a:endParaRPr>
              </a:p>
              <a:p>
                <a:pPr>
                  <a:lnSpc>
                    <a:spcPct val="200000"/>
                  </a:lnSpc>
                  <a:spcBef>
                    <a:spcPts val="0"/>
                  </a:spcBef>
                </a:pPr>
                <a:endParaRPr lang="en-US" sz="2000" dirty="0">
                  <a:latin typeface="Times New Roman" panose="02020603050405020304" pitchFamily="18" charset="0"/>
                  <a:ea typeface="SimSun" panose="02010600030101010101" pitchFamily="2" charset="-122"/>
                  <a:cs typeface="Times New Roman" panose="02020603050405020304" pitchFamily="18" charset="0"/>
                </a:endParaRPr>
              </a:p>
              <a:p>
                <a:pPr>
                  <a:lnSpc>
                    <a:spcPct val="200000"/>
                  </a:lnSpc>
                  <a:spcBef>
                    <a:spcPts val="0"/>
                  </a:spcBef>
                </a:pPr>
                <a:endParaRPr 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546E786D-7E4A-404A-43B4-15A303F316CF}"/>
                  </a:ext>
                </a:extLst>
              </p:cNvPr>
              <p:cNvSpPr txBox="1">
                <a:spLocks noRot="1" noChangeAspect="1" noMove="1" noResize="1" noEditPoints="1" noAdjustHandles="1" noChangeArrowheads="1" noChangeShapeType="1" noTextEdit="1"/>
              </p:cNvSpPr>
              <p:nvPr/>
            </p:nvSpPr>
            <p:spPr>
              <a:xfrm>
                <a:off x="472440" y="3085404"/>
                <a:ext cx="7270909" cy="3054813"/>
              </a:xfrm>
              <a:prstGeom prst="rect">
                <a:avLst/>
              </a:prstGeom>
              <a:blipFill>
                <a:blip r:embed="rId5"/>
                <a:stretch>
                  <a:fillRect l="-587"/>
                </a:stretch>
              </a:blipFill>
            </p:spPr>
            <p:txBody>
              <a:bodyPr/>
              <a:lstStyle/>
              <a:p>
                <a:r>
                  <a:rPr lang="en-US">
                    <a:noFill/>
                  </a:rPr>
                  <a:t> </a:t>
                </a:r>
              </a:p>
            </p:txBody>
          </p:sp>
        </mc:Fallback>
      </mc:AlternateContent>
    </p:spTree>
    <p:extLst>
      <p:ext uri="{BB962C8B-B14F-4D97-AF65-F5344CB8AC3E}">
        <p14:creationId xmlns:p14="http://schemas.microsoft.com/office/powerpoint/2010/main" val="115738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fade">
                                      <p:cBhvr>
                                        <p:cTn id="32" dur="500"/>
                                        <p:tgtEl>
                                          <p:spTgt spid="8">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fade">
                                      <p:cBhvr>
                                        <p:cTn id="37" dur="500"/>
                                        <p:tgtEl>
                                          <p:spTgt spid="8">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3" end="3"/>
                                            </p:txEl>
                                          </p:spTgt>
                                        </p:tgtEl>
                                        <p:attrNameLst>
                                          <p:attrName>style.visibility</p:attrName>
                                        </p:attrNameLst>
                                      </p:cBhvr>
                                      <p:to>
                                        <p:strVal val="visible"/>
                                      </p:to>
                                    </p:set>
                                    <p:animEffect transition="in" filter="fade">
                                      <p:cBhvr>
                                        <p:cTn id="42" dur="500"/>
                                        <p:tgtEl>
                                          <p:spTgt spid="8">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4" end="4"/>
                                            </p:txEl>
                                          </p:spTgt>
                                        </p:tgtEl>
                                        <p:attrNameLst>
                                          <p:attrName>style.visibility</p:attrName>
                                        </p:attrNameLst>
                                      </p:cBhvr>
                                      <p:to>
                                        <p:strVal val="visible"/>
                                      </p:to>
                                    </p:set>
                                    <p:animEffect transition="in" filter="fade">
                                      <p:cBhvr>
                                        <p:cTn id="47" dur="500"/>
                                        <p:tgtEl>
                                          <p:spTgt spid="8">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5" end="5"/>
                                            </p:txEl>
                                          </p:spTgt>
                                        </p:tgtEl>
                                        <p:attrNameLst>
                                          <p:attrName>style.visibility</p:attrName>
                                        </p:attrNameLst>
                                      </p:cBhvr>
                                      <p:to>
                                        <p:strVal val="visible"/>
                                      </p:to>
                                    </p:set>
                                    <p:animEffect transition="in" filter="fade">
                                      <p:cBhvr>
                                        <p:cTn id="52" dur="500"/>
                                        <p:tgtEl>
                                          <p:spTgt spid="8">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
                                            <p:txEl>
                                              <p:pRg st="6" end="6"/>
                                            </p:txEl>
                                          </p:spTgt>
                                        </p:tgtEl>
                                        <p:attrNameLst>
                                          <p:attrName>style.visibility</p:attrName>
                                        </p:attrNameLst>
                                      </p:cBhvr>
                                      <p:to>
                                        <p:strVal val="visible"/>
                                      </p:to>
                                    </p:set>
                                    <p:animEffect transition="in" filter="fade">
                                      <p:cBhvr>
                                        <p:cTn id="5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867D0-94F4-4B56-8DD5-7FB27F0AE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4DE04-20A5-6B60-0A44-55D687FACAFF}"/>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Measurement and Processing – Mitochondrial Function and Critical Force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10E467-601E-956A-85DC-41CC1D3A09BF}"/>
                  </a:ext>
                </a:extLst>
              </p:cNvPr>
              <p:cNvSpPr>
                <a:spLocks noGrp="1"/>
              </p:cNvSpPr>
              <p:nvPr>
                <p:ph idx="1"/>
              </p:nvPr>
            </p:nvSpPr>
            <p:spPr>
              <a:xfrm>
                <a:off x="223871" y="1602880"/>
                <a:ext cx="11742549" cy="2628388"/>
              </a:xfrm>
            </p:spPr>
            <p:txBody>
              <a:bodyPr>
                <a:noAutofit/>
              </a:bodyPr>
              <a:lstStyle/>
              <a:p>
                <a:pPr marL="0" marR="0">
                  <a:lnSpc>
                    <a:spcPct val="115000"/>
                  </a:lnSpc>
                  <a:spcAft>
                    <a:spcPts val="800"/>
                  </a:spcAft>
                </a:pPr>
                <a:endParaRPr lang="en-US" sz="22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lnSpc>
                    <a:spcPct val="115000"/>
                  </a:lnSpc>
                  <a:spcAft>
                    <a:spcPts val="800"/>
                  </a:spcAft>
                </a:pPr>
                <a:r>
                  <a:rPr lang="en-US" sz="2200" kern="100" dirty="0">
                    <a:effectLst/>
                    <a:latin typeface="Times New Roman" panose="02020603050405020304" pitchFamily="18" charset="0"/>
                    <a:ea typeface="Aptos" panose="020B0004020202020204" pitchFamily="34" charset="0"/>
                    <a:cs typeface="Times New Roman" panose="02020603050405020304" pitchFamily="18" charset="0"/>
                  </a:rPr>
                  <a:t>mVO</a:t>
                </a:r>
                <a:r>
                  <a:rPr lang="en-US" sz="2200" kern="100" baseline="-25000" dirty="0">
                    <a:effectLst/>
                    <a:latin typeface="Times New Roman" panose="02020603050405020304" pitchFamily="18" charset="0"/>
                    <a:ea typeface="Aptos" panose="020B0004020202020204" pitchFamily="34" charset="0"/>
                    <a:cs typeface="Times New Roman" panose="02020603050405020304" pitchFamily="18" charset="0"/>
                  </a:rPr>
                  <a:t>2occlusion</a:t>
                </a:r>
                <a:r>
                  <a:rPr lang="en-US" sz="2200" kern="100" dirty="0">
                    <a:effectLst/>
                    <a:latin typeface="Times New Roman" panose="02020603050405020304" pitchFamily="18" charset="0"/>
                    <a:ea typeface="Aptos" panose="020B0004020202020204" pitchFamily="34" charset="0"/>
                    <a:cs typeface="Times New Roman" panose="02020603050405020304" pitchFamily="18" charset="0"/>
                  </a:rPr>
                  <a:t> = </a:t>
                </a:r>
                <a14:m>
                  <m:oMath xmlns:m="http://schemas.openxmlformats.org/officeDocument/2006/math">
                    <m:f>
                      <m:fPr>
                        <m:ctrlPr>
                          <a:rPr lang="en-US" sz="22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22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2200" i="1" kern="100">
                            <a:effectLst/>
                            <a:latin typeface="Cambria Math" panose="02040503050406030204" pitchFamily="18" charset="0"/>
                            <a:ea typeface="Aptos" panose="020B0004020202020204" pitchFamily="34" charset="0"/>
                            <a:cs typeface="Times New Roman" panose="02020603050405020304" pitchFamily="18" charset="0"/>
                          </a:rPr>
                          <m:t>𝐻𝐻𝑏</m:t>
                        </m:r>
                      </m:num>
                      <m:den>
                        <m:r>
                          <a:rPr lang="en-US" sz="22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2200" i="1" kern="100">
                            <a:effectLst/>
                            <a:latin typeface="Cambria Math" panose="02040503050406030204" pitchFamily="18" charset="0"/>
                            <a:ea typeface="Aptos" panose="020B0004020202020204" pitchFamily="34" charset="0"/>
                            <a:cs typeface="Times New Roman" panose="02020603050405020304" pitchFamily="18" charset="0"/>
                          </a:rPr>
                          <m:t>𝑡𝑖𝑚𝑒</m:t>
                        </m:r>
                      </m:den>
                    </m:f>
                  </m:oMath>
                </a14:m>
                <a:r>
                  <a:rPr lang="en-US" sz="2200" kern="100" dirty="0">
                    <a:effectLst/>
                    <a:latin typeface="Times New Roman" panose="02020603050405020304" pitchFamily="18" charset="0"/>
                    <a:ea typeface="Times New Roman" panose="02020603050405020304" pitchFamily="18" charset="0"/>
                    <a:cs typeface="Times New Roman" panose="02020603050405020304" pitchFamily="18" charset="0"/>
                  </a:rPr>
                  <a:t> = 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2200" kern="100" dirty="0">
                    <a:effectLst/>
                    <a:latin typeface="Times New Roman" panose="02020603050405020304" pitchFamily="18" charset="0"/>
                    <a:ea typeface="Aptos" panose="020B0004020202020204" pitchFamily="34" charset="0"/>
                    <a:cs typeface="Times New Roman" panose="02020603050405020304" pitchFamily="18" charset="0"/>
                  </a:rPr>
                  <a:t>Mono-exponential Function: y(t) = y</a:t>
                </a:r>
                <a:r>
                  <a:rPr lang="en-US" sz="2200" kern="100" baseline="-25000" dirty="0">
                    <a:effectLst/>
                    <a:latin typeface="Times New Roman" panose="02020603050405020304" pitchFamily="18" charset="0"/>
                    <a:ea typeface="Aptos" panose="020B0004020202020204" pitchFamily="34" charset="0"/>
                    <a:cs typeface="Times New Roman" panose="02020603050405020304" pitchFamily="18" charset="0"/>
                  </a:rPr>
                  <a:t>0</a:t>
                </a:r>
                <a:r>
                  <a:rPr lang="en-US" sz="2200" kern="100" dirty="0">
                    <a:effectLst/>
                    <a:latin typeface="Times New Roman" panose="02020603050405020304" pitchFamily="18" charset="0"/>
                    <a:ea typeface="Aptos" panose="020B0004020202020204" pitchFamily="34" charset="0"/>
                    <a:cs typeface="Times New Roman" panose="02020603050405020304" pitchFamily="18" charset="0"/>
                  </a:rPr>
                  <a:t> + be</a:t>
                </a:r>
                <a:r>
                  <a:rPr lang="en-US" sz="2200" kern="100" baseline="30000" dirty="0">
                    <a:effectLst/>
                    <a:latin typeface="Times New Roman" panose="02020603050405020304" pitchFamily="18" charset="0"/>
                    <a:ea typeface="Aptos" panose="020B0004020202020204" pitchFamily="34" charset="0"/>
                    <a:cs typeface="Times New Roman" panose="02020603050405020304" pitchFamily="18" charset="0"/>
                  </a:rPr>
                  <a:t>-kt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14:m>
                  <m:oMath xmlns:m="http://schemas.openxmlformats.org/officeDocument/2006/math">
                    <m:r>
                      <a:rPr lang="en-US" sz="2200" i="1" kern="100" smtClean="0">
                        <a:effectLst/>
                        <a:latin typeface="Cambria Math" panose="02040503050406030204" pitchFamily="18" charset="0"/>
                        <a:ea typeface="Aptos" panose="020B0004020202020204" pitchFamily="34" charset="0"/>
                        <a:cs typeface="Times New Roman" panose="02020603050405020304" pitchFamily="18" charset="0"/>
                      </a:rPr>
                      <m:t>𝜏</m:t>
                    </m:r>
                  </m:oMath>
                </a14:m>
                <a:r>
                  <a:rPr lang="en-US" sz="2200" kern="100" dirty="0">
                    <a:effectLst/>
                    <a:latin typeface="Times New Roman" panose="02020603050405020304" pitchFamily="18" charset="0"/>
                    <a:ea typeface="Times New Roman" panose="02020603050405020304" pitchFamily="18" charset="0"/>
                    <a:cs typeface="Times New Roman" panose="02020603050405020304" pitchFamily="18" charset="0"/>
                  </a:rPr>
                  <a:t> = </a:t>
                </a:r>
                <a14:m>
                  <m:oMath xmlns:m="http://schemas.openxmlformats.org/officeDocument/2006/math">
                    <m:f>
                      <m:fPr>
                        <m:ctrlPr>
                          <a:rPr lang="en-US" sz="22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200" i="1" kern="100">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200" i="1" kern="100">
                            <a:effectLst/>
                            <a:latin typeface="Cambria Math" panose="02040503050406030204" pitchFamily="18" charset="0"/>
                            <a:ea typeface="Times New Roman" panose="02020603050405020304" pitchFamily="18" charset="0"/>
                            <a:cs typeface="Times New Roman" panose="02020603050405020304" pitchFamily="18" charset="0"/>
                          </a:rPr>
                          <m:t>𝑘</m:t>
                        </m:r>
                      </m:den>
                    </m:f>
                  </m:oMath>
                </a14:m>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0000"/>
                  </a:lnSpc>
                  <a:spcBef>
                    <a:spcPts val="0"/>
                  </a:spcBef>
                </a:pPr>
                <a:endParaRPr lang="en-US" sz="2200" i="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00000"/>
                  </a:lnSpc>
                  <a:spcBef>
                    <a:spcPts val="0"/>
                  </a:spcBef>
                </a:pPr>
                <a:endParaRPr lang="en-US" sz="2200" i="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00000"/>
                  </a:lnSpc>
                  <a:spcBef>
                    <a:spcPts val="0"/>
                  </a:spcBef>
                </a:pPr>
                <a:r>
                  <a:rPr lang="en-US" sz="2200" dirty="0">
                    <a:latin typeface="Times New Roman" panose="02020603050405020304" pitchFamily="18" charset="0"/>
                    <a:ea typeface="Cambria Math" panose="02040503050406030204" pitchFamily="18" charset="0"/>
                    <a:cs typeface="Times New Roman" panose="02020603050405020304" pitchFamily="18" charset="0"/>
                  </a:rPr>
                  <a:t>Contraction Impulse (Ns) = AUC</a:t>
                </a:r>
                <a14:m>
                  <m:oMath xmlns:m="http://schemas.openxmlformats.org/officeDocument/2006/math">
                    <m:r>
                      <m:rPr>
                        <m:nor/>
                      </m:rPr>
                      <a:rPr lang="en-US" sz="2200" baseline="-25000">
                        <a:latin typeface="Cambria Math" panose="02040503050406030204" pitchFamily="18" charset="0"/>
                        <a:ea typeface="Cambria Math" panose="02040503050406030204" pitchFamily="18" charset="0"/>
                        <a:cs typeface="Times New Roman" panose="02020603050405020304" pitchFamily="18" charset="0"/>
                      </a:rPr>
                      <m:t>C</m:t>
                    </m:r>
                    <m:r>
                      <m:rPr>
                        <m:nor/>
                      </m:rPr>
                      <a:rPr lang="en-US" sz="2200" b="0" i="0" baseline="-25000" smtClean="0">
                        <a:latin typeface="Cambria Math" panose="02040503050406030204" pitchFamily="18" charset="0"/>
                        <a:ea typeface="Cambria Math" panose="02040503050406030204" pitchFamily="18" charset="0"/>
                        <a:cs typeface="Times New Roman" panose="02020603050405020304" pitchFamily="18" charset="0"/>
                      </a:rPr>
                      <m:t>ontractionForce</m:t>
                    </m:r>
                  </m:oMath>
                </a14:m>
                <a:endParaRPr lang="en-US" sz="2200" b="0" baseline="-25000" dirty="0">
                  <a:latin typeface="Times New Roman" panose="02020603050405020304" pitchFamily="18" charset="0"/>
                  <a:ea typeface="Cambria Math" panose="02040503050406030204" pitchFamily="18" charset="0"/>
                  <a:cs typeface="Times New Roman" panose="02020603050405020304" pitchFamily="18" charset="0"/>
                </a:endParaRPr>
              </a:p>
              <a:p>
                <a:pPr lvl="1">
                  <a:lnSpc>
                    <a:spcPct val="100000"/>
                  </a:lnSpc>
                  <a:spcBef>
                    <a:spcPts val="0"/>
                  </a:spcBef>
                </a:pPr>
                <a:r>
                  <a:rPr lang="en-US" sz="1800" dirty="0">
                    <a:latin typeface="Times New Roman" panose="02020603050405020304" pitchFamily="18" charset="0"/>
                    <a:ea typeface="Cambria Math" panose="02040503050406030204" pitchFamily="18" charset="0"/>
                    <a:cs typeface="Times New Roman" panose="02020603050405020304" pitchFamily="18" charset="0"/>
                  </a:rPr>
                  <a:t>AUC = Area under the curve</a:t>
                </a:r>
              </a:p>
              <a:p>
                <a:pPr>
                  <a:lnSpc>
                    <a:spcPct val="100000"/>
                  </a:lnSpc>
                  <a:spcBef>
                    <a:spcPts val="0"/>
                  </a:spcBef>
                </a:pPr>
                <a:r>
                  <a:rPr lang="en-US" sz="2200" dirty="0">
                    <a:latin typeface="Times New Roman" panose="02020603050405020304" pitchFamily="18" charset="0"/>
                    <a:ea typeface="Cambria Math" panose="02040503050406030204" pitchFamily="18" charset="0"/>
                    <a:cs typeface="Times New Roman" panose="02020603050405020304" pitchFamily="18" charset="0"/>
                  </a:rPr>
                  <a:t>Critical Impulse (Ns) = Average of Contraction Impulse </a:t>
                </a:r>
                <a:br>
                  <a:rPr lang="en-US" sz="2200" dirty="0">
                    <a:latin typeface="Times New Roman" panose="02020603050405020304" pitchFamily="18" charset="0"/>
                    <a:ea typeface="Cambria Math" panose="02040503050406030204" pitchFamily="18" charset="0"/>
                    <a:cs typeface="Times New Roman" panose="02020603050405020304" pitchFamily="18" charset="0"/>
                  </a:rPr>
                </a:br>
                <a:r>
                  <a:rPr lang="en-US" sz="2200" dirty="0">
                    <a:latin typeface="Times New Roman" panose="02020603050405020304" pitchFamily="18" charset="0"/>
                    <a:ea typeface="Cambria Math" panose="02040503050406030204" pitchFamily="18" charset="0"/>
                    <a:cs typeface="Times New Roman" panose="02020603050405020304" pitchFamily="18" charset="0"/>
                  </a:rPr>
                  <a:t>over the last 30 contractions of Critical Force test.</a:t>
                </a:r>
              </a:p>
            </p:txBody>
          </p:sp>
        </mc:Choice>
        <mc:Fallback xmlns="">
          <p:sp>
            <p:nvSpPr>
              <p:cNvPr id="3" name="Content Placeholder 2">
                <a:extLst>
                  <a:ext uri="{FF2B5EF4-FFF2-40B4-BE49-F238E27FC236}">
                    <a16:creationId xmlns:a16="http://schemas.microsoft.com/office/drawing/2014/main" id="{5610E467-601E-956A-85DC-41CC1D3A09BF}"/>
                  </a:ext>
                </a:extLst>
              </p:cNvPr>
              <p:cNvSpPr>
                <a:spLocks noGrp="1" noRot="1" noChangeAspect="1" noMove="1" noResize="1" noEditPoints="1" noAdjustHandles="1" noChangeArrowheads="1" noChangeShapeType="1" noTextEdit="1"/>
              </p:cNvSpPr>
              <p:nvPr>
                <p:ph idx="1"/>
              </p:nvPr>
            </p:nvSpPr>
            <p:spPr>
              <a:xfrm>
                <a:off x="223871" y="1602880"/>
                <a:ext cx="11742549" cy="2628388"/>
              </a:xfrm>
              <a:blipFill>
                <a:blip r:embed="rId3"/>
                <a:stretch>
                  <a:fillRect l="-623" b="-837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C8244692-D443-753C-1AB8-E140B5E9B083}"/>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extBox 4">
            <a:extLst>
              <a:ext uri="{FF2B5EF4-FFF2-40B4-BE49-F238E27FC236}">
                <a16:creationId xmlns:a16="http://schemas.microsoft.com/office/drawing/2014/main" id="{ED6E2DEF-CC29-553A-4506-B2B5F1BA3A89}"/>
              </a:ext>
            </a:extLst>
          </p:cNvPr>
          <p:cNvSpPr txBox="1"/>
          <p:nvPr/>
        </p:nvSpPr>
        <p:spPr>
          <a:xfrm>
            <a:off x="9655277" y="6308209"/>
            <a:ext cx="288085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(Ryan et al., 2012).</a:t>
            </a:r>
          </a:p>
        </p:txBody>
      </p:sp>
      <p:pic>
        <p:nvPicPr>
          <p:cNvPr id="8" name="Picture 7" descr="A graph of a number of objects&#10;&#10;AI-generated content may be incorrect.">
            <a:extLst>
              <a:ext uri="{FF2B5EF4-FFF2-40B4-BE49-F238E27FC236}">
                <a16:creationId xmlns:a16="http://schemas.microsoft.com/office/drawing/2014/main" id="{C79879D3-D287-5610-2609-E8AC3DB9B7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0700" y="1128805"/>
            <a:ext cx="3262765" cy="2468301"/>
          </a:xfrm>
          <a:prstGeom prst="rect">
            <a:avLst/>
          </a:prstGeom>
        </p:spPr>
      </p:pic>
      <p:pic>
        <p:nvPicPr>
          <p:cNvPr id="10" name="Picture 9" descr="A graph with dots on the line&#10;&#10;AI-generated content may be incorrect.">
            <a:extLst>
              <a:ext uri="{FF2B5EF4-FFF2-40B4-BE49-F238E27FC236}">
                <a16:creationId xmlns:a16="http://schemas.microsoft.com/office/drawing/2014/main" id="{06A211D2-557D-C443-3CDC-2B33C82303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40789" y="1257300"/>
            <a:ext cx="3034182" cy="2361994"/>
          </a:xfrm>
          <a:prstGeom prst="rect">
            <a:avLst/>
          </a:prstGeom>
        </p:spPr>
      </p:pic>
      <p:pic>
        <p:nvPicPr>
          <p:cNvPr id="12" name="Picture 11" descr="A graph showing a number of dots&#10;&#10;AI-generated content may be incorrect.">
            <a:extLst>
              <a:ext uri="{FF2B5EF4-FFF2-40B4-BE49-F238E27FC236}">
                <a16:creationId xmlns:a16="http://schemas.microsoft.com/office/drawing/2014/main" id="{B4802DC9-FD7B-2B7E-CAA6-49F1CE32359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41756" y="3955973"/>
            <a:ext cx="2186650" cy="1599134"/>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A8FD0FE-3F52-0E3A-1270-2BB99AAA9251}"/>
                  </a:ext>
                </a:extLst>
              </p:cNvPr>
              <p:cNvSpPr txBox="1"/>
              <p:nvPr/>
            </p:nvSpPr>
            <p:spPr>
              <a:xfrm rot="16200000">
                <a:off x="8178824" y="1790341"/>
                <a:ext cx="1308100" cy="215444"/>
              </a:xfrm>
              <a:prstGeom prst="rect">
                <a:avLst/>
              </a:prstGeom>
              <a:noFill/>
            </p:spPr>
            <p:txBody>
              <a:bodyPr wrap="square" rtlCol="0">
                <a:spAutoFit/>
              </a:bodyPr>
              <a:lstStyle/>
              <a:p>
                <a14:m>
                  <m:oMath xmlns:m="http://schemas.openxmlformats.org/officeDocument/2006/math">
                    <m:r>
                      <a:rPr lang="en-US" sz="800" i="1" smtClean="0">
                        <a:latin typeface="Cambria Math" panose="02040503050406030204" pitchFamily="18" charset="0"/>
                        <a:ea typeface="Cambria Math" panose="02040503050406030204" pitchFamily="18" charset="0"/>
                      </a:rPr>
                      <m:t>∆</m:t>
                    </m:r>
                  </m:oMath>
                </a14:m>
                <a:r>
                  <a:rPr lang="en-US" sz="800" dirty="0">
                    <a:latin typeface="Times New Roman" panose="02020603050405020304" pitchFamily="18" charset="0"/>
                    <a:cs typeface="Times New Roman" panose="02020603050405020304" pitchFamily="18" charset="0"/>
                  </a:rPr>
                  <a:t>HHb/</a:t>
                </a:r>
                <a14:m>
                  <m:oMath xmlns:m="http://schemas.openxmlformats.org/officeDocument/2006/math">
                    <m:r>
                      <a:rPr lang="en-US" sz="800" i="1" smtClean="0">
                        <a:latin typeface="Cambria Math" panose="02040503050406030204" pitchFamily="18" charset="0"/>
                        <a:ea typeface="Cambria Math" panose="02040503050406030204" pitchFamily="18" charset="0"/>
                      </a:rPr>
                      <m:t>∆</m:t>
                    </m:r>
                  </m:oMath>
                </a14:m>
                <a:r>
                  <a:rPr lang="en-US" sz="800" dirty="0">
                    <a:latin typeface="Times New Roman" panose="02020603050405020304" pitchFamily="18" charset="0"/>
                    <a:cs typeface="Times New Roman" panose="02020603050405020304" pitchFamily="18" charset="0"/>
                  </a:rPr>
                  <a:t>s</a:t>
                </a:r>
              </a:p>
            </p:txBody>
          </p:sp>
        </mc:Choice>
        <mc:Fallback xmlns="">
          <p:sp>
            <p:nvSpPr>
              <p:cNvPr id="7" name="TextBox 6">
                <a:extLst>
                  <a:ext uri="{FF2B5EF4-FFF2-40B4-BE49-F238E27FC236}">
                    <a16:creationId xmlns:a16="http://schemas.microsoft.com/office/drawing/2014/main" id="{8A8FD0FE-3F52-0E3A-1270-2BB99AAA9251}"/>
                  </a:ext>
                </a:extLst>
              </p:cNvPr>
              <p:cNvSpPr txBox="1">
                <a:spLocks noRot="1" noChangeAspect="1" noMove="1" noResize="1" noEditPoints="1" noAdjustHandles="1" noChangeArrowheads="1" noChangeShapeType="1" noTextEdit="1"/>
              </p:cNvSpPr>
              <p:nvPr/>
            </p:nvSpPr>
            <p:spPr>
              <a:xfrm rot="16200000">
                <a:off x="8178824" y="1790341"/>
                <a:ext cx="1308100" cy="215444"/>
              </a:xfrm>
              <a:prstGeom prst="rect">
                <a:avLst/>
              </a:prstGeom>
              <a:blipFill>
                <a:blip r:embed="rId7"/>
                <a:stretch>
                  <a:fillRect r="-5556"/>
                </a:stretch>
              </a:blipFill>
            </p:spPr>
            <p:txBody>
              <a:bodyPr/>
              <a:lstStyle/>
              <a:p>
                <a:r>
                  <a:rPr lang="en-US">
                    <a:noFill/>
                  </a:rPr>
                  <a:t> </a:t>
                </a:r>
              </a:p>
            </p:txBody>
          </p:sp>
        </mc:Fallback>
      </mc:AlternateContent>
      <p:pic>
        <p:nvPicPr>
          <p:cNvPr id="9" name="Picture 8" descr="A graph showing a number of dots&#10;&#10;AI-generated content may be incorrect.">
            <a:extLst>
              <a:ext uri="{FF2B5EF4-FFF2-40B4-BE49-F238E27FC236}">
                <a16:creationId xmlns:a16="http://schemas.microsoft.com/office/drawing/2014/main" id="{2C01C624-8642-F299-D8AD-1DBEC61939F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10492" y="3693193"/>
            <a:ext cx="3454937" cy="2547706"/>
          </a:xfrm>
          <a:prstGeom prst="rect">
            <a:avLst/>
          </a:prstGeom>
        </p:spPr>
      </p:pic>
      <p:sp>
        <p:nvSpPr>
          <p:cNvPr id="11" name="TextBox 10">
            <a:extLst>
              <a:ext uri="{FF2B5EF4-FFF2-40B4-BE49-F238E27FC236}">
                <a16:creationId xmlns:a16="http://schemas.microsoft.com/office/drawing/2014/main" id="{487ECA11-3046-0ADD-895D-E2362EFEE585}"/>
              </a:ext>
            </a:extLst>
          </p:cNvPr>
          <p:cNvSpPr txBox="1"/>
          <p:nvPr/>
        </p:nvSpPr>
        <p:spPr>
          <a:xfrm rot="16200000">
            <a:off x="5677165" y="4610022"/>
            <a:ext cx="797859" cy="169277"/>
          </a:xfrm>
          <a:prstGeom prst="rect">
            <a:avLst/>
          </a:prstGeom>
          <a:solidFill>
            <a:schemeClr val="bg1"/>
          </a:solidFill>
        </p:spPr>
        <p:txBody>
          <a:bodyPr wrap="square" rtlCol="0">
            <a:spAutoFit/>
          </a:bodyPr>
          <a:lstStyle/>
          <a:p>
            <a:r>
              <a:rPr lang="en-US" sz="500" dirty="0"/>
              <a:t>Contraction Force (N)</a:t>
            </a:r>
          </a:p>
        </p:txBody>
      </p:sp>
    </p:spTree>
    <p:extLst>
      <p:ext uri="{BB962C8B-B14F-4D97-AF65-F5344CB8AC3E}">
        <p14:creationId xmlns:p14="http://schemas.microsoft.com/office/powerpoint/2010/main" val="1811657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500"/>
                                        <p:tgtEl>
                                          <p:spTgt spid="3">
                                            <p:txEl>
                                              <p:pRg st="7" end="7"/>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fade">
                                      <p:cBhvr>
                                        <p:cTn id="5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8148E-791D-6FD7-C002-E8C713FE1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38378-FB3C-D24B-9B24-A389D8F56BF7}"/>
              </a:ext>
            </a:extLst>
          </p:cNvPr>
          <p:cNvSpPr>
            <a:spLocks noGrp="1"/>
          </p:cNvSpPr>
          <p:nvPr>
            <p:ph type="title"/>
          </p:nvPr>
        </p:nvSpPr>
        <p:spPr/>
        <p:txBody>
          <a:bodyPr>
            <a:normAutofit/>
          </a:bodyPr>
          <a:lstStyle/>
          <a:p>
            <a:r>
              <a:rPr lang="en-US" sz="4100" dirty="0">
                <a:latin typeface="Times New Roman" panose="02020603050405020304" pitchFamily="18" charset="0"/>
                <a:cs typeface="Times New Roman" panose="02020603050405020304" pitchFamily="18" charset="0"/>
              </a:rPr>
              <a:t>Statistical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99EEE3-665B-E7E2-3F75-13AD51071E70}"/>
                  </a:ext>
                </a:extLst>
              </p:cNvPr>
              <p:cNvSpPr>
                <a:spLocks noGrp="1"/>
              </p:cNvSpPr>
              <p:nvPr>
                <p:ph idx="1"/>
              </p:nvPr>
            </p:nvSpPr>
            <p:spPr>
              <a:xfrm>
                <a:off x="838200" y="1520825"/>
                <a:ext cx="9898626" cy="4351338"/>
              </a:xfrm>
            </p:spPr>
            <p:txBody>
              <a:bodyPr>
                <a:noAutofit/>
              </a:bodyPr>
              <a:lstStyle/>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Normality and homogeneity of variance of data were evaluated using the Shapiro-Wilk and Levene’s tests, respectively.</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Small sample sizes may necessitate non-parametric testing over data transformation/outlier removal.</a:t>
                </a:r>
              </a:p>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Baseline comparisons between groups, and comparisons of mitochondrial function, critical impulse, and vascular responses between groups for each stimulus, at each intensity, were performed using independent t-tests.</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Mann-Whitney tests were used in the event of a violation of normality and/or homogeneity of variance</a:t>
                </a:r>
                <a:r>
                  <a:rPr lang="en-US" sz="800" dirty="0">
                    <a:latin typeface="Times New Roman" panose="02020603050405020304" pitchFamily="18" charset="0"/>
                    <a:ea typeface="SimSun" panose="02010600030101010101" pitchFamily="2" charset="-122"/>
                    <a:cs typeface="Times New Roman" panose="02020603050405020304" pitchFamily="18" charset="0"/>
                  </a:rPr>
                  <a:t>.</a:t>
                </a:r>
              </a:p>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An interaction between training stratus and stimulus intensity for each stimulus type was evaluated using a 2-way, repeated-measures ANOVA.</a:t>
                </a:r>
              </a:p>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Initial analyses were conducted in Sigma-Plot and standard statistical software. ANOVAs and figures were re-assessed following additional data collection using R-Studio to ensure reproducibility.</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R packages: ggplot2, tidyverse, Hmisc, afex, readxl, car, stats, coin, dplyr, rstatix</a:t>
                </a:r>
              </a:p>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Significance were set at </a:t>
                </a:r>
                <a14:m>
                  <m:oMath xmlns:m="http://schemas.openxmlformats.org/officeDocument/2006/math">
                    <m:r>
                      <a:rPr lang="en-US"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000" dirty="0">
                    <a:latin typeface="Times New Roman" panose="02020603050405020304" pitchFamily="18" charset="0"/>
                    <a:ea typeface="SimSun" panose="02010600030101010101" pitchFamily="2" charset="-122"/>
                    <a:cs typeface="Times New Roman" panose="02020603050405020304" pitchFamily="18" charset="0"/>
                  </a:rPr>
                  <a:t>0.05 for all statistical tests.</a:t>
                </a:r>
              </a:p>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Effect sizes are listed as d (independent t-test), r (Mann-Whitney test), and </a:t>
                </a:r>
                <a14:m>
                  <m:oMath xmlns:m="http://schemas.openxmlformats.org/officeDocument/2006/math">
                    <m:r>
                      <a:rPr lang="en-US" sz="2000" i="1">
                        <a:latin typeface="Cambria Math" panose="02040503050406030204" pitchFamily="18" charset="0"/>
                      </a:rPr>
                      <m:t>𝜂</m:t>
                    </m:r>
                  </m:oMath>
                </a14:m>
                <a:r>
                  <a:rPr lang="en-US" sz="2000" baseline="-25000" dirty="0">
                    <a:latin typeface="Times New Roman" panose="02020603050405020304" pitchFamily="18" charset="0"/>
                    <a:cs typeface="Times New Roman" panose="02020603050405020304" pitchFamily="18" charset="0"/>
                  </a:rPr>
                  <a:t>p</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(ANOVA)</a:t>
                </a:r>
              </a:p>
              <a:p>
                <a:pPr>
                  <a:lnSpc>
                    <a:spcPct val="100000"/>
                  </a:lnSpc>
                  <a:spcBef>
                    <a:spcPts val="0"/>
                  </a:spcBef>
                </a:pPr>
                <a:endParaRPr 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8A99EEE3-665B-E7E2-3F75-13AD51071E70}"/>
                  </a:ext>
                </a:extLst>
              </p:cNvPr>
              <p:cNvSpPr>
                <a:spLocks noGrp="1" noRot="1" noChangeAspect="1" noMove="1" noResize="1" noEditPoints="1" noAdjustHandles="1" noChangeArrowheads="1" noChangeShapeType="1" noTextEdit="1"/>
              </p:cNvSpPr>
              <p:nvPr>
                <p:ph idx="1"/>
              </p:nvPr>
            </p:nvSpPr>
            <p:spPr>
              <a:xfrm>
                <a:off x="838200" y="1520825"/>
                <a:ext cx="9898626" cy="4351338"/>
              </a:xfrm>
              <a:blipFill>
                <a:blip r:embed="rId2"/>
                <a:stretch>
                  <a:fillRect l="-555" t="-700" b="-5462"/>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236F4B0-4EF3-71F4-5A1D-8CE71FD1E936}"/>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27684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43E12-7E55-B0FE-B6FF-0A601AACA91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F1779A5-4C22-C43C-9853-1D13DD29BC2B}"/>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mc:AlternateContent xmlns:mc="http://schemas.openxmlformats.org/markup-compatibility/2006" xmlns:a14="http://schemas.microsoft.com/office/drawing/2010/main">
        <mc:Choice Requires="a14">
          <p:sp>
            <p:nvSpPr>
              <p:cNvPr id="3" name="Title 1">
                <a:extLst>
                  <a:ext uri="{FF2B5EF4-FFF2-40B4-BE49-F238E27FC236}">
                    <a16:creationId xmlns:a16="http://schemas.microsoft.com/office/drawing/2014/main" id="{3038C0F3-C5D2-EF9D-553B-56EC61B7ED58}"/>
                  </a:ext>
                </a:extLst>
              </p:cNvPr>
              <p:cNvSpPr txBox="1">
                <a:spLocks/>
              </p:cNvSpPr>
              <p:nvPr/>
            </p:nvSpPr>
            <p:spPr>
              <a:xfrm>
                <a:off x="405331" y="12048"/>
                <a:ext cx="1203277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latin typeface="Times New Roman" panose="02020603050405020304" pitchFamily="18" charset="0"/>
                    <a:cs typeface="Times New Roman" panose="02020603050405020304" pitchFamily="18" charset="0"/>
                  </a:rPr>
                  <a:t>Results – Absolute Voluntary Contraction: </a:t>
                </a:r>
                <a14:m>
                  <m:oMath xmlns:m="http://schemas.openxmlformats.org/officeDocument/2006/math">
                    <m:r>
                      <a:rPr lang="en-US" sz="3300" i="1">
                        <a:latin typeface="Cambria Math" panose="02040503050406030204" pitchFamily="18" charset="0"/>
                        <a:ea typeface="Aptos" panose="020B0004020202020204" pitchFamily="34" charset="0"/>
                        <a:cs typeface="Times New Roman" panose="02020603050405020304" pitchFamily="18" charset="0"/>
                      </a:rPr>
                      <m:t>∆</m:t>
                    </m:r>
                  </m:oMath>
                </a14:m>
                <a:r>
                  <a:rPr lang="en-US" sz="3300" dirty="0">
                    <a:latin typeface="Times New Roman" panose="02020603050405020304" pitchFamily="18" charset="0"/>
                    <a:ea typeface="Times New Roman" panose="02020603050405020304" pitchFamily="18" charset="0"/>
                  </a:rPr>
                  <a:t>FVC</a:t>
                </a:r>
                <a:r>
                  <a:rPr lang="en-US" sz="3300" baseline="-25000" dirty="0">
                    <a:latin typeface="Times New Roman" panose="02020603050405020304" pitchFamily="18" charset="0"/>
                    <a:ea typeface="Times New Roman" panose="02020603050405020304" pitchFamily="18" charset="0"/>
                  </a:rPr>
                  <a:t>peak</a:t>
                </a:r>
                <a:r>
                  <a:rPr lang="en-US" sz="3300" dirty="0">
                    <a:latin typeface="Times New Roman" panose="02020603050405020304" pitchFamily="18" charset="0"/>
                    <a:cs typeface="Times New Roman" panose="02020603050405020304" pitchFamily="18" charset="0"/>
                  </a:rPr>
                  <a:t> and </a:t>
                </a:r>
                <a14:m>
                  <m:oMath xmlns:m="http://schemas.openxmlformats.org/officeDocument/2006/math">
                    <m:r>
                      <a:rPr lang="en-US" sz="3300" i="1" smtClean="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3300" dirty="0">
                    <a:latin typeface="Times New Roman" panose="02020603050405020304" pitchFamily="18" charset="0"/>
                    <a:ea typeface="Times New Roman" panose="02020603050405020304" pitchFamily="18" charset="0"/>
                  </a:rPr>
                  <a:t>FVC</a:t>
                </a:r>
                <a:r>
                  <a:rPr lang="en-US" sz="3300" baseline="-25000" dirty="0">
                    <a:latin typeface="Times New Roman" panose="02020603050405020304" pitchFamily="18" charset="0"/>
                    <a:ea typeface="Times New Roman" panose="02020603050405020304" pitchFamily="18" charset="0"/>
                  </a:rPr>
                  <a:t>total</a:t>
                </a:r>
                <a:endParaRPr lang="en-US" sz="3300" dirty="0">
                  <a:latin typeface="Times New Roman" panose="02020603050405020304" pitchFamily="18" charset="0"/>
                  <a:cs typeface="Times New Roman" panose="02020603050405020304" pitchFamily="18" charset="0"/>
                </a:endParaRPr>
              </a:p>
            </p:txBody>
          </p:sp>
        </mc:Choice>
        <mc:Fallback xmlns="">
          <p:sp>
            <p:nvSpPr>
              <p:cNvPr id="3" name="Title 1">
                <a:extLst>
                  <a:ext uri="{FF2B5EF4-FFF2-40B4-BE49-F238E27FC236}">
                    <a16:creationId xmlns:a16="http://schemas.microsoft.com/office/drawing/2014/main" id="{3038C0F3-C5D2-EF9D-553B-56EC61B7ED58}"/>
                  </a:ext>
                </a:extLst>
              </p:cNvPr>
              <p:cNvSpPr txBox="1">
                <a:spLocks noRot="1" noChangeAspect="1" noMove="1" noResize="1" noEditPoints="1" noAdjustHandles="1" noChangeArrowheads="1" noChangeShapeType="1" noTextEdit="1"/>
              </p:cNvSpPr>
              <p:nvPr/>
            </p:nvSpPr>
            <p:spPr>
              <a:xfrm>
                <a:off x="405331" y="12048"/>
                <a:ext cx="12032776" cy="1325563"/>
              </a:xfrm>
              <a:prstGeom prst="rect">
                <a:avLst/>
              </a:prstGeom>
              <a:blipFill>
                <a:blip r:embed="rId5"/>
                <a:stretch>
                  <a:fillRect l="-1368"/>
                </a:stretch>
              </a:blipFill>
            </p:spPr>
            <p:txBody>
              <a:bodyPr/>
              <a:lstStyle/>
              <a:p>
                <a:r>
                  <a:rPr lang="en-US">
                    <a:noFill/>
                  </a:rPr>
                  <a:t> </a:t>
                </a:r>
              </a:p>
            </p:txBody>
          </p:sp>
        </mc:Fallback>
      </mc:AlternateContent>
      <p:pic>
        <p:nvPicPr>
          <p:cNvPr id="2" name="Picture 1" descr="A graph of a number of gray and black bars&#10;&#10;AI-generated content may be incorrect.">
            <a:extLst>
              <a:ext uri="{FF2B5EF4-FFF2-40B4-BE49-F238E27FC236}">
                <a16:creationId xmlns:a16="http://schemas.microsoft.com/office/drawing/2014/main" id="{9E53ECA1-94DF-E56E-62B7-3376F6D7B72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6810" y="1361086"/>
            <a:ext cx="5902845" cy="4237607"/>
          </a:xfrm>
          <a:prstGeom prst="rect">
            <a:avLst/>
          </a:prstGeom>
        </p:spPr>
      </p:pic>
      <p:pic>
        <p:nvPicPr>
          <p:cNvPr id="5" name="Picture 4" descr="A graph of a graph of a number of different colored bars&#10;&#10;AI-generated content may be incorrect.">
            <a:extLst>
              <a:ext uri="{FF2B5EF4-FFF2-40B4-BE49-F238E27FC236}">
                <a16:creationId xmlns:a16="http://schemas.microsoft.com/office/drawing/2014/main" id="{72D0099F-69DD-7DB1-67CB-73CE3150E7C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27230" y="1361453"/>
            <a:ext cx="5902845" cy="4237242"/>
          </a:xfrm>
          <a:prstGeom prst="rect">
            <a:avLst/>
          </a:prstGeom>
        </p:spPr>
      </p:pic>
      <p:sp>
        <p:nvSpPr>
          <p:cNvPr id="6" name="TextBox 5">
            <a:extLst>
              <a:ext uri="{FF2B5EF4-FFF2-40B4-BE49-F238E27FC236}">
                <a16:creationId xmlns:a16="http://schemas.microsoft.com/office/drawing/2014/main" id="{ED59BF57-3775-9D4D-0073-F594A6BA9DFE}"/>
              </a:ext>
            </a:extLst>
          </p:cNvPr>
          <p:cNvSpPr txBox="1"/>
          <p:nvPr/>
        </p:nvSpPr>
        <p:spPr>
          <a:xfrm>
            <a:off x="206810" y="6332365"/>
            <a:ext cx="6460882" cy="307392"/>
          </a:xfrm>
          <a:prstGeom prst="rect">
            <a:avLst/>
          </a:prstGeom>
          <a:noFill/>
        </p:spPr>
        <p:txBody>
          <a:bodyPr wrap="square" rtlCol="0">
            <a:spAutoFit/>
          </a:bodyPr>
          <a:lstStyle/>
          <a:p>
            <a:pPr>
              <a:lnSpc>
                <a:spcPct val="107000"/>
              </a:lnSpc>
              <a:spcBef>
                <a:spcPts val="0"/>
              </a:spcBef>
              <a:spcAft>
                <a:spcPts val="800"/>
              </a:spcAft>
            </a:pPr>
            <a:r>
              <a:rPr lang="en-US" sz="1400" dirty="0">
                <a:effectLst/>
                <a:latin typeface="Times New Roman" panose="02020603050405020304" pitchFamily="18" charset="0"/>
                <a:ea typeface="SimSun" panose="02010600030101010101" pitchFamily="2" charset="-122"/>
                <a:cs typeface="Times New Roman" panose="02020603050405020304" pitchFamily="18" charset="0"/>
              </a:rPr>
              <a:t>* Indicates significance between groups at a specific intensity level.</a:t>
            </a:r>
          </a:p>
        </p:txBody>
      </p:sp>
      <p:sp>
        <p:nvSpPr>
          <p:cNvPr id="7" name="TextBox 6">
            <a:extLst>
              <a:ext uri="{FF2B5EF4-FFF2-40B4-BE49-F238E27FC236}">
                <a16:creationId xmlns:a16="http://schemas.microsoft.com/office/drawing/2014/main" id="{928DAB46-029D-D06E-D60B-DAE522081A80}"/>
              </a:ext>
            </a:extLst>
          </p:cNvPr>
          <p:cNvSpPr txBox="1"/>
          <p:nvPr/>
        </p:nvSpPr>
        <p:spPr>
          <a:xfrm>
            <a:off x="312897" y="5578837"/>
            <a:ext cx="11321640" cy="368755"/>
          </a:xfrm>
          <a:prstGeom prst="rect">
            <a:avLst/>
          </a:prstGeom>
          <a:noFill/>
        </p:spPr>
        <p:txBody>
          <a:bodyPr wrap="square" rtlCol="0">
            <a:spAutoFit/>
          </a:bodyPr>
          <a:lstStyle/>
          <a:p>
            <a:pPr marL="285750" indent="-285750">
              <a:lnSpc>
                <a:spcPct val="107000"/>
              </a:lnSpc>
              <a:spcBef>
                <a:spcPts val="0"/>
              </a:spcBef>
              <a:spcAft>
                <a:spcPts val="800"/>
              </a:spcAft>
              <a:buFont typeface="Arial" panose="020B0604020202020204" pitchFamily="34" charset="0"/>
              <a:buChar char="•"/>
            </a:pPr>
            <a:r>
              <a:rPr lang="en-US" dirty="0">
                <a:effectLst/>
                <a:latin typeface="Times New Roman" panose="02020603050405020304" pitchFamily="18" charset="0"/>
                <a:ea typeface="SimSun" panose="02010600030101010101" pitchFamily="2" charset="-122"/>
                <a:cs typeface="Times New Roman" panose="02020603050405020304" pitchFamily="18" charset="0"/>
              </a:rPr>
              <a:t> Trained subjects displayed enhanced ROV responses across all conditions compared to sedentary counterparts</a:t>
            </a:r>
            <a:r>
              <a:rPr lang="en-US" dirty="0">
                <a:latin typeface="Times New Roman" panose="02020603050405020304" pitchFamily="18" charset="0"/>
                <a:ea typeface="SimSun" panose="02010600030101010101" pitchFamily="2" charset="-122"/>
                <a:cs typeface="Times New Roman" panose="02020603050405020304" pitchFamily="18" charset="0"/>
              </a:rPr>
              <a:t>.</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1475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777F-EC8C-144E-78A0-7326B0346A4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327ADF8-1CCD-99EA-1856-1712132C1E60}"/>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mc:AlternateContent xmlns:mc="http://schemas.openxmlformats.org/markup-compatibility/2006" xmlns:a14="http://schemas.microsoft.com/office/drawing/2010/main">
        <mc:Choice Requires="a14">
          <p:sp>
            <p:nvSpPr>
              <p:cNvPr id="3" name="Title 1">
                <a:extLst>
                  <a:ext uri="{FF2B5EF4-FFF2-40B4-BE49-F238E27FC236}">
                    <a16:creationId xmlns:a16="http://schemas.microsoft.com/office/drawing/2014/main" id="{3644352C-483C-70A5-93CF-DA3BD7BC67DF}"/>
                  </a:ext>
                </a:extLst>
              </p:cNvPr>
              <p:cNvSpPr txBox="1">
                <a:spLocks/>
              </p:cNvSpPr>
              <p:nvPr/>
            </p:nvSpPr>
            <p:spPr>
              <a:xfrm>
                <a:off x="405331" y="12048"/>
                <a:ext cx="1203277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latin typeface="Times New Roman" panose="02020603050405020304" pitchFamily="18" charset="0"/>
                    <a:cs typeface="Times New Roman" panose="02020603050405020304" pitchFamily="18" charset="0"/>
                  </a:rPr>
                  <a:t>Results – Involuntary Contraction: </a:t>
                </a:r>
                <a14:m>
                  <m:oMath xmlns:m="http://schemas.openxmlformats.org/officeDocument/2006/math">
                    <m:r>
                      <a:rPr lang="en-US" sz="3300" i="1">
                        <a:latin typeface="Cambria Math" panose="02040503050406030204" pitchFamily="18" charset="0"/>
                        <a:ea typeface="Aptos" panose="020B0004020202020204" pitchFamily="34" charset="0"/>
                        <a:cs typeface="Times New Roman" panose="02020603050405020304" pitchFamily="18" charset="0"/>
                      </a:rPr>
                      <m:t>∆</m:t>
                    </m:r>
                  </m:oMath>
                </a14:m>
                <a:r>
                  <a:rPr lang="en-US" sz="3300" dirty="0">
                    <a:latin typeface="Times New Roman" panose="02020603050405020304" pitchFamily="18" charset="0"/>
                    <a:ea typeface="Times New Roman" panose="02020603050405020304" pitchFamily="18" charset="0"/>
                  </a:rPr>
                  <a:t>FVC</a:t>
                </a:r>
                <a:r>
                  <a:rPr lang="en-US" sz="3300" baseline="-25000" dirty="0">
                    <a:latin typeface="Times New Roman" panose="02020603050405020304" pitchFamily="18" charset="0"/>
                    <a:ea typeface="Times New Roman" panose="02020603050405020304" pitchFamily="18" charset="0"/>
                  </a:rPr>
                  <a:t>peak</a:t>
                </a:r>
                <a:r>
                  <a:rPr lang="en-US" sz="3300" dirty="0">
                    <a:latin typeface="Times New Roman" panose="02020603050405020304" pitchFamily="18" charset="0"/>
                    <a:cs typeface="Times New Roman" panose="02020603050405020304" pitchFamily="18" charset="0"/>
                  </a:rPr>
                  <a:t> and </a:t>
                </a:r>
                <a14:m>
                  <m:oMath xmlns:m="http://schemas.openxmlformats.org/officeDocument/2006/math">
                    <m:r>
                      <a:rPr lang="en-US" sz="3300" i="1" smtClean="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3300" dirty="0">
                    <a:latin typeface="Times New Roman" panose="02020603050405020304" pitchFamily="18" charset="0"/>
                    <a:ea typeface="Times New Roman" panose="02020603050405020304" pitchFamily="18" charset="0"/>
                  </a:rPr>
                  <a:t>FVC</a:t>
                </a:r>
                <a:r>
                  <a:rPr lang="en-US" sz="3300" baseline="-25000" dirty="0">
                    <a:latin typeface="Times New Roman" panose="02020603050405020304" pitchFamily="18" charset="0"/>
                    <a:ea typeface="Times New Roman" panose="02020603050405020304" pitchFamily="18" charset="0"/>
                  </a:rPr>
                  <a:t>total</a:t>
                </a:r>
                <a:endParaRPr lang="en-US" sz="3300" dirty="0">
                  <a:latin typeface="Times New Roman" panose="02020603050405020304" pitchFamily="18" charset="0"/>
                  <a:cs typeface="Times New Roman" panose="02020603050405020304" pitchFamily="18" charset="0"/>
                </a:endParaRPr>
              </a:p>
            </p:txBody>
          </p:sp>
        </mc:Choice>
        <mc:Fallback xmlns="">
          <p:sp>
            <p:nvSpPr>
              <p:cNvPr id="3" name="Title 1">
                <a:extLst>
                  <a:ext uri="{FF2B5EF4-FFF2-40B4-BE49-F238E27FC236}">
                    <a16:creationId xmlns:a16="http://schemas.microsoft.com/office/drawing/2014/main" id="{3644352C-483C-70A5-93CF-DA3BD7BC67DF}"/>
                  </a:ext>
                </a:extLst>
              </p:cNvPr>
              <p:cNvSpPr txBox="1">
                <a:spLocks noRot="1" noChangeAspect="1" noMove="1" noResize="1" noEditPoints="1" noAdjustHandles="1" noChangeArrowheads="1" noChangeShapeType="1" noTextEdit="1"/>
              </p:cNvSpPr>
              <p:nvPr/>
            </p:nvSpPr>
            <p:spPr>
              <a:xfrm>
                <a:off x="405331" y="12048"/>
                <a:ext cx="12032776" cy="1325563"/>
              </a:xfrm>
              <a:prstGeom prst="rect">
                <a:avLst/>
              </a:prstGeom>
              <a:blipFill>
                <a:blip r:embed="rId3"/>
                <a:stretch>
                  <a:fillRect l="-1368"/>
                </a:stretch>
              </a:blipFill>
            </p:spPr>
            <p:txBody>
              <a:bodyPr/>
              <a:lstStyle/>
              <a:p>
                <a:r>
                  <a:rPr lang="en-US">
                    <a:noFill/>
                  </a:rPr>
                  <a:t> </a:t>
                </a:r>
              </a:p>
            </p:txBody>
          </p:sp>
        </mc:Fallback>
      </mc:AlternateContent>
      <p:pic>
        <p:nvPicPr>
          <p:cNvPr id="6" name="Picture 5" descr="A graph of a number of gray and black bars&#10;&#10;AI-generated content may be incorrect.">
            <a:extLst>
              <a:ext uri="{FF2B5EF4-FFF2-40B4-BE49-F238E27FC236}">
                <a16:creationId xmlns:a16="http://schemas.microsoft.com/office/drawing/2014/main" id="{6D4BE39F-F9DC-5F80-3C86-175372C443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8892" y="1298457"/>
            <a:ext cx="5935953" cy="4261085"/>
          </a:xfrm>
          <a:prstGeom prst="rect">
            <a:avLst/>
          </a:prstGeom>
        </p:spPr>
      </p:pic>
      <p:pic>
        <p:nvPicPr>
          <p:cNvPr id="7" name="Picture 6" descr="A graph of a number of gray and black bars&#10;&#10;AI-generated content may be incorrect.">
            <a:extLst>
              <a:ext uri="{FF2B5EF4-FFF2-40B4-BE49-F238E27FC236}">
                <a16:creationId xmlns:a16="http://schemas.microsoft.com/office/drawing/2014/main" id="{1703D33D-905D-3894-1EA0-AF7D711709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64664" y="1292622"/>
            <a:ext cx="5998444" cy="4306072"/>
          </a:xfrm>
          <a:prstGeom prst="rect">
            <a:avLst/>
          </a:prstGeom>
        </p:spPr>
      </p:pic>
      <p:sp>
        <p:nvSpPr>
          <p:cNvPr id="9" name="TextBox 8">
            <a:extLst>
              <a:ext uri="{FF2B5EF4-FFF2-40B4-BE49-F238E27FC236}">
                <a16:creationId xmlns:a16="http://schemas.microsoft.com/office/drawing/2014/main" id="{A8BFED70-FDEA-45ED-F8DE-9411B7124A78}"/>
              </a:ext>
            </a:extLst>
          </p:cNvPr>
          <p:cNvSpPr txBox="1"/>
          <p:nvPr/>
        </p:nvSpPr>
        <p:spPr>
          <a:xfrm>
            <a:off x="312897" y="5578837"/>
            <a:ext cx="11321640" cy="368755"/>
          </a:xfrm>
          <a:prstGeom prst="rect">
            <a:avLst/>
          </a:prstGeom>
          <a:noFill/>
        </p:spPr>
        <p:txBody>
          <a:bodyPr wrap="square" rtlCol="0">
            <a:spAutoFit/>
          </a:bodyPr>
          <a:lstStyle/>
          <a:p>
            <a:pPr marL="285750" indent="-285750">
              <a:lnSpc>
                <a:spcPct val="107000"/>
              </a:lnSpc>
              <a:spcBef>
                <a:spcPts val="0"/>
              </a:spcBef>
              <a:spcAft>
                <a:spcPts val="800"/>
              </a:spcAft>
              <a:buFont typeface="Arial" panose="020B0604020202020204" pitchFamily="34" charset="0"/>
              <a:buChar char="•"/>
            </a:pPr>
            <a:r>
              <a:rPr lang="en-US" dirty="0">
                <a:effectLst/>
                <a:latin typeface="Times New Roman" panose="02020603050405020304" pitchFamily="18" charset="0"/>
                <a:ea typeface="SimSun" panose="02010600030101010101" pitchFamily="2" charset="-122"/>
                <a:cs typeface="Times New Roman" panose="02020603050405020304" pitchFamily="18" charset="0"/>
              </a:rPr>
              <a:t> Trained subjects displayed enhanced ROV responses across all conditions compared to sedentary counterparts.</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3165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C3EA5-47B8-544E-6E75-4CDEE4FDCBD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81B26A-5DD2-D348-22F8-137D3B37C8D1}"/>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mc:AlternateContent xmlns:mc="http://schemas.openxmlformats.org/markup-compatibility/2006" xmlns:a14="http://schemas.microsoft.com/office/drawing/2010/main">
        <mc:Choice Requires="a14">
          <p:sp>
            <p:nvSpPr>
              <p:cNvPr id="3" name="Title 1">
                <a:extLst>
                  <a:ext uri="{FF2B5EF4-FFF2-40B4-BE49-F238E27FC236}">
                    <a16:creationId xmlns:a16="http://schemas.microsoft.com/office/drawing/2014/main" id="{FAEC071D-B213-F63C-C2B0-9A02A07E7500}"/>
                  </a:ext>
                </a:extLst>
              </p:cNvPr>
              <p:cNvSpPr txBox="1">
                <a:spLocks/>
              </p:cNvSpPr>
              <p:nvPr/>
            </p:nvSpPr>
            <p:spPr>
              <a:xfrm>
                <a:off x="345171" y="12048"/>
                <a:ext cx="1203277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Times New Roman" panose="02020603050405020304" pitchFamily="18" charset="0"/>
                    <a:cs typeface="Times New Roman" panose="02020603050405020304" pitchFamily="18" charset="0"/>
                  </a:rPr>
                  <a:t>Results – Mechanical Compression: </a:t>
                </a:r>
                <a14:m>
                  <m:oMath xmlns:m="http://schemas.openxmlformats.org/officeDocument/2006/math">
                    <m:r>
                      <a:rPr lang="en-US" sz="3000" i="1">
                        <a:latin typeface="Cambria Math" panose="02040503050406030204" pitchFamily="18" charset="0"/>
                        <a:ea typeface="Aptos" panose="020B0004020202020204" pitchFamily="34" charset="0"/>
                        <a:cs typeface="Times New Roman" panose="02020603050405020304" pitchFamily="18" charset="0"/>
                      </a:rPr>
                      <m:t>∆</m:t>
                    </m:r>
                  </m:oMath>
                </a14:m>
                <a:r>
                  <a:rPr lang="en-US" sz="3000" dirty="0">
                    <a:latin typeface="Times New Roman" panose="02020603050405020304" pitchFamily="18" charset="0"/>
                    <a:ea typeface="Times New Roman" panose="02020603050405020304" pitchFamily="18" charset="0"/>
                  </a:rPr>
                  <a:t>FVC</a:t>
                </a:r>
                <a:r>
                  <a:rPr lang="en-US" sz="3000" baseline="-25000" dirty="0">
                    <a:latin typeface="Times New Roman" panose="02020603050405020304" pitchFamily="18" charset="0"/>
                    <a:ea typeface="Times New Roman" panose="02020603050405020304" pitchFamily="18" charset="0"/>
                  </a:rPr>
                  <a:t>peak</a:t>
                </a:r>
                <a:r>
                  <a:rPr lang="en-US" sz="3000" dirty="0">
                    <a:latin typeface="Times New Roman" panose="02020603050405020304" pitchFamily="18" charset="0"/>
                    <a:cs typeface="Times New Roman" panose="02020603050405020304" pitchFamily="18" charset="0"/>
                  </a:rPr>
                  <a:t> and </a:t>
                </a:r>
                <a14:m>
                  <m:oMath xmlns:m="http://schemas.openxmlformats.org/officeDocument/2006/math">
                    <m:r>
                      <a:rPr lang="en-US" sz="3000" i="1" smtClean="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3000" dirty="0">
                    <a:latin typeface="Times New Roman" panose="02020603050405020304" pitchFamily="18" charset="0"/>
                    <a:ea typeface="Times New Roman" panose="02020603050405020304" pitchFamily="18" charset="0"/>
                  </a:rPr>
                  <a:t>FVC</a:t>
                </a:r>
                <a:r>
                  <a:rPr lang="en-US" sz="3000" baseline="-25000" dirty="0">
                    <a:latin typeface="Times New Roman" panose="02020603050405020304" pitchFamily="18" charset="0"/>
                    <a:ea typeface="Times New Roman" panose="02020603050405020304" pitchFamily="18" charset="0"/>
                  </a:rPr>
                  <a:t>total </a:t>
                </a:r>
                <a:r>
                  <a:rPr lang="en-US" sz="3000" dirty="0">
                    <a:latin typeface="Times New Roman" panose="02020603050405020304" pitchFamily="18" charset="0"/>
                    <a:ea typeface="Times New Roman" panose="02020603050405020304" pitchFamily="18" charset="0"/>
                  </a:rPr>
                  <a:t>(Exploratory)</a:t>
                </a:r>
                <a:endParaRPr lang="en-US" sz="3000" dirty="0">
                  <a:latin typeface="Times New Roman" panose="02020603050405020304" pitchFamily="18" charset="0"/>
                  <a:cs typeface="Times New Roman" panose="02020603050405020304" pitchFamily="18" charset="0"/>
                </a:endParaRPr>
              </a:p>
            </p:txBody>
          </p:sp>
        </mc:Choice>
        <mc:Fallback xmlns="">
          <p:sp>
            <p:nvSpPr>
              <p:cNvPr id="3" name="Title 1">
                <a:extLst>
                  <a:ext uri="{FF2B5EF4-FFF2-40B4-BE49-F238E27FC236}">
                    <a16:creationId xmlns:a16="http://schemas.microsoft.com/office/drawing/2014/main" id="{FAEC071D-B213-F63C-C2B0-9A02A07E7500}"/>
                  </a:ext>
                </a:extLst>
              </p:cNvPr>
              <p:cNvSpPr txBox="1">
                <a:spLocks noRot="1" noChangeAspect="1" noMove="1" noResize="1" noEditPoints="1" noAdjustHandles="1" noChangeArrowheads="1" noChangeShapeType="1" noTextEdit="1"/>
              </p:cNvSpPr>
              <p:nvPr/>
            </p:nvSpPr>
            <p:spPr>
              <a:xfrm>
                <a:off x="345171" y="12048"/>
                <a:ext cx="12032776" cy="1325563"/>
              </a:xfrm>
              <a:prstGeom prst="rect">
                <a:avLst/>
              </a:prstGeom>
              <a:blipFill>
                <a:blip r:embed="rId3"/>
                <a:stretch>
                  <a:fillRect l="-1216"/>
                </a:stretch>
              </a:blipFill>
            </p:spPr>
            <p:txBody>
              <a:bodyPr/>
              <a:lstStyle/>
              <a:p>
                <a:r>
                  <a:rPr lang="en-US">
                    <a:noFill/>
                  </a:rPr>
                  <a:t> </a:t>
                </a:r>
              </a:p>
            </p:txBody>
          </p:sp>
        </mc:Fallback>
      </mc:AlternateContent>
      <p:pic>
        <p:nvPicPr>
          <p:cNvPr id="6" name="Picture 5" descr="A graph of a graph of a graph&#10;&#10;AI-generated content may be incorrect.">
            <a:extLst>
              <a:ext uri="{FF2B5EF4-FFF2-40B4-BE49-F238E27FC236}">
                <a16:creationId xmlns:a16="http://schemas.microsoft.com/office/drawing/2014/main" id="{745C9855-BDBB-1EC2-EC39-18388CCE2A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466" y="1008427"/>
            <a:ext cx="5951171" cy="4272614"/>
          </a:xfrm>
          <a:prstGeom prst="rect">
            <a:avLst/>
          </a:prstGeom>
        </p:spPr>
      </p:pic>
      <p:pic>
        <p:nvPicPr>
          <p:cNvPr id="7" name="Picture 6" descr="A graph of a graph of a graph&#10;&#10;AI-generated content may be incorrect.">
            <a:extLst>
              <a:ext uri="{FF2B5EF4-FFF2-40B4-BE49-F238E27FC236}">
                <a16:creationId xmlns:a16="http://schemas.microsoft.com/office/drawing/2014/main" id="{9D3206A6-38C1-2F1F-E351-ADD2C80B2F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5146" y="1008427"/>
            <a:ext cx="5959165" cy="4278523"/>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ED82134-C36E-DC18-928E-06A4237B901E}"/>
                  </a:ext>
                </a:extLst>
              </p:cNvPr>
              <p:cNvSpPr txBox="1"/>
              <p:nvPr/>
            </p:nvSpPr>
            <p:spPr>
              <a:xfrm>
                <a:off x="312897" y="5322805"/>
                <a:ext cx="11321640" cy="1335815"/>
              </a:xfrm>
              <a:prstGeom prst="rect">
                <a:avLst/>
              </a:prstGeom>
              <a:noFill/>
            </p:spPr>
            <p:txBody>
              <a:bodyPr wrap="square" rtlCol="0">
                <a:spAutoFit/>
              </a:bodyPr>
              <a:lstStyle/>
              <a:p>
                <a:pPr marL="285750" indent="-285750">
                  <a:lnSpc>
                    <a:spcPct val="107000"/>
                  </a:lnSpc>
                  <a:spcBef>
                    <a:spcPts val="0"/>
                  </a:spcBef>
                  <a:spcAft>
                    <a:spcPts val="800"/>
                  </a:spcAft>
                  <a:buFont typeface="Arial" panose="020B0604020202020204" pitchFamily="34" charset="0"/>
                  <a:buChar char="•"/>
                </a:pPr>
                <a:r>
                  <a:rPr lang="en-US" dirty="0">
                    <a:effectLst/>
                    <a:latin typeface="Times New Roman" panose="02020603050405020304" pitchFamily="18" charset="0"/>
                    <a:ea typeface="SimSun" panose="02010600030101010101" pitchFamily="2" charset="-122"/>
                    <a:cs typeface="Times New Roman" panose="02020603050405020304" pitchFamily="18" charset="0"/>
                  </a:rPr>
                  <a:t> Trained subjects displayed only </a:t>
                </a:r>
                <a:r>
                  <a:rPr lang="en-US" dirty="0">
                    <a:latin typeface="Times New Roman" panose="02020603050405020304" pitchFamily="18" charset="0"/>
                    <a:ea typeface="SimSun" panose="02010600030101010101" pitchFamily="2" charset="-122"/>
                    <a:cs typeface="Times New Roman" panose="02020603050405020304" pitchFamily="18" charset="0"/>
                  </a:rPr>
                  <a:t>limited </a:t>
                </a:r>
                <a:r>
                  <a:rPr lang="en-US" dirty="0">
                    <a:effectLst/>
                    <a:latin typeface="Times New Roman" panose="02020603050405020304" pitchFamily="18" charset="0"/>
                    <a:ea typeface="SimSun" panose="02010600030101010101" pitchFamily="2" charset="-122"/>
                    <a:cs typeface="Times New Roman" panose="02020603050405020304" pitchFamily="18" charset="0"/>
                  </a:rPr>
                  <a:t>enhanced ROV responses compared to sedentary counterparts across mechanical compression conditions.</a:t>
                </a:r>
              </a:p>
              <a:p>
                <a:pPr marL="742950" lvl="1" indent="-285750">
                  <a:lnSpc>
                    <a:spcPct val="107000"/>
                  </a:lnSpc>
                  <a:spcAft>
                    <a:spcPts val="800"/>
                  </a:spcAft>
                  <a:buFont typeface="Arial" panose="020B0604020202020204" pitchFamily="34" charset="0"/>
                  <a:buChar char="•"/>
                </a:pPr>
                <a14:m>
                  <m:oMath xmlns:m="http://schemas.openxmlformats.org/officeDocument/2006/math">
                    <m:r>
                      <a:rPr lang="en-US" sz="14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1400" dirty="0">
                    <a:latin typeface="Times New Roman" panose="02020603050405020304" pitchFamily="18" charset="0"/>
                    <a:ea typeface="SimSun" panose="02010600030101010101" pitchFamily="2" charset="-122"/>
                    <a:cs typeface="Times New Roman" panose="02020603050405020304" pitchFamily="18" charset="0"/>
                  </a:rPr>
                  <a:t>FVC</a:t>
                </a:r>
                <a:r>
                  <a:rPr lang="en-US" sz="1400" baseline="-25000" dirty="0">
                    <a:latin typeface="Times New Roman" panose="02020603050405020304" pitchFamily="18" charset="0"/>
                    <a:ea typeface="SimSun" panose="02010600030101010101" pitchFamily="2" charset="-122"/>
                    <a:cs typeface="Times New Roman" panose="02020603050405020304" pitchFamily="18" charset="0"/>
                  </a:rPr>
                  <a:t>total</a:t>
                </a:r>
                <a:r>
                  <a:rPr lang="en-US" sz="1400" dirty="0">
                    <a:latin typeface="Times New Roman" panose="02020603050405020304" pitchFamily="18" charset="0"/>
                    <a:ea typeface="SimSun" panose="02010600030101010101" pitchFamily="2" charset="-122"/>
                    <a:cs typeface="Times New Roman" panose="02020603050405020304" pitchFamily="18" charset="0"/>
                  </a:rPr>
                  <a:t> non-significant effect sizes: 50mmHg (d = 0.46), 200mmHg (d = 0.69)</a:t>
                </a:r>
              </a:p>
              <a:p>
                <a:pPr marL="742950" lvl="1" indent="-285750">
                  <a:lnSpc>
                    <a:spcPct val="107000"/>
                  </a:lnSpc>
                  <a:spcAft>
                    <a:spcPts val="800"/>
                  </a:spcAft>
                  <a:buFont typeface="Arial" panose="020B0604020202020204" pitchFamily="34" charset="0"/>
                  <a:buChar char="•"/>
                </a:pPr>
                <a14:m>
                  <m:oMath xmlns:m="http://schemas.openxmlformats.org/officeDocument/2006/math">
                    <m:r>
                      <a:rPr lang="en-US" sz="14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1400" dirty="0">
                    <a:latin typeface="Times New Roman" panose="02020603050405020304" pitchFamily="18" charset="0"/>
                    <a:ea typeface="SimSun" panose="02010600030101010101" pitchFamily="2" charset="-122"/>
                    <a:cs typeface="Times New Roman" panose="02020603050405020304" pitchFamily="18" charset="0"/>
                  </a:rPr>
                  <a:t>FVC</a:t>
                </a:r>
                <a:r>
                  <a:rPr lang="en-US" sz="1400" baseline="-25000" dirty="0">
                    <a:latin typeface="Times New Roman" panose="02020603050405020304" pitchFamily="18" charset="0"/>
                    <a:ea typeface="SimSun" panose="02010600030101010101" pitchFamily="2" charset="-122"/>
                    <a:cs typeface="Times New Roman" panose="02020603050405020304" pitchFamily="18" charset="0"/>
                  </a:rPr>
                  <a:t>peak</a:t>
                </a:r>
                <a:r>
                  <a:rPr lang="en-US" sz="1400" dirty="0">
                    <a:latin typeface="Times New Roman" panose="02020603050405020304" pitchFamily="18" charset="0"/>
                    <a:ea typeface="SimSun" panose="02010600030101010101" pitchFamily="2" charset="-122"/>
                    <a:cs typeface="Times New Roman" panose="02020603050405020304" pitchFamily="18" charset="0"/>
                  </a:rPr>
                  <a:t> effect sizes: 50mmHg (d = 0.5)</a:t>
                </a:r>
              </a:p>
            </p:txBody>
          </p:sp>
        </mc:Choice>
        <mc:Fallback>
          <p:sp>
            <p:nvSpPr>
              <p:cNvPr id="9" name="TextBox 8">
                <a:extLst>
                  <a:ext uri="{FF2B5EF4-FFF2-40B4-BE49-F238E27FC236}">
                    <a16:creationId xmlns:a16="http://schemas.microsoft.com/office/drawing/2014/main" id="{FED82134-C36E-DC18-928E-06A4237B901E}"/>
                  </a:ext>
                </a:extLst>
              </p:cNvPr>
              <p:cNvSpPr txBox="1">
                <a:spLocks noRot="1" noChangeAspect="1" noMove="1" noResize="1" noEditPoints="1" noAdjustHandles="1" noChangeArrowheads="1" noChangeShapeType="1" noTextEdit="1"/>
              </p:cNvSpPr>
              <p:nvPr/>
            </p:nvSpPr>
            <p:spPr>
              <a:xfrm>
                <a:off x="312897" y="5322805"/>
                <a:ext cx="11321640" cy="1335815"/>
              </a:xfrm>
              <a:prstGeom prst="rect">
                <a:avLst/>
              </a:prstGeom>
              <a:blipFill>
                <a:blip r:embed="rId6"/>
                <a:stretch>
                  <a:fillRect l="-323" t="-2283" b="-4110"/>
                </a:stretch>
              </a:blipFill>
            </p:spPr>
            <p:txBody>
              <a:bodyPr/>
              <a:lstStyle/>
              <a:p>
                <a:r>
                  <a:rPr lang="en-US">
                    <a:noFill/>
                  </a:rPr>
                  <a:t> </a:t>
                </a:r>
              </a:p>
            </p:txBody>
          </p:sp>
        </mc:Fallback>
      </mc:AlternateContent>
    </p:spTree>
    <p:extLst>
      <p:ext uri="{BB962C8B-B14F-4D97-AF65-F5344CB8AC3E}">
        <p14:creationId xmlns:p14="http://schemas.microsoft.com/office/powerpoint/2010/main" val="2678379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DD1DE2-2D18-C6C3-98D7-247BDFB4DDCE}"/>
              </a:ext>
            </a:extLst>
          </p:cNvPr>
          <p:cNvSpPr txBox="1">
            <a:spLocks noGrp="1"/>
          </p:cNvSpPr>
          <p:nvPr>
            <p:ph type="title"/>
          </p:nvPr>
        </p:nvSpPr>
        <p:spPr>
          <a:xfrm>
            <a:off x="260684" y="131264"/>
            <a:ext cx="10515600" cy="8432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dirty="0">
                <a:latin typeface="Times New Roman" panose="02020603050405020304" pitchFamily="18" charset="0"/>
                <a:cs typeface="Times New Roman" panose="02020603050405020304" pitchFamily="18" charset="0"/>
              </a:rPr>
              <a:t>Results – Percent Contributions</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331CE21B-B550-3EED-BE40-107E0AA6D781}"/>
                  </a:ext>
                </a:extLst>
              </p:cNvPr>
              <p:cNvGraphicFramePr>
                <a:graphicFrameLocks noGrp="1"/>
              </p:cNvGraphicFramePr>
              <p:nvPr>
                <p:extLst>
                  <p:ext uri="{D42A27DB-BD31-4B8C-83A1-F6EECF244321}">
                    <p14:modId xmlns:p14="http://schemas.microsoft.com/office/powerpoint/2010/main" val="3102031557"/>
                  </p:ext>
                </p:extLst>
              </p:nvPr>
            </p:nvGraphicFramePr>
            <p:xfrm>
              <a:off x="2101514" y="1188435"/>
              <a:ext cx="7844588" cy="2868892"/>
            </p:xfrm>
            <a:graphic>
              <a:graphicData uri="http://schemas.openxmlformats.org/drawingml/2006/table">
                <a:tbl>
                  <a:tblPr firstRow="1" firstCol="1" bandRow="1"/>
                  <a:tblGrid>
                    <a:gridCol w="3092578">
                      <a:extLst>
                        <a:ext uri="{9D8B030D-6E8A-4147-A177-3AD203B41FA5}">
                          <a16:colId xmlns:a16="http://schemas.microsoft.com/office/drawing/2014/main" val="3992088617"/>
                        </a:ext>
                      </a:extLst>
                    </a:gridCol>
                    <a:gridCol w="1357717">
                      <a:extLst>
                        <a:ext uri="{9D8B030D-6E8A-4147-A177-3AD203B41FA5}">
                          <a16:colId xmlns:a16="http://schemas.microsoft.com/office/drawing/2014/main" val="477045078"/>
                        </a:ext>
                      </a:extLst>
                    </a:gridCol>
                    <a:gridCol w="1659432">
                      <a:extLst>
                        <a:ext uri="{9D8B030D-6E8A-4147-A177-3AD203B41FA5}">
                          <a16:colId xmlns:a16="http://schemas.microsoft.com/office/drawing/2014/main" val="1255569093"/>
                        </a:ext>
                      </a:extLst>
                    </a:gridCol>
                    <a:gridCol w="754287">
                      <a:extLst>
                        <a:ext uri="{9D8B030D-6E8A-4147-A177-3AD203B41FA5}">
                          <a16:colId xmlns:a16="http://schemas.microsoft.com/office/drawing/2014/main" val="3967439544"/>
                        </a:ext>
                      </a:extLst>
                    </a:gridCol>
                    <a:gridCol w="980574">
                      <a:extLst>
                        <a:ext uri="{9D8B030D-6E8A-4147-A177-3AD203B41FA5}">
                          <a16:colId xmlns:a16="http://schemas.microsoft.com/office/drawing/2014/main" val="1545818388"/>
                        </a:ext>
                      </a:extLst>
                    </a:gridCol>
                  </a:tblGrid>
                  <a:tr h="366007">
                    <a:tc gridSpan="5">
                      <a:txBody>
                        <a:bodyPr/>
                        <a:lstStyle/>
                        <a:p>
                          <a:pPr marL="0" marR="0" fontAlgn="base">
                            <a:lnSpc>
                              <a:spcPct val="200000"/>
                            </a:lnSpc>
                            <a:spcAft>
                              <a:spcPts val="800"/>
                            </a:spcAft>
                            <a:buNone/>
                          </a:pPr>
                          <a:r>
                            <a:rPr lang="en-US"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Table 5. </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Relative Contributions of Mechanical and Chemical Mechanisms to </a:t>
                          </a:r>
                          <a14:m>
                            <m:oMath xmlns:m="http://schemas.openxmlformats.org/officeDocument/2006/math">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FVC</a:t>
                          </a:r>
                          <a:r>
                            <a:rPr lang="en-US" sz="1600" kern="100" baseline="-25000" dirty="0">
                              <a:effectLst/>
                              <a:latin typeface="Times New Roman" panose="02020603050405020304" pitchFamily="18" charset="0"/>
                              <a:ea typeface="Times New Roman" panose="02020603050405020304" pitchFamily="18" charset="0"/>
                              <a:cs typeface="Times New Roman" panose="02020603050405020304" pitchFamily="18" charset="0"/>
                            </a:rPr>
                            <a:t>total</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59632938"/>
                      </a:ext>
                    </a:extLst>
                  </a:tr>
                  <a:tr h="366007">
                    <a:tc>
                      <a:txBody>
                        <a:bodyPr/>
                        <a:lstStyle/>
                        <a:p>
                          <a:pPr marL="0" marR="0" algn="ctr" fontAlgn="base">
                            <a:lnSpc>
                              <a:spcPct val="200000"/>
                            </a:lnSpc>
                            <a:spcAft>
                              <a:spcPts val="800"/>
                            </a:spcAft>
                            <a:buNone/>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Trained</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n=8</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Sedentary</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n=8</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200" b="1" kern="100" dirty="0">
                              <a:effectLst/>
                              <a:latin typeface="Times New Roman" panose="02020603050405020304" pitchFamily="18" charset="0"/>
                              <a:ea typeface="Times New Roman" panose="02020603050405020304" pitchFamily="18" charset="0"/>
                              <a:cs typeface="Times New Roman" panose="02020603050405020304" pitchFamily="18" charset="0"/>
                            </a:rPr>
                            <a:t>p-value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200" b="1" kern="100" dirty="0">
                              <a:effectLst/>
                              <a:latin typeface="Times New Roman" panose="02020603050405020304" pitchFamily="18" charset="0"/>
                              <a:ea typeface="Times New Roman" panose="02020603050405020304" pitchFamily="18" charset="0"/>
                              <a:cs typeface="Times New Roman" panose="02020603050405020304" pitchFamily="18" charset="0"/>
                            </a:rPr>
                            <a:t>Effect Size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3801739"/>
                      </a:ext>
                    </a:extLst>
                  </a:tr>
                  <a:tr h="606446">
                    <a:tc>
                      <a:txBody>
                        <a:bodyPr/>
                        <a:lstStyle/>
                        <a:p>
                          <a:pPr marL="0" marR="0" algn="ctr" fontAlgn="base">
                            <a:lnSpc>
                              <a:spcPct val="115000"/>
                            </a:lnSpc>
                            <a:spcAft>
                              <a:spcPts val="800"/>
                            </a:spcAft>
                            <a:buNone/>
                          </a:pP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Chemical + Mechanical Contribution to 15kg</a:t>
                          </a:r>
                          <a14:m>
                            <m:oMath xmlns:m="http://schemas.openxmlformats.org/officeDocument/2006/math">
                              <m:r>
                                <a:rPr lang="en-US" sz="1400" b="1" i="1" kern="1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b="1" kern="100" baseline="-25000" dirty="0">
                              <a:effectLst/>
                              <a:latin typeface="Times New Roman" panose="02020603050405020304" pitchFamily="18" charset="0"/>
                              <a:ea typeface="Times New Roman" panose="02020603050405020304" pitchFamily="18" charset="0"/>
                              <a:cs typeface="Times New Roman" panose="02020603050405020304" pitchFamily="18" charset="0"/>
                            </a:rPr>
                            <a:t>FVCtotal </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fontAlgn="base">
                            <a:lnSpc>
                              <a:spcPct val="200000"/>
                            </a:lnSpc>
                            <a:spcAft>
                              <a:spcPts val="800"/>
                            </a:spcAft>
                            <a:buNone/>
                          </a:pP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72.72 ± 20.58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fontAlgn="base">
                            <a:lnSpc>
                              <a:spcPct val="200000"/>
                            </a:lnSpc>
                            <a:spcAft>
                              <a:spcPts val="800"/>
                            </a:spcAft>
                            <a:buNone/>
                          </a:pPr>
                          <a:r>
                            <a:rPr lang="en-US" sz="1400" kern="100">
                              <a:effectLst/>
                              <a:latin typeface="Times New Roman" panose="02020603050405020304" pitchFamily="18" charset="0"/>
                              <a:ea typeface="Times New Roman" panose="02020603050405020304" pitchFamily="18" charset="0"/>
                              <a:cs typeface="Times New Roman" panose="02020603050405020304" pitchFamily="18" charset="0"/>
                            </a:rPr>
                            <a:t>94.28 ± 23.69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fontAlgn="base">
                            <a:lnSpc>
                              <a:spcPct val="200000"/>
                            </a:lnSpc>
                            <a:spcAft>
                              <a:spcPts val="800"/>
                            </a:spcAft>
                            <a:buNone/>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p=0.04*</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fontAlgn="base">
                            <a:lnSpc>
                              <a:spcPct val="200000"/>
                            </a:lnSpc>
                            <a:spcAft>
                              <a:spcPts val="800"/>
                            </a:spcAft>
                            <a:buNone/>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r=0.53</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47823022"/>
                      </a:ext>
                    </a:extLst>
                  </a:tr>
                  <a:tr h="637433">
                    <a:tc>
                      <a:txBody>
                        <a:bodyPr/>
                        <a:lstStyle/>
                        <a:p>
                          <a:pPr marL="0" marR="0" algn="ctr" fontAlgn="base">
                            <a:lnSpc>
                              <a:spcPct val="115000"/>
                            </a:lnSpc>
                            <a:spcAft>
                              <a:spcPts val="800"/>
                            </a:spcAft>
                            <a:buNone/>
                          </a:pP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Chemical + Mechanical Contribution to MVC</a:t>
                          </a:r>
                          <a14:m>
                            <m:oMath xmlns:m="http://schemas.openxmlformats.org/officeDocument/2006/math">
                              <m:r>
                                <a:rPr lang="en-US" sz="1400" b="1" i="1" kern="1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b="1" kern="100" baseline="-25000" dirty="0">
                              <a:effectLst/>
                              <a:latin typeface="Times New Roman" panose="02020603050405020304" pitchFamily="18" charset="0"/>
                              <a:ea typeface="Times New Roman" panose="02020603050405020304" pitchFamily="18" charset="0"/>
                              <a:cs typeface="Times New Roman" panose="02020603050405020304" pitchFamily="18" charset="0"/>
                            </a:rPr>
                            <a:t>FVCtotal </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a:noFill/>
                        </a:lnB>
                        <a:noFill/>
                      </a:tcPr>
                    </a:tc>
                    <a:tc>
                      <a:txBody>
                        <a:bodyPr/>
                        <a:lstStyle/>
                        <a:p>
                          <a:pPr marL="0" marR="0" algn="ctr" fontAlgn="base">
                            <a:lnSpc>
                              <a:spcPct val="200000"/>
                            </a:lnSpc>
                            <a:spcAft>
                              <a:spcPts val="800"/>
                            </a:spcAft>
                            <a:buNone/>
                          </a:pP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53.51 ± 14.36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a:noFill/>
                        </a:lnB>
                        <a:noFill/>
                      </a:tcPr>
                    </a:tc>
                    <a:tc>
                      <a:txBody>
                        <a:bodyPr/>
                        <a:lstStyle/>
                        <a:p>
                          <a:pPr marL="0" marR="0" algn="ctr" fontAlgn="base">
                            <a:lnSpc>
                              <a:spcPct val="200000"/>
                            </a:lnSpc>
                            <a:spcAft>
                              <a:spcPts val="800"/>
                            </a:spcAft>
                            <a:buNone/>
                          </a:pP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90.84 ± 24.21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a:noFill/>
                        </a:lnB>
                        <a:noFill/>
                      </a:tcPr>
                    </a:tc>
                    <a:tc>
                      <a:txBody>
                        <a:bodyPr/>
                        <a:lstStyle/>
                        <a:p>
                          <a:pPr marL="0" marR="0" algn="ctr" fontAlgn="base">
                            <a:lnSpc>
                              <a:spcPct val="200000"/>
                            </a:lnSpc>
                            <a:spcAft>
                              <a:spcPts val="800"/>
                            </a:spcAft>
                            <a:buNone/>
                          </a:pPr>
                          <a:r>
                            <a:rPr lang="en-US" sz="1200" kern="100">
                              <a:effectLst/>
                              <a:latin typeface="Times New Roman" panose="02020603050405020304" pitchFamily="18" charset="0"/>
                              <a:ea typeface="Times New Roman" panose="02020603050405020304" pitchFamily="18" charset="0"/>
                              <a:cs typeface="Times New Roman" panose="02020603050405020304" pitchFamily="18" charset="0"/>
                            </a:rPr>
                            <a:t>p=0.009*</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a:noFill/>
                        </a:lnB>
                        <a:noFill/>
                      </a:tcPr>
                    </a:tc>
                    <a:tc>
                      <a:txBody>
                        <a:bodyPr/>
                        <a:lstStyle/>
                        <a:p>
                          <a:pPr marL="0" marR="0" algn="ctr" fontAlgn="base">
                            <a:lnSpc>
                              <a:spcPct val="200000"/>
                            </a:lnSpc>
                            <a:spcAft>
                              <a:spcPts val="800"/>
                            </a:spcAft>
                            <a:buNone/>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d=1.88</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991891446"/>
                      </a:ext>
                    </a:extLst>
                  </a:tr>
                  <a:tr h="837295">
                    <a:tc>
                      <a:txBody>
                        <a:bodyPr/>
                        <a:lstStyle/>
                        <a:p>
                          <a:pPr marL="0" marR="0" algn="ctr" fontAlgn="base">
                            <a:lnSpc>
                              <a:spcPct val="115000"/>
                            </a:lnSpc>
                            <a:spcAft>
                              <a:spcPts val="800"/>
                            </a:spcAft>
                            <a:buNone/>
                          </a:pP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Mechanical Contribution to 10mA</a:t>
                          </a:r>
                          <a14:m>
                            <m:oMath xmlns:m="http://schemas.openxmlformats.org/officeDocument/2006/math">
                              <m:r>
                                <a:rPr lang="en-US" sz="1400" b="1" i="1" kern="1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b="1" kern="100" baseline="-25000" dirty="0">
                              <a:effectLst/>
                              <a:latin typeface="Times New Roman" panose="02020603050405020304" pitchFamily="18" charset="0"/>
                              <a:ea typeface="Times New Roman" panose="02020603050405020304" pitchFamily="18" charset="0"/>
                              <a:cs typeface="Times New Roman" panose="02020603050405020304" pitchFamily="18" charset="0"/>
                            </a:rPr>
                            <a:t>FVCtotal</a:t>
                          </a: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fontAlgn="base">
                            <a:lnSpc>
                              <a:spcPct val="115000"/>
                            </a:lnSpc>
                            <a:spcAft>
                              <a:spcPts val="800"/>
                            </a:spcAft>
                            <a:buNone/>
                          </a:pP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400" kern="100">
                              <a:effectLst/>
                              <a:latin typeface="Times New Roman" panose="02020603050405020304" pitchFamily="18" charset="0"/>
                              <a:ea typeface="Times New Roman" panose="02020603050405020304" pitchFamily="18" charset="0"/>
                              <a:cs typeface="Times New Roman" panose="02020603050405020304" pitchFamily="18" charset="0"/>
                            </a:rPr>
                            <a:t>35.83 ± 16.39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34.17 ± 17.09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200" kern="100">
                              <a:effectLst/>
                              <a:latin typeface="Times New Roman" panose="02020603050405020304" pitchFamily="18" charset="0"/>
                              <a:ea typeface="Times New Roman" panose="02020603050405020304" pitchFamily="18" charset="0"/>
                              <a:cs typeface="Times New Roman" panose="02020603050405020304" pitchFamily="18" charset="0"/>
                            </a:rPr>
                            <a:t>p=0.85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d=0.10</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4265553"/>
                      </a:ext>
                    </a:extLst>
                  </a:tr>
                </a:tbl>
              </a:graphicData>
            </a:graphic>
          </p:graphicFrame>
        </mc:Choice>
        <mc:Fallback xmlns="">
          <p:graphicFrame>
            <p:nvGraphicFramePr>
              <p:cNvPr id="6" name="Table 5">
                <a:extLst>
                  <a:ext uri="{FF2B5EF4-FFF2-40B4-BE49-F238E27FC236}">
                    <a16:creationId xmlns:a16="http://schemas.microsoft.com/office/drawing/2014/main" id="{331CE21B-B550-3EED-BE40-107E0AA6D781}"/>
                  </a:ext>
                </a:extLst>
              </p:cNvPr>
              <p:cNvGraphicFramePr>
                <a:graphicFrameLocks noGrp="1"/>
              </p:cNvGraphicFramePr>
              <p:nvPr>
                <p:extLst>
                  <p:ext uri="{D42A27DB-BD31-4B8C-83A1-F6EECF244321}">
                    <p14:modId xmlns:p14="http://schemas.microsoft.com/office/powerpoint/2010/main" val="3102031557"/>
                  </p:ext>
                </p:extLst>
              </p:nvPr>
            </p:nvGraphicFramePr>
            <p:xfrm>
              <a:off x="2101514" y="1188435"/>
              <a:ext cx="7844588" cy="2868892"/>
            </p:xfrm>
            <a:graphic>
              <a:graphicData uri="http://schemas.openxmlformats.org/drawingml/2006/table">
                <a:tbl>
                  <a:tblPr firstRow="1" firstCol="1" bandRow="1"/>
                  <a:tblGrid>
                    <a:gridCol w="3092578">
                      <a:extLst>
                        <a:ext uri="{9D8B030D-6E8A-4147-A177-3AD203B41FA5}">
                          <a16:colId xmlns:a16="http://schemas.microsoft.com/office/drawing/2014/main" val="3992088617"/>
                        </a:ext>
                      </a:extLst>
                    </a:gridCol>
                    <a:gridCol w="1357717">
                      <a:extLst>
                        <a:ext uri="{9D8B030D-6E8A-4147-A177-3AD203B41FA5}">
                          <a16:colId xmlns:a16="http://schemas.microsoft.com/office/drawing/2014/main" val="477045078"/>
                        </a:ext>
                      </a:extLst>
                    </a:gridCol>
                    <a:gridCol w="1659432">
                      <a:extLst>
                        <a:ext uri="{9D8B030D-6E8A-4147-A177-3AD203B41FA5}">
                          <a16:colId xmlns:a16="http://schemas.microsoft.com/office/drawing/2014/main" val="1255569093"/>
                        </a:ext>
                      </a:extLst>
                    </a:gridCol>
                    <a:gridCol w="754287">
                      <a:extLst>
                        <a:ext uri="{9D8B030D-6E8A-4147-A177-3AD203B41FA5}">
                          <a16:colId xmlns:a16="http://schemas.microsoft.com/office/drawing/2014/main" val="3967439544"/>
                        </a:ext>
                      </a:extLst>
                    </a:gridCol>
                    <a:gridCol w="980574">
                      <a:extLst>
                        <a:ext uri="{9D8B030D-6E8A-4147-A177-3AD203B41FA5}">
                          <a16:colId xmlns:a16="http://schemas.microsoft.com/office/drawing/2014/main" val="1545818388"/>
                        </a:ext>
                      </a:extLst>
                    </a:gridCol>
                  </a:tblGrid>
                  <a:tr h="420116">
                    <a:tc gridSpan="5">
                      <a:txBody>
                        <a:bodyPr/>
                        <a:lstStyle/>
                        <a:p>
                          <a:endParaRPr lang="en-US"/>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t="-1449" r="-78" b="-585507"/>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59632938"/>
                      </a:ext>
                    </a:extLst>
                  </a:tr>
                  <a:tr h="367602">
                    <a:tc>
                      <a:txBody>
                        <a:bodyPr/>
                        <a:lstStyle/>
                        <a:p>
                          <a:pPr marL="0" marR="0" algn="ctr" fontAlgn="base">
                            <a:lnSpc>
                              <a:spcPct val="200000"/>
                            </a:lnSpc>
                            <a:spcAft>
                              <a:spcPts val="800"/>
                            </a:spcAft>
                            <a:buNone/>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Trained</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n=8</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Sedentary</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n=8</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200" b="1" kern="100" dirty="0">
                              <a:effectLst/>
                              <a:latin typeface="Times New Roman" panose="02020603050405020304" pitchFamily="18" charset="0"/>
                              <a:ea typeface="Times New Roman" panose="02020603050405020304" pitchFamily="18" charset="0"/>
                              <a:cs typeface="Times New Roman" panose="02020603050405020304" pitchFamily="18" charset="0"/>
                            </a:rPr>
                            <a:t>p-value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200" b="1" kern="100" dirty="0">
                              <a:effectLst/>
                              <a:latin typeface="Times New Roman" panose="02020603050405020304" pitchFamily="18" charset="0"/>
                              <a:ea typeface="Times New Roman" panose="02020603050405020304" pitchFamily="18" charset="0"/>
                              <a:cs typeface="Times New Roman" panose="02020603050405020304" pitchFamily="18" charset="0"/>
                            </a:rPr>
                            <a:t>Effect Size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3801739"/>
                      </a:ext>
                    </a:extLst>
                  </a:tr>
                  <a:tr h="606446">
                    <a:tc>
                      <a:txBody>
                        <a:bodyPr/>
                        <a:lstStyle/>
                        <a:p>
                          <a:endParaRPr lang="en-US"/>
                        </a:p>
                      </a:txBody>
                      <a:tcPr marL="0" marR="0" marT="0" marB="0">
                        <a:lnL>
                          <a:noFill/>
                        </a:lnL>
                        <a:lnR>
                          <a:noFill/>
                        </a:lnR>
                        <a:lnT w="12700" cap="flat" cmpd="sng" algn="ctr">
                          <a:solidFill>
                            <a:srgbClr val="000000"/>
                          </a:solidFill>
                          <a:prstDash val="solid"/>
                          <a:round/>
                          <a:headEnd type="none" w="med" len="med"/>
                          <a:tailEnd type="none" w="med" len="med"/>
                        </a:lnT>
                        <a:lnB>
                          <a:noFill/>
                        </a:lnB>
                        <a:blipFill>
                          <a:blip r:embed="rId2"/>
                          <a:stretch>
                            <a:fillRect t="-132323" r="-153740" b="-246465"/>
                          </a:stretch>
                        </a:blipFill>
                      </a:tcPr>
                    </a:tc>
                    <a:tc>
                      <a:txBody>
                        <a:bodyPr/>
                        <a:lstStyle/>
                        <a:p>
                          <a:pPr marL="0" marR="0" algn="ctr" fontAlgn="base">
                            <a:lnSpc>
                              <a:spcPct val="200000"/>
                            </a:lnSpc>
                            <a:spcAft>
                              <a:spcPts val="800"/>
                            </a:spcAft>
                            <a:buNone/>
                          </a:pP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72.72 ± 20.58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fontAlgn="base">
                            <a:lnSpc>
                              <a:spcPct val="200000"/>
                            </a:lnSpc>
                            <a:spcAft>
                              <a:spcPts val="800"/>
                            </a:spcAft>
                            <a:buNone/>
                          </a:pPr>
                          <a:r>
                            <a:rPr lang="en-US" sz="1400" kern="100">
                              <a:effectLst/>
                              <a:latin typeface="Times New Roman" panose="02020603050405020304" pitchFamily="18" charset="0"/>
                              <a:ea typeface="Times New Roman" panose="02020603050405020304" pitchFamily="18" charset="0"/>
                              <a:cs typeface="Times New Roman" panose="02020603050405020304" pitchFamily="18" charset="0"/>
                            </a:rPr>
                            <a:t>94.28 ± 23.69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fontAlgn="base">
                            <a:lnSpc>
                              <a:spcPct val="200000"/>
                            </a:lnSpc>
                            <a:spcAft>
                              <a:spcPts val="800"/>
                            </a:spcAft>
                            <a:buNone/>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p=0.04*</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fontAlgn="base">
                            <a:lnSpc>
                              <a:spcPct val="200000"/>
                            </a:lnSpc>
                            <a:spcAft>
                              <a:spcPts val="800"/>
                            </a:spcAft>
                            <a:buNone/>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r=0.53</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47823022"/>
                      </a:ext>
                    </a:extLst>
                  </a:tr>
                  <a:tr h="637433">
                    <a:tc>
                      <a:txBody>
                        <a:bodyPr/>
                        <a:lstStyle/>
                        <a:p>
                          <a:endParaRPr lang="en-US"/>
                        </a:p>
                      </a:txBody>
                      <a:tcPr marL="0" marR="0" marT="0" marB="0">
                        <a:lnL>
                          <a:noFill/>
                        </a:lnL>
                        <a:lnR>
                          <a:noFill/>
                        </a:lnR>
                        <a:lnT>
                          <a:noFill/>
                        </a:lnT>
                        <a:lnB>
                          <a:noFill/>
                        </a:lnB>
                        <a:blipFill>
                          <a:blip r:embed="rId2"/>
                          <a:stretch>
                            <a:fillRect t="-219048" r="-153740" b="-132381"/>
                          </a:stretch>
                        </a:blipFill>
                      </a:tcPr>
                    </a:tc>
                    <a:tc>
                      <a:txBody>
                        <a:bodyPr/>
                        <a:lstStyle/>
                        <a:p>
                          <a:pPr marL="0" marR="0" algn="ctr" fontAlgn="base">
                            <a:lnSpc>
                              <a:spcPct val="200000"/>
                            </a:lnSpc>
                            <a:spcAft>
                              <a:spcPts val="800"/>
                            </a:spcAft>
                            <a:buNone/>
                          </a:pP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53.51 ± 14.36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a:noFill/>
                        </a:lnB>
                        <a:noFill/>
                      </a:tcPr>
                    </a:tc>
                    <a:tc>
                      <a:txBody>
                        <a:bodyPr/>
                        <a:lstStyle/>
                        <a:p>
                          <a:pPr marL="0" marR="0" algn="ctr" fontAlgn="base">
                            <a:lnSpc>
                              <a:spcPct val="200000"/>
                            </a:lnSpc>
                            <a:spcAft>
                              <a:spcPts val="800"/>
                            </a:spcAft>
                            <a:buNone/>
                          </a:pP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90.84 ± 24.21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a:noFill/>
                        </a:lnB>
                        <a:noFill/>
                      </a:tcPr>
                    </a:tc>
                    <a:tc>
                      <a:txBody>
                        <a:bodyPr/>
                        <a:lstStyle/>
                        <a:p>
                          <a:pPr marL="0" marR="0" algn="ctr" fontAlgn="base">
                            <a:lnSpc>
                              <a:spcPct val="200000"/>
                            </a:lnSpc>
                            <a:spcAft>
                              <a:spcPts val="800"/>
                            </a:spcAft>
                            <a:buNone/>
                          </a:pPr>
                          <a:r>
                            <a:rPr lang="en-US" sz="1200" kern="100">
                              <a:effectLst/>
                              <a:latin typeface="Times New Roman" panose="02020603050405020304" pitchFamily="18" charset="0"/>
                              <a:ea typeface="Times New Roman" panose="02020603050405020304" pitchFamily="18" charset="0"/>
                              <a:cs typeface="Times New Roman" panose="02020603050405020304" pitchFamily="18" charset="0"/>
                            </a:rPr>
                            <a:t>p=0.009*</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a:noFill/>
                        </a:lnB>
                        <a:noFill/>
                      </a:tcPr>
                    </a:tc>
                    <a:tc>
                      <a:txBody>
                        <a:bodyPr/>
                        <a:lstStyle/>
                        <a:p>
                          <a:pPr marL="0" marR="0" algn="ctr" fontAlgn="base">
                            <a:lnSpc>
                              <a:spcPct val="200000"/>
                            </a:lnSpc>
                            <a:spcAft>
                              <a:spcPts val="800"/>
                            </a:spcAft>
                            <a:buNone/>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d=1.88</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991891446"/>
                      </a:ext>
                    </a:extLst>
                  </a:tr>
                  <a:tr h="837295">
                    <a:tc>
                      <a:txBody>
                        <a:bodyPr/>
                        <a:lstStyle/>
                        <a:p>
                          <a:endParaRPr lang="en-US"/>
                        </a:p>
                      </a:txBody>
                      <a:tcPr marL="0" marR="0" marT="0" marB="0">
                        <a:lnL>
                          <a:noFill/>
                        </a:lnL>
                        <a:lnR>
                          <a:noFill/>
                        </a:lnR>
                        <a:lnT>
                          <a:noFill/>
                        </a:lnT>
                        <a:lnB w="12700" cap="flat" cmpd="sng" algn="ctr">
                          <a:solidFill>
                            <a:srgbClr val="000000"/>
                          </a:solidFill>
                          <a:prstDash val="solid"/>
                          <a:round/>
                          <a:headEnd type="none" w="med" len="med"/>
                          <a:tailEnd type="none" w="med" len="med"/>
                        </a:lnB>
                        <a:blipFill>
                          <a:blip r:embed="rId2"/>
                          <a:stretch>
                            <a:fillRect t="-242754" r="-153740" b="-725"/>
                          </a:stretch>
                        </a:blipFill>
                      </a:tcPr>
                    </a:tc>
                    <a:tc>
                      <a:txBody>
                        <a:bodyPr/>
                        <a:lstStyle/>
                        <a:p>
                          <a:pPr marL="0" marR="0" algn="ctr" fontAlgn="base">
                            <a:lnSpc>
                              <a:spcPct val="200000"/>
                            </a:lnSpc>
                            <a:spcAft>
                              <a:spcPts val="800"/>
                            </a:spcAft>
                            <a:buNone/>
                          </a:pPr>
                          <a:r>
                            <a:rPr lang="en-US" sz="1400" kern="100">
                              <a:effectLst/>
                              <a:latin typeface="Times New Roman" panose="02020603050405020304" pitchFamily="18" charset="0"/>
                              <a:ea typeface="Times New Roman" panose="02020603050405020304" pitchFamily="18" charset="0"/>
                              <a:cs typeface="Times New Roman" panose="02020603050405020304" pitchFamily="18" charset="0"/>
                            </a:rPr>
                            <a:t>35.83 ± 16.39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34.17 ± 17.09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200" kern="100">
                              <a:effectLst/>
                              <a:latin typeface="Times New Roman" panose="02020603050405020304" pitchFamily="18" charset="0"/>
                              <a:ea typeface="Times New Roman" panose="02020603050405020304" pitchFamily="18" charset="0"/>
                              <a:cs typeface="Times New Roman" panose="02020603050405020304" pitchFamily="18" charset="0"/>
                            </a:rPr>
                            <a:t>p=0.85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base">
                            <a:lnSpc>
                              <a:spcPct val="200000"/>
                            </a:lnSpc>
                            <a:spcAft>
                              <a:spcPts val="800"/>
                            </a:spcAft>
                            <a:buNone/>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d=0.10</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4265553"/>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0A0F026-0E1E-CC53-7C1B-4BB2E6D68407}"/>
                  </a:ext>
                </a:extLst>
              </p:cNvPr>
              <p:cNvSpPr txBox="1"/>
              <p:nvPr/>
            </p:nvSpPr>
            <p:spPr>
              <a:xfrm>
                <a:off x="2035340" y="4057327"/>
                <a:ext cx="7976936" cy="1107996"/>
              </a:xfrm>
              <a:prstGeom prst="rect">
                <a:avLst/>
              </a:prstGeom>
              <a:noFill/>
            </p:spPr>
            <p:txBody>
              <a:bodyPr wrap="square" rtlCol="0">
                <a:spAutoFit/>
              </a:bodyPr>
              <a:lstStyle/>
              <a:p>
                <a:r>
                  <a:rPr lang="en-US" sz="1200" i="1" dirty="0">
                    <a:latin typeface="Times New Roman" panose="02020603050405020304" pitchFamily="18" charset="0"/>
                    <a:cs typeface="Times New Roman" panose="02020603050405020304" pitchFamily="18" charset="0"/>
                  </a:rPr>
                  <a:t>Values displayed as mean ± SD. * represents significant difference compared to sedentary. </a:t>
                </a:r>
                <a14:m>
                  <m:oMath xmlns:m="http://schemas.openxmlformats.org/officeDocument/2006/math">
                    <m:r>
                      <a:rPr lang="en-US" sz="1200" i="1">
                        <a:latin typeface="Cambria Math" panose="02040503050406030204" pitchFamily="18" charset="0"/>
                      </a:rPr>
                      <m:t>∆</m:t>
                    </m:r>
                  </m:oMath>
                </a14:m>
                <a:r>
                  <a:rPr lang="en-US" sz="1200" i="1" dirty="0">
                    <a:latin typeface="Times New Roman" panose="02020603050405020304" pitchFamily="18" charset="0"/>
                    <a:cs typeface="Times New Roman" panose="02020603050405020304" pitchFamily="18" charset="0"/>
                  </a:rPr>
                  <a:t>FVC</a:t>
                </a:r>
                <a:r>
                  <a:rPr lang="en-US" sz="1200" i="1" baseline="-25000" dirty="0">
                    <a:latin typeface="Times New Roman" panose="02020603050405020304" pitchFamily="18" charset="0"/>
                    <a:cs typeface="Times New Roman" panose="02020603050405020304" pitchFamily="18" charset="0"/>
                  </a:rPr>
                  <a:t>total</a:t>
                </a:r>
                <a:r>
                  <a:rPr lang="en-US" sz="1200" i="1" dirty="0">
                    <a:latin typeface="Times New Roman" panose="02020603050405020304" pitchFamily="18" charset="0"/>
                    <a:cs typeface="Times New Roman" panose="02020603050405020304" pitchFamily="18" charset="0"/>
                  </a:rPr>
                  <a:t> : Total area under the curve of </a:t>
                </a:r>
                <a14:m>
                  <m:oMath xmlns:m="http://schemas.openxmlformats.org/officeDocument/2006/math">
                    <m:r>
                      <a:rPr lang="en-US" sz="1200" i="1">
                        <a:latin typeface="Cambria Math" panose="02040503050406030204" pitchFamily="18" charset="0"/>
                      </a:rPr>
                      <m:t>∆</m:t>
                    </m:r>
                  </m:oMath>
                </a14:m>
                <a:r>
                  <a:rPr lang="en-US" sz="1200" i="1" dirty="0">
                    <a:latin typeface="Times New Roman" panose="02020603050405020304" pitchFamily="18" charset="0"/>
                    <a:cs typeface="Times New Roman" panose="02020603050405020304" pitchFamily="18" charset="0"/>
                  </a:rPr>
                  <a:t>FVC during 30 cardiac cycles immediately following cessation of stimulus; mA: Intensity of electrical stimulation in milliamperes; Chemical + Mechanical = 10mA </a:t>
                </a:r>
                <a14:m>
                  <m:oMath xmlns:m="http://schemas.openxmlformats.org/officeDocument/2006/math">
                    <m:r>
                      <a:rPr lang="en-US" sz="1200" i="1">
                        <a:latin typeface="Cambria Math" panose="02040503050406030204" pitchFamily="18" charset="0"/>
                      </a:rPr>
                      <m:t>∆</m:t>
                    </m:r>
                  </m:oMath>
                </a14:m>
                <a:r>
                  <a:rPr lang="en-US" sz="1200" i="1" dirty="0">
                    <a:latin typeface="Times New Roman" panose="02020603050405020304" pitchFamily="18" charset="0"/>
                    <a:cs typeface="Times New Roman" panose="02020603050405020304" pitchFamily="18" charset="0"/>
                  </a:rPr>
                  <a:t>FVC</a:t>
                </a:r>
                <a:r>
                  <a:rPr lang="en-US" sz="1200" i="1" baseline="-25000" dirty="0">
                    <a:latin typeface="Times New Roman" panose="02020603050405020304" pitchFamily="18" charset="0"/>
                    <a:cs typeface="Times New Roman" panose="02020603050405020304" pitchFamily="18" charset="0"/>
                  </a:rPr>
                  <a:t>total</a:t>
                </a:r>
                <a:r>
                  <a:rPr lang="en-US" sz="1200" i="1" dirty="0">
                    <a:latin typeface="Times New Roman" panose="02020603050405020304" pitchFamily="18" charset="0"/>
                    <a:cs typeface="Times New Roman" panose="02020603050405020304" pitchFamily="18" charset="0"/>
                  </a:rPr>
                  <a:t>; Mechanical = 300mmHg </a:t>
                </a:r>
                <a14:m>
                  <m:oMath xmlns:m="http://schemas.openxmlformats.org/officeDocument/2006/math">
                    <m:r>
                      <a:rPr lang="en-US" sz="1200" i="1">
                        <a:latin typeface="Cambria Math" panose="02040503050406030204" pitchFamily="18" charset="0"/>
                      </a:rPr>
                      <m:t>∆</m:t>
                    </m:r>
                  </m:oMath>
                </a14:m>
                <a:r>
                  <a:rPr lang="en-US" sz="1200" i="1" dirty="0">
                    <a:latin typeface="Times New Roman" panose="02020603050405020304" pitchFamily="18" charset="0"/>
                    <a:cs typeface="Times New Roman" panose="02020603050405020304" pitchFamily="18" charset="0"/>
                  </a:rPr>
                  <a:t>FVC</a:t>
                </a:r>
                <a:r>
                  <a:rPr lang="en-US" sz="1200" i="1" baseline="-25000" dirty="0">
                    <a:latin typeface="Times New Roman" panose="02020603050405020304" pitchFamily="18" charset="0"/>
                    <a:cs typeface="Times New Roman" panose="02020603050405020304" pitchFamily="18" charset="0"/>
                  </a:rPr>
                  <a:t>tota</a:t>
                </a:r>
                <a:r>
                  <a:rPr lang="en-US" sz="1200" i="1" dirty="0">
                    <a:latin typeface="Times New Roman" panose="02020603050405020304" pitchFamily="18" charset="0"/>
                    <a:cs typeface="Times New Roman" panose="02020603050405020304" pitchFamily="18" charset="0"/>
                  </a:rPr>
                  <a:t>; FVC: Forearm Vascular Conductance. </a:t>
                </a:r>
                <a:endParaRPr lang="en-US" sz="1200" dirty="0">
                  <a:latin typeface="Times New Roman" panose="02020603050405020304" pitchFamily="18" charset="0"/>
                  <a:cs typeface="Times New Roman" panose="02020603050405020304" pitchFamily="18" charset="0"/>
                </a:endParaRPr>
              </a:p>
              <a:p>
                <a:endParaRPr lang="en-US" dirty="0"/>
              </a:p>
            </p:txBody>
          </p:sp>
        </mc:Choice>
        <mc:Fallback xmlns="">
          <p:sp>
            <p:nvSpPr>
              <p:cNvPr id="7" name="TextBox 6">
                <a:extLst>
                  <a:ext uri="{FF2B5EF4-FFF2-40B4-BE49-F238E27FC236}">
                    <a16:creationId xmlns:a16="http://schemas.microsoft.com/office/drawing/2014/main" id="{E0A0F026-0E1E-CC53-7C1B-4BB2E6D68407}"/>
                  </a:ext>
                </a:extLst>
              </p:cNvPr>
              <p:cNvSpPr txBox="1">
                <a:spLocks noRot="1" noChangeAspect="1" noMove="1" noResize="1" noEditPoints="1" noAdjustHandles="1" noChangeArrowheads="1" noChangeShapeType="1" noTextEdit="1"/>
              </p:cNvSpPr>
              <p:nvPr/>
            </p:nvSpPr>
            <p:spPr>
              <a:xfrm>
                <a:off x="2035340" y="4057327"/>
                <a:ext cx="7976936" cy="1107996"/>
              </a:xfrm>
              <a:prstGeom prst="rect">
                <a:avLst/>
              </a:prstGeom>
              <a:blipFill>
                <a:blip r:embed="rId3"/>
                <a:stretch>
                  <a:fillRect l="-76" t="-552"/>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6C00791B-115A-E81C-6F18-F4669EA8B144}"/>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6E71510-B9F4-1199-6343-DFBC1D908309}"/>
                  </a:ext>
                </a:extLst>
              </p:cNvPr>
              <p:cNvSpPr txBox="1"/>
              <p:nvPr/>
            </p:nvSpPr>
            <p:spPr>
              <a:xfrm>
                <a:off x="362988" y="5165323"/>
                <a:ext cx="11321640" cy="1064074"/>
              </a:xfrm>
              <a:prstGeom prst="rect">
                <a:avLst/>
              </a:prstGeom>
              <a:noFill/>
            </p:spPr>
            <p:txBody>
              <a:bodyPr wrap="square" rtlCol="0">
                <a:spAutoFit/>
              </a:bodyPr>
              <a:lstStyle/>
              <a:p>
                <a:pPr marL="285750" indent="-285750">
                  <a:lnSpc>
                    <a:spcPct val="107000"/>
                  </a:lnSpc>
                  <a:spcBef>
                    <a:spcPts val="0"/>
                  </a:spcBef>
                  <a:spcAft>
                    <a:spcPts val="800"/>
                  </a:spcAft>
                  <a:buFont typeface="Arial" panose="020B0604020202020204" pitchFamily="34" charset="0"/>
                  <a:buChar char="•"/>
                </a:pPr>
                <a:r>
                  <a:rPr lang="en-US" dirty="0">
                    <a:effectLst/>
                    <a:latin typeface="Times New Roman" panose="02020603050405020304" pitchFamily="18" charset="0"/>
                    <a:ea typeface="SimSun" panose="02010600030101010101" pitchFamily="2" charset="-122"/>
                    <a:cs typeface="Times New Roman" panose="02020603050405020304" pitchFamily="18" charset="0"/>
                  </a:rPr>
                  <a:t> Group differences were observed for Chemical + Mechanical (%) contributions to 15kg and MVC </a:t>
                </a:r>
                <a14:m>
                  <m:oMath xmlns:m="http://schemas.openxmlformats.org/officeDocument/2006/math">
                    <m:r>
                      <a:rPr lang="en-US" i="1"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US" baseline="-25000" dirty="0">
                    <a:effectLst/>
                    <a:latin typeface="Times New Roman" panose="02020603050405020304" pitchFamily="18" charset="0"/>
                    <a:ea typeface="SimSun" panose="02010600030101010101" pitchFamily="2" charset="-122"/>
                    <a:cs typeface="Times New Roman" panose="02020603050405020304" pitchFamily="18" charset="0"/>
                  </a:rPr>
                  <a:t>FVCtotal</a:t>
                </a:r>
                <a:r>
                  <a:rPr lang="en-US" baseline="30000" dirty="0">
                    <a:latin typeface="Times New Roman" panose="02020603050405020304" pitchFamily="18" charset="0"/>
                    <a:ea typeface="SimSun" panose="02010600030101010101" pitchFamily="2" charset="-122"/>
                    <a:cs typeface="Times New Roman" panose="02020603050405020304" pitchFamily="18" charset="0"/>
                  </a:rPr>
                  <a:t> </a:t>
                </a:r>
                <a:r>
                  <a:rPr lang="en-US" dirty="0">
                    <a:latin typeface="Times New Roman" panose="02020603050405020304" pitchFamily="18" charset="0"/>
                    <a:ea typeface="SimSun" panose="02010600030101010101" pitchFamily="2" charset="-122"/>
                    <a:cs typeface="Times New Roman" panose="02020603050405020304" pitchFamily="18" charset="0"/>
                  </a:rPr>
                  <a:t>but this study is not powered/designed to elucidate these differences further.</a:t>
                </a:r>
              </a:p>
              <a:p>
                <a:pPr marL="285750" indent="-285750">
                  <a:lnSpc>
                    <a:spcPct val="107000"/>
                  </a:lnSpc>
                  <a:spcBef>
                    <a:spcPts val="0"/>
                  </a:spcBef>
                  <a:spcAft>
                    <a:spcPts val="800"/>
                  </a:spcAft>
                  <a:buFont typeface="Arial" panose="020B0604020202020204" pitchFamily="34" charset="0"/>
                  <a:buChar char="•"/>
                </a:pPr>
                <a:r>
                  <a:rPr lang="en-US" dirty="0">
                    <a:latin typeface="Times New Roman" panose="02020603050405020304" pitchFamily="18" charset="0"/>
                    <a:ea typeface="SimSun" panose="02010600030101010101" pitchFamily="2" charset="-122"/>
                    <a:cs typeface="Times New Roman" panose="02020603050405020304" pitchFamily="18" charset="0"/>
                  </a:rPr>
                  <a:t>There is no difference response between groups for a Mechanical (%) contribution to 10mA</a:t>
                </a:r>
                <a:r>
                  <a:rPr lang="en-US" sz="1400" dirty="0">
                    <a:effectLst/>
                    <a:latin typeface="Times New Roman" panose="02020603050405020304" pitchFamily="18" charset="0"/>
                    <a:ea typeface="SimSun" panose="02010600030101010101" pitchFamily="2" charset="-122"/>
                    <a:cs typeface="Times New Roman" panose="02020603050405020304" pitchFamily="18" charset="0"/>
                  </a:rPr>
                  <a:t>  </a:t>
                </a:r>
                <a14:m>
                  <m:oMath xmlns:m="http://schemas.openxmlformats.org/officeDocument/2006/math">
                    <m:r>
                      <a:rPr lang="en-US" i="1"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US" baseline="-25000" dirty="0">
                    <a:effectLst/>
                    <a:latin typeface="Times New Roman" panose="02020603050405020304" pitchFamily="18" charset="0"/>
                    <a:ea typeface="SimSun" panose="02010600030101010101" pitchFamily="2" charset="-122"/>
                    <a:cs typeface="Times New Roman" panose="02020603050405020304" pitchFamily="18" charset="0"/>
                  </a:rPr>
                  <a:t>FVCtotal</a:t>
                </a:r>
                <a:r>
                  <a:rPr lang="en-US" dirty="0">
                    <a:effectLst/>
                    <a:latin typeface="Times New Roman" panose="02020603050405020304" pitchFamily="18" charset="0"/>
                    <a:ea typeface="SimSun" panose="02010600030101010101" pitchFamily="2" charset="-122"/>
                    <a:cs typeface="Times New Roman" panose="02020603050405020304" pitchFamily="18" charset="0"/>
                  </a:rPr>
                  <a:t>.</a:t>
                </a:r>
              </a:p>
            </p:txBody>
          </p:sp>
        </mc:Choice>
        <mc:Fallback xmlns="">
          <p:sp>
            <p:nvSpPr>
              <p:cNvPr id="9" name="TextBox 8">
                <a:extLst>
                  <a:ext uri="{FF2B5EF4-FFF2-40B4-BE49-F238E27FC236}">
                    <a16:creationId xmlns:a16="http://schemas.microsoft.com/office/drawing/2014/main" id="{C6E71510-B9F4-1199-6343-DFBC1D908309}"/>
                  </a:ext>
                </a:extLst>
              </p:cNvPr>
              <p:cNvSpPr txBox="1">
                <a:spLocks noRot="1" noChangeAspect="1" noMove="1" noResize="1" noEditPoints="1" noAdjustHandles="1" noChangeArrowheads="1" noChangeShapeType="1" noTextEdit="1"/>
              </p:cNvSpPr>
              <p:nvPr/>
            </p:nvSpPr>
            <p:spPr>
              <a:xfrm>
                <a:off x="362988" y="5165323"/>
                <a:ext cx="11321640" cy="1064074"/>
              </a:xfrm>
              <a:prstGeom prst="rect">
                <a:avLst/>
              </a:prstGeom>
              <a:blipFill>
                <a:blip r:embed="rId4"/>
                <a:stretch>
                  <a:fillRect l="-377" t="-2857" b="-8000"/>
                </a:stretch>
              </a:blipFill>
            </p:spPr>
            <p:txBody>
              <a:bodyPr/>
              <a:lstStyle/>
              <a:p>
                <a:r>
                  <a:rPr lang="en-US">
                    <a:noFill/>
                  </a:rPr>
                  <a:t> </a:t>
                </a:r>
              </a:p>
            </p:txBody>
          </p:sp>
        </mc:Fallback>
      </mc:AlternateContent>
    </p:spTree>
    <p:extLst>
      <p:ext uri="{BB962C8B-B14F-4D97-AF65-F5344CB8AC3E}">
        <p14:creationId xmlns:p14="http://schemas.microsoft.com/office/powerpoint/2010/main" val="48039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6B4DB-E6E8-0FB6-287A-1AFA34574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6D251-782B-D868-7D2C-DEA52B5F0289}"/>
              </a:ext>
            </a:extLst>
          </p:cNvPr>
          <p:cNvSpPr>
            <a:spLocks noGrp="1"/>
          </p:cNvSpPr>
          <p:nvPr>
            <p:ph type="title"/>
          </p:nvPr>
        </p:nvSpPr>
        <p:spPr>
          <a:xfrm>
            <a:off x="914400" y="365125"/>
            <a:ext cx="10147300" cy="1325563"/>
          </a:xfrm>
        </p:spPr>
        <p:txBody>
          <a:bodyPr>
            <a:normAutofit/>
          </a:bodyPr>
          <a:lstStyle/>
          <a:p>
            <a:r>
              <a:rPr lang="en-US" sz="4100" dirty="0">
                <a:latin typeface="Times New Roman" panose="02020603050405020304" pitchFamily="18" charset="0"/>
                <a:cs typeface="Times New Roman" panose="02020603050405020304" pitchFamily="18" charset="0"/>
              </a:rPr>
              <a:t>Discussion – Mechanistic Interpretation</a:t>
            </a:r>
          </a:p>
        </p:txBody>
      </p:sp>
      <p:sp>
        <p:nvSpPr>
          <p:cNvPr id="3" name="Content Placeholder 2">
            <a:extLst>
              <a:ext uri="{FF2B5EF4-FFF2-40B4-BE49-F238E27FC236}">
                <a16:creationId xmlns:a16="http://schemas.microsoft.com/office/drawing/2014/main" id="{6E9C95DC-3E4A-B357-8EF8-A991BD6F15A3}"/>
              </a:ext>
            </a:extLst>
          </p:cNvPr>
          <p:cNvSpPr>
            <a:spLocks noGrp="1"/>
          </p:cNvSpPr>
          <p:nvPr>
            <p:ph idx="1"/>
          </p:nvPr>
        </p:nvSpPr>
        <p:spPr>
          <a:xfrm>
            <a:off x="838200" y="1520825"/>
            <a:ext cx="9898626" cy="4351338"/>
          </a:xfrm>
        </p:spPr>
        <p:txBody>
          <a:bodyPr>
            <a:noAutofit/>
          </a:bodyPr>
          <a:lstStyle/>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Trained subjects showed enhanced ROV in all conditions for voluntary and involuntary stimuli compared to sedentary subjects, and some conditions for mechanical compression. Speculative adaptation possibilities include:</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Augmented K</a:t>
            </a:r>
            <a:r>
              <a:rPr lang="en-US" sz="1600" baseline="30000" dirty="0">
                <a:latin typeface="Times New Roman" panose="02020603050405020304" pitchFamily="18" charset="0"/>
                <a:ea typeface="SimSun" panose="02010600030101010101" pitchFamily="2" charset="-122"/>
                <a:cs typeface="Times New Roman" panose="02020603050405020304" pitchFamily="18" charset="0"/>
              </a:rPr>
              <a:t>+</a:t>
            </a:r>
            <a:r>
              <a:rPr lang="en-US" sz="1600" dirty="0">
                <a:latin typeface="Times New Roman" panose="02020603050405020304" pitchFamily="18" charset="0"/>
                <a:ea typeface="SimSun" panose="02010600030101010101" pitchFamily="2" charset="-122"/>
                <a:cs typeface="Times New Roman" panose="02020603050405020304" pitchFamily="18" charset="0"/>
              </a:rPr>
              <a:t> ion handling between smooth and skeletal muscle (K</a:t>
            </a:r>
            <a:r>
              <a:rPr lang="en-US" sz="1600" baseline="30000" dirty="0">
                <a:latin typeface="Times New Roman" panose="02020603050405020304" pitchFamily="18" charset="0"/>
                <a:ea typeface="SimSun" panose="02010600030101010101" pitchFamily="2" charset="-122"/>
                <a:cs typeface="Times New Roman" panose="02020603050405020304" pitchFamily="18" charset="0"/>
              </a:rPr>
              <a:t>+</a:t>
            </a:r>
            <a:r>
              <a:rPr lang="en-US" sz="1600" dirty="0">
                <a:latin typeface="Times New Roman" panose="02020603050405020304" pitchFamily="18" charset="0"/>
                <a:ea typeface="SimSun" panose="02010600030101010101" pitchFamily="2" charset="-122"/>
                <a:cs typeface="Times New Roman" panose="02020603050405020304" pitchFamily="18" charset="0"/>
              </a:rPr>
              <a:t> may play the biggest singular role in the ROV in humans (Crecelius et al., 2013)).</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Increased Nitric Oxide (NO) availability. NO has also demonstrated a meaningful role in ROV in humans, and chronic exercise has shown to increase NO bioavailability and signaling in healthy humans (Casey et al., 2013; Goto et al., 2003; Hambrecht et al., 2003).</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Neural contributions are less clear from this study.</a:t>
            </a:r>
          </a:p>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Mechanical-only conditions demonstrate more limited evidence for ROV adaptation in this study.</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When considered as a proportion of the chemical + mechanical response, there is very minimal group difference.</a:t>
            </a:r>
          </a:p>
          <a:p>
            <a:pPr>
              <a:lnSpc>
                <a:spcPct val="100000"/>
              </a:lnSpc>
              <a:spcBef>
                <a:spcPts val="0"/>
              </a:spcBef>
            </a:pPr>
            <a:endParaRPr 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Rectangle 3">
            <a:extLst>
              <a:ext uri="{FF2B5EF4-FFF2-40B4-BE49-F238E27FC236}">
                <a16:creationId xmlns:a16="http://schemas.microsoft.com/office/drawing/2014/main" id="{AF1D5F71-9E7B-09CF-9BF5-E31C3C4EC7BC}"/>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64174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8531F-B138-6B34-D9CC-F063160614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B3DD8-BD14-3145-06AE-9D4CCECEA0F9}"/>
              </a:ext>
            </a:extLst>
          </p:cNvPr>
          <p:cNvSpPr>
            <a:spLocks noGrp="1"/>
          </p:cNvSpPr>
          <p:nvPr>
            <p:ph type="title"/>
          </p:nvPr>
        </p:nvSpPr>
        <p:spPr>
          <a:xfrm>
            <a:off x="914400" y="365125"/>
            <a:ext cx="10147300" cy="1325563"/>
          </a:xfrm>
        </p:spPr>
        <p:txBody>
          <a:bodyPr>
            <a:normAutofit/>
          </a:bodyPr>
          <a:lstStyle/>
          <a:p>
            <a:r>
              <a:rPr lang="en-US" sz="4100" dirty="0">
                <a:latin typeface="Times New Roman" panose="02020603050405020304" pitchFamily="18" charset="0"/>
                <a:cs typeface="Times New Roman" panose="02020603050405020304" pitchFamily="18" charset="0"/>
              </a:rPr>
              <a:t>Discussion – Limitations </a:t>
            </a:r>
          </a:p>
        </p:txBody>
      </p:sp>
      <p:sp>
        <p:nvSpPr>
          <p:cNvPr id="3" name="Content Placeholder 2">
            <a:extLst>
              <a:ext uri="{FF2B5EF4-FFF2-40B4-BE49-F238E27FC236}">
                <a16:creationId xmlns:a16="http://schemas.microsoft.com/office/drawing/2014/main" id="{B24D4C2E-6F8D-BE01-EB4E-D97DC2C14E0C}"/>
              </a:ext>
            </a:extLst>
          </p:cNvPr>
          <p:cNvSpPr>
            <a:spLocks noGrp="1"/>
          </p:cNvSpPr>
          <p:nvPr>
            <p:ph idx="1"/>
          </p:nvPr>
        </p:nvSpPr>
        <p:spPr>
          <a:xfrm>
            <a:off x="838199" y="1520825"/>
            <a:ext cx="10223501" cy="4351338"/>
          </a:xfrm>
        </p:spPr>
        <p:txBody>
          <a:bodyPr>
            <a:noAutofit/>
          </a:bodyPr>
          <a:lstStyle/>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Training status was determined via self-reported training and general activity level on the IPAQ.</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Strict inclusion criteria for the sedentary group helps to compensate for possible imprecision in self-reporting in the trained group.</a:t>
            </a:r>
          </a:p>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Our lab equipment for mechanical compression, although aligned with current research, differed significantly from Kirby et al. (2007).</a:t>
            </a:r>
            <a:endParaRPr lang="en-US" sz="1600" dirty="0">
              <a:latin typeface="Times New Roman" panose="02020603050405020304" pitchFamily="18" charset="0"/>
              <a:ea typeface="SimSun" panose="02010600030101010101" pitchFamily="2" charset="-122"/>
              <a:cs typeface="Times New Roman" panose="02020603050405020304" pitchFamily="18" charset="0"/>
            </a:endParaRPr>
          </a:p>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We did not measure contraction force or intramuscular pressure from electrical stimulation or voluntary contraction.</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Prior evidence suggests a linear relationship with ROV and contraction intensity (Kirby et al., 2007). It is possible there could be interindividual variation in these variables during the same intensity electrical stimulation or voluntary contraction against an absolute amount of resistance.</a:t>
            </a:r>
          </a:p>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This study accounted for obesity, not adiposity.</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Limited evidence suggests adiposity is inversely related to ROV (Blain et al., 2012).</a:t>
            </a:r>
            <a:endParaRPr lang="en-US" sz="2000" dirty="0">
              <a:latin typeface="Times New Roman" panose="02020603050405020304" pitchFamily="18" charset="0"/>
              <a:ea typeface="SimSun" panose="02010600030101010101" pitchFamily="2" charset="-122"/>
              <a:cs typeface="Times New Roman" panose="02020603050405020304" pitchFamily="18" charset="0"/>
            </a:endParaRPr>
          </a:p>
          <a:p>
            <a:pPr>
              <a:lnSpc>
                <a:spcPct val="100000"/>
              </a:lnSpc>
              <a:spcBef>
                <a:spcPts val="0"/>
              </a:spcBef>
            </a:pPr>
            <a:r>
              <a:rPr lang="en-US" sz="2000" dirty="0">
                <a:latin typeface="Times New Roman" panose="02020603050405020304" pitchFamily="18" charset="0"/>
                <a:ea typeface="SimSun" panose="02010600030101010101" pitchFamily="2" charset="-122"/>
                <a:cs typeface="Times New Roman" panose="02020603050405020304" pitchFamily="18" charset="0"/>
              </a:rPr>
              <a:t>This study was not powered for a sex comparison.</a:t>
            </a:r>
          </a:p>
          <a:p>
            <a:pPr lvl="1">
              <a:lnSpc>
                <a:spcPct val="100000"/>
              </a:lnSpc>
              <a:spcBef>
                <a:spcPts val="0"/>
              </a:spcBef>
            </a:pPr>
            <a:r>
              <a:rPr lang="en-US" sz="1600" dirty="0">
                <a:latin typeface="Times New Roman" panose="02020603050405020304" pitchFamily="18" charset="0"/>
                <a:ea typeface="SimSun" panose="02010600030101010101" pitchFamily="2" charset="-122"/>
                <a:cs typeface="Times New Roman" panose="02020603050405020304" pitchFamily="18" charset="0"/>
              </a:rPr>
              <a:t>Limited evidence suggests there is not a sex difference for absolute intensities of contraction in healthy young adults, but is worth exploring with consideration for training status (Hanson et al., 2021).</a:t>
            </a:r>
          </a:p>
          <a:p>
            <a:pPr lvl="1">
              <a:lnSpc>
                <a:spcPct val="100000"/>
              </a:lnSpc>
              <a:spcBef>
                <a:spcPts val="0"/>
              </a:spcBef>
            </a:pPr>
            <a:endParaRPr lang="en-US" sz="16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Rectangle 3">
            <a:extLst>
              <a:ext uri="{FF2B5EF4-FFF2-40B4-BE49-F238E27FC236}">
                <a16:creationId xmlns:a16="http://schemas.microsoft.com/office/drawing/2014/main" id="{0AC3BF5A-4BA2-35AE-C298-A517A32ADA15}"/>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3106114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65E7C-9FF4-03AC-3DC6-A760F3426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D67E6-F349-0A23-856A-539F9191DF65}"/>
              </a:ext>
            </a:extLst>
          </p:cNvPr>
          <p:cNvSpPr>
            <a:spLocks noGrp="1"/>
          </p:cNvSpPr>
          <p:nvPr>
            <p:ph type="title"/>
          </p:nvPr>
        </p:nvSpPr>
        <p:spPr>
          <a:xfrm>
            <a:off x="1256446" y="84445"/>
            <a:ext cx="9677400" cy="956955"/>
          </a:xfrm>
        </p:spPr>
        <p:txBody>
          <a:bodyPr>
            <a:normAutofit/>
          </a:bodyPr>
          <a:lstStyle/>
          <a:p>
            <a:r>
              <a:rPr lang="en-US" sz="4100" dirty="0">
                <a:latin typeface="Times New Roman" panose="02020603050405020304" pitchFamily="18" charset="0"/>
                <a:cs typeface="Times New Roman" panose="02020603050405020304" pitchFamily="18" charset="0"/>
              </a:rPr>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15230E-0900-F3AD-34CD-E2A4B29946CB}"/>
                  </a:ext>
                </a:extLst>
              </p:cNvPr>
              <p:cNvSpPr>
                <a:spLocks noGrp="1"/>
              </p:cNvSpPr>
              <p:nvPr>
                <p:ph idx="1"/>
              </p:nvPr>
            </p:nvSpPr>
            <p:spPr>
              <a:xfrm>
                <a:off x="814137" y="1171909"/>
                <a:ext cx="9898626" cy="4295775"/>
              </a:xfrm>
            </p:spPr>
            <p:txBody>
              <a:bodyPr>
                <a:noAutofit/>
              </a:bodyPr>
              <a:lstStyle/>
              <a:p>
                <a:pPr>
                  <a:lnSpc>
                    <a:spcPct val="100000"/>
                  </a:lnSpc>
                  <a:spcBef>
                    <a:spcPts val="0"/>
                  </a:spcBef>
                </a:pPr>
                <a:r>
                  <a:rPr lang="en-US" sz="2600" dirty="0">
                    <a:latin typeface="Times New Roman" panose="02020603050405020304" pitchFamily="18" charset="0"/>
                    <a:ea typeface="SimSun" panose="02010600030101010101" pitchFamily="2" charset="-122"/>
                    <a:cs typeface="Times New Roman" panose="02020603050405020304" pitchFamily="18" charset="0"/>
                  </a:rPr>
                  <a:t>We accept our main hypotheses that trained subjects would display greater peak and total </a:t>
                </a:r>
                <a14:m>
                  <m:oMath xmlns:m="http://schemas.openxmlformats.org/officeDocument/2006/math">
                    <m:r>
                      <a:rPr lang="en-US" sz="26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600" dirty="0">
                    <a:latin typeface="Times New Roman" panose="02020603050405020304" pitchFamily="18" charset="0"/>
                    <a:ea typeface="SimSun" panose="02010600030101010101" pitchFamily="2" charset="-122"/>
                    <a:cs typeface="Times New Roman" panose="02020603050405020304" pitchFamily="18" charset="0"/>
                  </a:rPr>
                  <a:t>FVC in response to voluntary contractions at relative/absolute intensities, involuntary contractions, and mechanical compression.</a:t>
                </a:r>
              </a:p>
              <a:p>
                <a:pPr>
                  <a:lnSpc>
                    <a:spcPct val="100000"/>
                  </a:lnSpc>
                  <a:spcBef>
                    <a:spcPts val="0"/>
                  </a:spcBef>
                </a:pPr>
                <a:r>
                  <a:rPr lang="en-US" sz="2600" dirty="0">
                    <a:latin typeface="Times New Roman" panose="02020603050405020304" pitchFamily="18" charset="0"/>
                    <a:ea typeface="SimSun" panose="02010600030101010101" pitchFamily="2" charset="-122"/>
                    <a:cs typeface="Times New Roman" panose="02020603050405020304" pitchFamily="18" charset="0"/>
                  </a:rPr>
                  <a:t>It is likely the chemical pathway accounts for the majority of adaptation.</a:t>
                </a:r>
              </a:p>
              <a:p>
                <a:pPr>
                  <a:lnSpc>
                    <a:spcPct val="100000"/>
                  </a:lnSpc>
                  <a:spcBef>
                    <a:spcPts val="0"/>
                  </a:spcBef>
                </a:pPr>
                <a:r>
                  <a:rPr lang="en-US" sz="2600" dirty="0">
                    <a:latin typeface="Times New Roman" panose="02020603050405020304" pitchFamily="18" charset="0"/>
                    <a:ea typeface="SimSun" panose="02010600030101010101" pitchFamily="2" charset="-122"/>
                    <a:cs typeface="Times New Roman" panose="02020603050405020304" pitchFamily="18" charset="0"/>
                  </a:rPr>
                  <a:t>Mechanical adaptation was observed but was much more limited.</a:t>
                </a:r>
              </a:p>
              <a:p>
                <a:pPr>
                  <a:lnSpc>
                    <a:spcPct val="100000"/>
                  </a:lnSpc>
                  <a:spcBef>
                    <a:spcPts val="0"/>
                  </a:spcBef>
                </a:pPr>
                <a:r>
                  <a:rPr lang="en-US" sz="2600" dirty="0">
                    <a:latin typeface="Times New Roman" panose="02020603050405020304" pitchFamily="18" charset="0"/>
                    <a:ea typeface="SimSun" panose="02010600030101010101" pitchFamily="2" charset="-122"/>
                    <a:cs typeface="Times New Roman" panose="02020603050405020304" pitchFamily="18" charset="0"/>
                  </a:rPr>
                  <a:t>Evidence of neural adaptation could not be determined from this study.</a:t>
                </a:r>
              </a:p>
              <a:p>
                <a:pPr marL="0" indent="0">
                  <a:lnSpc>
                    <a:spcPct val="100000"/>
                  </a:lnSpc>
                  <a:spcBef>
                    <a:spcPts val="0"/>
                  </a:spcBef>
                  <a:buNone/>
                </a:pPr>
                <a:endParaRPr lang="en-US" sz="2600" dirty="0">
                  <a:latin typeface="Times New Roman" panose="02020603050405020304" pitchFamily="18" charset="0"/>
                  <a:ea typeface="SimSun" panose="02010600030101010101" pitchFamily="2" charset="-122"/>
                  <a:cs typeface="Times New Roman" panose="02020603050405020304" pitchFamily="18" charset="0"/>
                </a:endParaRPr>
              </a:p>
              <a:p>
                <a:pPr marL="0" indent="0">
                  <a:lnSpc>
                    <a:spcPct val="100000"/>
                  </a:lnSpc>
                  <a:spcBef>
                    <a:spcPts val="0"/>
                  </a:spcBef>
                  <a:buNone/>
                </a:pPr>
                <a:r>
                  <a:rPr lang="en-US" sz="2600" dirty="0">
                    <a:latin typeface="Times New Roman" panose="02020603050405020304" pitchFamily="18" charset="0"/>
                    <a:ea typeface="SimSun" panose="02010600030101010101" pitchFamily="2" charset="-122"/>
                    <a:cs typeface="Times New Roman" panose="02020603050405020304" pitchFamily="18" charset="0"/>
                  </a:rPr>
                  <a:t>This study provides a framework for a reliable, repeatable experimental design, and should be used/modified to further assess specific adaptations to ROV in healthy humans.</a:t>
                </a:r>
              </a:p>
            </p:txBody>
          </p:sp>
        </mc:Choice>
        <mc:Fallback xmlns="">
          <p:sp>
            <p:nvSpPr>
              <p:cNvPr id="3" name="Content Placeholder 2">
                <a:extLst>
                  <a:ext uri="{FF2B5EF4-FFF2-40B4-BE49-F238E27FC236}">
                    <a16:creationId xmlns:a16="http://schemas.microsoft.com/office/drawing/2014/main" id="{8215230E-0900-F3AD-34CD-E2A4B29946CB}"/>
                  </a:ext>
                </a:extLst>
              </p:cNvPr>
              <p:cNvSpPr>
                <a:spLocks noGrp="1" noRot="1" noChangeAspect="1" noMove="1" noResize="1" noEditPoints="1" noAdjustHandles="1" noChangeArrowheads="1" noChangeShapeType="1" noTextEdit="1"/>
              </p:cNvSpPr>
              <p:nvPr>
                <p:ph idx="1"/>
              </p:nvPr>
            </p:nvSpPr>
            <p:spPr>
              <a:xfrm>
                <a:off x="814137" y="1171909"/>
                <a:ext cx="9898626" cy="4295775"/>
              </a:xfrm>
              <a:blipFill>
                <a:blip r:embed="rId2"/>
                <a:stretch>
                  <a:fillRect l="-1109" t="-1277" b="-16454"/>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5CD1DDC7-8E64-6B32-CFCC-EE6116856E9A}"/>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07000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1DA95-49A1-2A4C-955C-6A83C6C0F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8EE9C-5C7F-E583-96AE-7A9D741E91CD}"/>
              </a:ext>
            </a:extLst>
          </p:cNvPr>
          <p:cNvSpPr>
            <a:spLocks noGrp="1"/>
          </p:cNvSpPr>
          <p:nvPr>
            <p:ph type="title"/>
          </p:nvPr>
        </p:nvSpPr>
        <p:spPr>
          <a:xfrm>
            <a:off x="1256446" y="84445"/>
            <a:ext cx="9677400" cy="956955"/>
          </a:xfrm>
        </p:spPr>
        <p:txBody>
          <a:bodyPr>
            <a:normAutofit/>
          </a:bodyPr>
          <a:lstStyle/>
          <a:p>
            <a:r>
              <a:rPr lang="en-US" sz="4100" dirty="0">
                <a:latin typeface="Times New Roman" panose="02020603050405020304" pitchFamily="18" charset="0"/>
                <a:cs typeface="Times New Roman" panose="02020603050405020304" pitchFamily="18" charset="0"/>
              </a:rPr>
              <a:t>Data Science/Analytics Skills</a:t>
            </a:r>
          </a:p>
        </p:txBody>
      </p:sp>
      <p:sp>
        <p:nvSpPr>
          <p:cNvPr id="3" name="Content Placeholder 2">
            <a:extLst>
              <a:ext uri="{FF2B5EF4-FFF2-40B4-BE49-F238E27FC236}">
                <a16:creationId xmlns:a16="http://schemas.microsoft.com/office/drawing/2014/main" id="{62D5F31A-0301-52CF-3E94-4A21EE079CF2}"/>
              </a:ext>
            </a:extLst>
          </p:cNvPr>
          <p:cNvSpPr>
            <a:spLocks noGrp="1"/>
          </p:cNvSpPr>
          <p:nvPr>
            <p:ph idx="1"/>
          </p:nvPr>
        </p:nvSpPr>
        <p:spPr>
          <a:xfrm>
            <a:off x="814137" y="1280258"/>
            <a:ext cx="9898626" cy="4295775"/>
          </a:xfrm>
        </p:spPr>
        <p:txBody>
          <a:bodyPr>
            <a:noAutofit/>
          </a:bodyPr>
          <a:lstStyle/>
          <a:p>
            <a:pPr>
              <a:lnSpc>
                <a:spcPct val="100000"/>
              </a:lnSpc>
              <a:spcBef>
                <a:spcPts val="0"/>
              </a:spcBef>
            </a:pPr>
            <a:r>
              <a:rPr lang="en-US" sz="2600" dirty="0">
                <a:latin typeface="Times New Roman" panose="02020603050405020304" pitchFamily="18" charset="0"/>
                <a:ea typeface="SimSun" panose="02010600030101010101" pitchFamily="2" charset="-122"/>
                <a:cs typeface="Times New Roman" panose="02020603050405020304" pitchFamily="18" charset="0"/>
              </a:rPr>
              <a:t>Experimental design and human subject data acquisition</a:t>
            </a:r>
          </a:p>
          <a:p>
            <a:pPr lvl="1">
              <a:lnSpc>
                <a:spcPct val="100000"/>
              </a:lnSpc>
              <a:spcBef>
                <a:spcPts val="0"/>
              </a:spcBef>
            </a:pPr>
            <a:r>
              <a:rPr lang="en-US" sz="2200" dirty="0">
                <a:latin typeface="Times New Roman" panose="02020603050405020304" pitchFamily="18" charset="0"/>
                <a:ea typeface="SimSun" panose="02010600030101010101" pitchFamily="2" charset="-122"/>
                <a:cs typeface="Times New Roman" panose="02020603050405020304" pitchFamily="18" charset="0"/>
              </a:rPr>
              <a:t>Pre-study power analysis performed to estimate likely sample size needed.</a:t>
            </a:r>
          </a:p>
          <a:p>
            <a:pPr lvl="1">
              <a:lnSpc>
                <a:spcPct val="100000"/>
              </a:lnSpc>
              <a:spcBef>
                <a:spcPts val="0"/>
              </a:spcBef>
            </a:pPr>
            <a:r>
              <a:rPr lang="en-US" sz="2200" dirty="0">
                <a:latin typeface="Times New Roman" panose="02020603050405020304" pitchFamily="18" charset="0"/>
                <a:ea typeface="SimSun" panose="02010600030101010101" pitchFamily="2" charset="-122"/>
                <a:cs typeface="Times New Roman" panose="02020603050405020304" pitchFamily="18" charset="0"/>
              </a:rPr>
              <a:t>Adherence to institutional and ethical regulations for subject protection (institutional review board documentation, HIPAA).</a:t>
            </a:r>
          </a:p>
          <a:p>
            <a:pPr>
              <a:lnSpc>
                <a:spcPct val="100000"/>
              </a:lnSpc>
              <a:spcBef>
                <a:spcPts val="0"/>
              </a:spcBef>
            </a:pPr>
            <a:r>
              <a:rPr lang="en-US" sz="2600" dirty="0">
                <a:latin typeface="Times New Roman" panose="02020603050405020304" pitchFamily="18" charset="0"/>
                <a:ea typeface="SimSun" panose="02010600030101010101" pitchFamily="2" charset="-122"/>
                <a:cs typeface="Times New Roman" panose="02020603050405020304" pitchFamily="18" charset="0"/>
              </a:rPr>
              <a:t>Inferential statistics and interpretation (independent t-tests and non-parametric equivalents, Pearson and Spearman-rank correlation coefficients, ANOVA, effect size)</a:t>
            </a:r>
          </a:p>
          <a:p>
            <a:pPr>
              <a:lnSpc>
                <a:spcPct val="100000"/>
              </a:lnSpc>
              <a:spcBef>
                <a:spcPts val="0"/>
              </a:spcBef>
            </a:pPr>
            <a:r>
              <a:rPr lang="en-US" sz="2600" dirty="0">
                <a:latin typeface="Times New Roman" panose="02020603050405020304" pitchFamily="18" charset="0"/>
                <a:ea typeface="SimSun" panose="02010600030101010101" pitchFamily="2" charset="-122"/>
                <a:cs typeface="Times New Roman" panose="02020603050405020304" pitchFamily="18" charset="0"/>
              </a:rPr>
              <a:t>R-Studio code for reproducible figure generation</a:t>
            </a:r>
          </a:p>
          <a:p>
            <a:pPr>
              <a:lnSpc>
                <a:spcPct val="100000"/>
              </a:lnSpc>
              <a:spcBef>
                <a:spcPts val="0"/>
              </a:spcBef>
            </a:pPr>
            <a:r>
              <a:rPr lang="en-US" sz="2600" dirty="0">
                <a:latin typeface="Times New Roman" panose="02020603050405020304" pitchFamily="18" charset="0"/>
                <a:ea typeface="SimSun" panose="02010600030101010101" pitchFamily="2" charset="-122"/>
                <a:cs typeface="Times New Roman" panose="02020603050405020304" pitchFamily="18" charset="0"/>
              </a:rPr>
              <a:t>Interpretation and modeling of non-linear physiological phenomena</a:t>
            </a:r>
          </a:p>
          <a:p>
            <a:pPr>
              <a:lnSpc>
                <a:spcPct val="100000"/>
              </a:lnSpc>
              <a:spcBef>
                <a:spcPts val="0"/>
              </a:spcBef>
            </a:pPr>
            <a:r>
              <a:rPr lang="en-US" sz="2600" dirty="0">
                <a:latin typeface="Times New Roman" panose="02020603050405020304" pitchFamily="18" charset="0"/>
                <a:ea typeface="SimSun" panose="02010600030101010101" pitchFamily="2" charset="-122"/>
                <a:cs typeface="Times New Roman" panose="02020603050405020304" pitchFamily="18" charset="0"/>
              </a:rPr>
              <a:t>Scientific communication and lab leadership/training</a:t>
            </a:r>
          </a:p>
          <a:p>
            <a:pPr marL="0" indent="0">
              <a:lnSpc>
                <a:spcPct val="100000"/>
              </a:lnSpc>
              <a:spcBef>
                <a:spcPts val="0"/>
              </a:spcBef>
              <a:buNone/>
            </a:pPr>
            <a:endParaRPr lang="en-US" sz="26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Rectangle 3">
            <a:extLst>
              <a:ext uri="{FF2B5EF4-FFF2-40B4-BE49-F238E27FC236}">
                <a16:creationId xmlns:a16="http://schemas.microsoft.com/office/drawing/2014/main" id="{F78B2AA0-2BB0-E7CA-0BEB-B95632F33E0B}"/>
              </a:ext>
            </a:extLst>
          </p:cNvPr>
          <p:cNvSpPr/>
          <p:nvPr/>
        </p:nvSpPr>
        <p:spPr>
          <a:xfrm>
            <a:off x="78758" y="84445"/>
            <a:ext cx="12032776" cy="66874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627995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1D875-F3BD-BCAD-17A3-EA22C9C36322}"/>
              </a:ext>
            </a:extLst>
          </p:cNvPr>
          <p:cNvSpPr>
            <a:spLocks noGrp="1"/>
          </p:cNvSpPr>
          <p:nvPr>
            <p:ph type="title"/>
          </p:nvPr>
        </p:nvSpPr>
        <p:spPr/>
        <p:txBody>
          <a:bodyPr>
            <a:normAutofit/>
          </a:bodyPr>
          <a:lstStyle/>
          <a:p>
            <a:r>
              <a:rPr lang="en-US" sz="41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DD784A62-A40D-311E-863D-DD417EC65FEF}"/>
              </a:ext>
            </a:extLst>
          </p:cNvPr>
          <p:cNvSpPr>
            <a:spLocks noGrp="1"/>
          </p:cNvSpPr>
          <p:nvPr>
            <p:ph idx="1"/>
          </p:nvPr>
        </p:nvSpPr>
        <p:spPr>
          <a:xfrm>
            <a:off x="518652" y="1690687"/>
            <a:ext cx="5577348" cy="4802187"/>
          </a:xfrm>
        </p:spPr>
        <p:txBody>
          <a:bodyPr>
            <a:normAutofit fontScale="70000" lnSpcReduction="20000"/>
          </a:bodyPr>
          <a:lstStyle/>
          <a:p>
            <a:pPr marL="0" marR="0">
              <a:lnSpc>
                <a:spcPct val="107000"/>
              </a:lnSpc>
              <a:spcAft>
                <a:spcPts val="800"/>
              </a:spcAft>
            </a:pP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Blain, G. M., Limberg, J. K., Mortensen, G. F., &amp; Schrage, W. G. (2012). Rapid onset vasodilatation is blunted in obese humans. </a:t>
            </a:r>
            <a:r>
              <a:rPr lang="en-US" sz="1500" i="1" dirty="0">
                <a:effectLst/>
                <a:latin typeface="Times New Roman" panose="02020603050405020304" pitchFamily="18" charset="0"/>
                <a:ea typeface="SimSun" panose="02010600030101010101" pitchFamily="2" charset="-122"/>
                <a:cs typeface="Times New Roman" panose="02020603050405020304" pitchFamily="18" charset="0"/>
              </a:rPr>
              <a:t>Acta </a:t>
            </a:r>
            <a:r>
              <a:rPr lang="en-US" sz="1500" i="1" dirty="0" err="1">
                <a:effectLst/>
                <a:latin typeface="Times New Roman" panose="02020603050405020304" pitchFamily="18" charset="0"/>
                <a:ea typeface="SimSun" panose="02010600030101010101" pitchFamily="2" charset="-122"/>
                <a:cs typeface="Times New Roman" panose="02020603050405020304" pitchFamily="18" charset="0"/>
              </a:rPr>
              <a:t>Physiologica</a:t>
            </a:r>
            <a:r>
              <a:rPr lang="en-US" sz="1500" i="1" dirty="0">
                <a:effectLst/>
                <a:latin typeface="Times New Roman" panose="02020603050405020304" pitchFamily="18" charset="0"/>
                <a:ea typeface="SimSun" panose="02010600030101010101" pitchFamily="2" charset="-122"/>
                <a:cs typeface="Times New Roman" panose="02020603050405020304" pitchFamily="18" charset="0"/>
              </a:rPr>
              <a:t> (Oxford, England)</a:t>
            </a: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500" i="1" dirty="0">
                <a:effectLst/>
                <a:latin typeface="Times New Roman" panose="02020603050405020304" pitchFamily="18" charset="0"/>
                <a:ea typeface="SimSun" panose="02010600030101010101" pitchFamily="2" charset="-122"/>
                <a:cs typeface="Times New Roman" panose="02020603050405020304" pitchFamily="18" charset="0"/>
              </a:rPr>
              <a:t>205</a:t>
            </a: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(1), 103–112. https://doi.org/10.1111/j.1748-1716.2011.02370.x</a:t>
            </a:r>
          </a:p>
          <a:p>
            <a:pPr marL="0" marR="0">
              <a:lnSpc>
                <a:spcPct val="107000"/>
              </a:lnSpc>
              <a:spcAft>
                <a:spcPts val="800"/>
              </a:spcAft>
            </a:pP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Casey, D. P., Walker, B. G., Ranadive, S. M., Taylor, J. L., &amp; Joyner, M. J. (2013). Contribution of nitric oxide in the contraction-induced rapid vasodilation in young and older adults. </a:t>
            </a:r>
            <a:r>
              <a:rPr lang="en-US" sz="1500" i="1" dirty="0">
                <a:effectLst/>
                <a:latin typeface="Times New Roman" panose="02020603050405020304" pitchFamily="18" charset="0"/>
                <a:ea typeface="SimSun" panose="02010600030101010101" pitchFamily="2" charset="-122"/>
                <a:cs typeface="Times New Roman" panose="02020603050405020304" pitchFamily="18" charset="0"/>
              </a:rPr>
              <a:t>Journal of Applied Physiology (Bethesda, Md.: 1985)</a:t>
            </a: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500" i="1" dirty="0">
                <a:effectLst/>
                <a:latin typeface="Times New Roman" panose="02020603050405020304" pitchFamily="18" charset="0"/>
                <a:ea typeface="SimSun" panose="02010600030101010101" pitchFamily="2" charset="-122"/>
                <a:cs typeface="Times New Roman" panose="02020603050405020304" pitchFamily="18" charset="0"/>
              </a:rPr>
              <a:t>115</a:t>
            </a: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(4), 446–455. https://doi.org/10.1152/japplphysiol.00446.2013</a:t>
            </a:r>
          </a:p>
          <a:p>
            <a:pPr marL="0" marR="0">
              <a:lnSpc>
                <a:spcPct val="107000"/>
              </a:lnSpc>
              <a:spcBef>
                <a:spcPts val="0"/>
              </a:spcBef>
              <a:spcAft>
                <a:spcPts val="800"/>
              </a:spcAft>
            </a:pP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Crecelius, A. R., Kirby, B. S., </a:t>
            </a:r>
            <a:r>
              <a:rPr lang="en-US" sz="1500" dirty="0" err="1">
                <a:effectLst/>
                <a:latin typeface="Times New Roman" panose="02020603050405020304" pitchFamily="18" charset="0"/>
                <a:ea typeface="SimSun" panose="02010600030101010101" pitchFamily="2" charset="-122"/>
                <a:cs typeface="Times New Roman" panose="02020603050405020304" pitchFamily="18" charset="0"/>
              </a:rPr>
              <a:t>Luckasen</a:t>
            </a: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 G. J., Larson, D. G., &amp; </a:t>
            </a:r>
            <a:r>
              <a:rPr lang="en-US" sz="1500" dirty="0" err="1">
                <a:effectLst/>
                <a:latin typeface="Times New Roman" panose="02020603050405020304" pitchFamily="18" charset="0"/>
                <a:ea typeface="SimSun" panose="02010600030101010101" pitchFamily="2" charset="-122"/>
                <a:cs typeface="Times New Roman" panose="02020603050405020304" pitchFamily="18" charset="0"/>
              </a:rPr>
              <a:t>Dinenno</a:t>
            </a: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 F. A. (2013). Mechanisms of rapid vasodilation after a brief contraction in human skeletal muscle. </a:t>
            </a:r>
            <a:r>
              <a:rPr lang="en-US" sz="1500" i="1" dirty="0">
                <a:effectLst/>
                <a:latin typeface="Times New Roman" panose="02020603050405020304" pitchFamily="18" charset="0"/>
                <a:ea typeface="SimSun" panose="02010600030101010101" pitchFamily="2" charset="-122"/>
                <a:cs typeface="Times New Roman" panose="02020603050405020304" pitchFamily="18" charset="0"/>
              </a:rPr>
              <a:t>American Journal of Physiology - Heart and Circulatory Physiology</a:t>
            </a: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500" i="1" dirty="0">
                <a:effectLst/>
                <a:latin typeface="Times New Roman" panose="02020603050405020304" pitchFamily="18" charset="0"/>
                <a:ea typeface="SimSun" panose="02010600030101010101" pitchFamily="2" charset="-122"/>
                <a:cs typeface="Times New Roman" panose="02020603050405020304" pitchFamily="18" charset="0"/>
              </a:rPr>
              <a:t>305</a:t>
            </a:r>
            <a:r>
              <a:rPr lang="en-US" sz="1500" dirty="0">
                <a:effectLst/>
                <a:latin typeface="Times New Roman" panose="02020603050405020304" pitchFamily="18" charset="0"/>
                <a:ea typeface="SimSun" panose="02010600030101010101" pitchFamily="2" charset="-122"/>
                <a:cs typeface="Times New Roman" panose="02020603050405020304" pitchFamily="18" charset="0"/>
              </a:rPr>
              <a:t>(1), H29–H40. </a:t>
            </a:r>
            <a:r>
              <a:rPr lang="en-US" sz="1500" dirty="0">
                <a:effectLst/>
                <a:latin typeface="Times New Roman" panose="02020603050405020304" pitchFamily="18" charset="0"/>
                <a:ea typeface="SimSun" panose="02010600030101010101" pitchFamily="2" charset="-122"/>
                <a:cs typeface="Times New Roman" panose="02020603050405020304" pitchFamily="18" charset="0"/>
                <a:hlinkClick r:id="rId2"/>
              </a:rPr>
              <a:t>https://doi.org/10.1152/ajpheart.00298.2013</a:t>
            </a:r>
            <a:endParaRPr lang="en-US" sz="15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dirty="0">
                <a:latin typeface="Times New Roman" panose="02020603050405020304" pitchFamily="18" charset="0"/>
                <a:ea typeface="SimSun" panose="02010600030101010101" pitchFamily="2" charset="-122"/>
                <a:cs typeface="Times New Roman" panose="02020603050405020304" pitchFamily="18" charset="0"/>
              </a:rPr>
              <a:t>Goto, C., Higashi, Y., Kimura, M., Noma, K., Hara, K., Nakagawa, K., Kawamura, M., </a:t>
            </a:r>
            <a:r>
              <a:rPr lang="en-US" sz="1600" dirty="0" err="1">
                <a:latin typeface="Times New Roman" panose="02020603050405020304" pitchFamily="18" charset="0"/>
                <a:ea typeface="SimSun" panose="02010600030101010101" pitchFamily="2" charset="-122"/>
                <a:cs typeface="Times New Roman" panose="02020603050405020304" pitchFamily="18" charset="0"/>
              </a:rPr>
              <a:t>Chayama</a:t>
            </a:r>
            <a:r>
              <a:rPr lang="en-US" sz="1600" dirty="0">
                <a:latin typeface="Times New Roman" panose="02020603050405020304" pitchFamily="18" charset="0"/>
                <a:ea typeface="SimSun" panose="02010600030101010101" pitchFamily="2" charset="-122"/>
                <a:cs typeface="Times New Roman" panose="02020603050405020304" pitchFamily="18" charset="0"/>
              </a:rPr>
              <a:t>, K., Yoshizumi, M., &amp; Nara, I. (2003). Effect of Different Intensities of Exercise on Endothelium-Dependent Vasodilation in Humans. Circulation, 108(5), 530–535. https://doi.org/10.1161/01.CIR.0000080893.55729.28</a:t>
            </a:r>
          </a:p>
          <a:p>
            <a:pPr marL="0" marR="0">
              <a:lnSpc>
                <a:spcPct val="107000"/>
              </a:lnSpc>
              <a:spcBef>
                <a:spcPts val="0"/>
              </a:spcBef>
              <a:spcAft>
                <a:spcPts val="800"/>
              </a:spcAft>
            </a:pPr>
            <a:r>
              <a:rPr lang="en-US" sz="1600" dirty="0">
                <a:latin typeface="Times New Roman" panose="02020603050405020304" pitchFamily="18" charset="0"/>
                <a:ea typeface="SimSun" panose="02010600030101010101" pitchFamily="2" charset="-122"/>
                <a:cs typeface="Times New Roman" panose="02020603050405020304" pitchFamily="18" charset="0"/>
              </a:rPr>
              <a:t>Hambrecht, R., Adams, V., Erbs, S., Linke, A., </a:t>
            </a:r>
            <a:r>
              <a:rPr lang="en-US" sz="1600" dirty="0" err="1">
                <a:latin typeface="Times New Roman" panose="02020603050405020304" pitchFamily="18" charset="0"/>
                <a:ea typeface="SimSun" panose="02010600030101010101" pitchFamily="2" charset="-122"/>
                <a:cs typeface="Times New Roman" panose="02020603050405020304" pitchFamily="18" charset="0"/>
              </a:rPr>
              <a:t>Kränkel</a:t>
            </a:r>
            <a:r>
              <a:rPr lang="en-US" sz="1600" dirty="0">
                <a:latin typeface="Times New Roman" panose="02020603050405020304" pitchFamily="18" charset="0"/>
                <a:ea typeface="SimSun" panose="02010600030101010101" pitchFamily="2" charset="-122"/>
                <a:cs typeface="Times New Roman" panose="02020603050405020304" pitchFamily="18" charset="0"/>
              </a:rPr>
              <a:t>, N., Shu, Y., Baither, Y., Gielen, S., Thiele, H., Gummert, J. F., Mohr, F. W., &amp; Schuler, G. (2003). Regular Physical Activity Improves Endothelial Function in Patients With Coronary Artery Disease by Increasing Phosphorylation of Endothelial Nitric Oxide Synthase. Circulation, 107(25), 3152–3158. https://doi.org/10.1161/01.CIR.0000074229.93804.5C</a:t>
            </a:r>
          </a:p>
          <a:p>
            <a:pPr marL="0" marR="0">
              <a:lnSpc>
                <a:spcPct val="107000"/>
              </a:lnSpc>
              <a:spcBef>
                <a:spcPts val="0"/>
              </a:spcBef>
              <a:spcAft>
                <a:spcPts val="800"/>
              </a:spcAft>
            </a:pPr>
            <a:r>
              <a:rPr lang="en-US" sz="1600" dirty="0">
                <a:latin typeface="Times New Roman" panose="02020603050405020304" pitchFamily="18" charset="0"/>
                <a:ea typeface="SimSun" panose="02010600030101010101" pitchFamily="2" charset="-122"/>
                <a:cs typeface="Times New Roman" panose="02020603050405020304" pitchFamily="18" charset="0"/>
              </a:rPr>
              <a:t>Hanson, B. E., Joyner, M. J., &amp; Casey, D. P. (2021). Sex-related differences in rapid-onset vasodilation: Impact of aging. </a:t>
            </a:r>
            <a:r>
              <a:rPr lang="en-US" sz="1600" i="1" dirty="0">
                <a:latin typeface="Times New Roman" panose="02020603050405020304" pitchFamily="18" charset="0"/>
                <a:ea typeface="SimSun" panose="02010600030101010101" pitchFamily="2" charset="-122"/>
                <a:cs typeface="Times New Roman" panose="02020603050405020304" pitchFamily="18" charset="0"/>
              </a:rPr>
              <a:t>Journal of Applied Physiology</a:t>
            </a:r>
            <a:r>
              <a:rPr lang="en-US" sz="1600" dirty="0">
                <a:latin typeface="Times New Roman" panose="02020603050405020304" pitchFamily="18" charset="0"/>
                <a:ea typeface="SimSun" panose="02010600030101010101" pitchFamily="2" charset="-122"/>
                <a:cs typeface="Times New Roman" panose="02020603050405020304" pitchFamily="18" charset="0"/>
              </a:rPr>
              <a:t>, </a:t>
            </a:r>
            <a:r>
              <a:rPr lang="en-US" sz="1600" i="1" dirty="0">
                <a:latin typeface="Times New Roman" panose="02020603050405020304" pitchFamily="18" charset="0"/>
                <a:ea typeface="SimSun" panose="02010600030101010101" pitchFamily="2" charset="-122"/>
                <a:cs typeface="Times New Roman" panose="02020603050405020304" pitchFamily="18" charset="0"/>
              </a:rPr>
              <a:t>130</a:t>
            </a:r>
            <a:r>
              <a:rPr lang="en-US" sz="1600" dirty="0">
                <a:latin typeface="Times New Roman" panose="02020603050405020304" pitchFamily="18" charset="0"/>
                <a:ea typeface="SimSun" panose="02010600030101010101" pitchFamily="2" charset="-122"/>
                <a:cs typeface="Times New Roman" panose="02020603050405020304" pitchFamily="18" charset="0"/>
              </a:rPr>
              <a:t>(1), 206–214. https://doi.org/10.1152/japplphysiol.00663.2020</a:t>
            </a:r>
          </a:p>
          <a:p>
            <a:pPr marL="0">
              <a:lnSpc>
                <a:spcPct val="107000"/>
              </a:lnSpc>
              <a:spcBef>
                <a:spcPts val="0"/>
              </a:spcBef>
              <a:spcAft>
                <a:spcPts val="800"/>
              </a:spcAft>
            </a:pPr>
            <a:r>
              <a:rPr lang="en-US" sz="1600" dirty="0">
                <a:latin typeface="Times New Roman" panose="02020603050405020304" pitchFamily="18" charset="0"/>
                <a:ea typeface="SimSun" panose="02010600030101010101" pitchFamily="2" charset="-122"/>
                <a:cs typeface="Times New Roman" panose="02020603050405020304" pitchFamily="18" charset="0"/>
              </a:rPr>
              <a:t>Hughes, W. E., Kruse, N. T., &amp; Casey, D. P. (2018). Age-associated impairments in contraction-induced rapid-onset vasodilatation within the forearm are independent of mechanical factors. </a:t>
            </a:r>
            <a:r>
              <a:rPr lang="en-US" sz="1600" i="1" dirty="0">
                <a:latin typeface="Times New Roman" panose="02020603050405020304" pitchFamily="18" charset="0"/>
                <a:ea typeface="SimSun" panose="02010600030101010101" pitchFamily="2" charset="-122"/>
                <a:cs typeface="Times New Roman" panose="02020603050405020304" pitchFamily="18" charset="0"/>
              </a:rPr>
              <a:t>Experimental Physiology</a:t>
            </a:r>
            <a:r>
              <a:rPr lang="en-US" sz="1600" dirty="0">
                <a:latin typeface="Times New Roman" panose="02020603050405020304" pitchFamily="18" charset="0"/>
                <a:ea typeface="SimSun" panose="02010600030101010101" pitchFamily="2" charset="-122"/>
                <a:cs typeface="Times New Roman" panose="02020603050405020304" pitchFamily="18" charset="0"/>
              </a:rPr>
              <a:t>, </a:t>
            </a:r>
            <a:r>
              <a:rPr lang="en-US" sz="1600" i="1" dirty="0">
                <a:latin typeface="Times New Roman" panose="02020603050405020304" pitchFamily="18" charset="0"/>
                <a:ea typeface="SimSun" panose="02010600030101010101" pitchFamily="2" charset="-122"/>
                <a:cs typeface="Times New Roman" panose="02020603050405020304" pitchFamily="18" charset="0"/>
              </a:rPr>
              <a:t>103</a:t>
            </a:r>
            <a:r>
              <a:rPr lang="en-US" sz="1600" dirty="0">
                <a:latin typeface="Times New Roman" panose="02020603050405020304" pitchFamily="18" charset="0"/>
                <a:ea typeface="SimSun" panose="02010600030101010101" pitchFamily="2" charset="-122"/>
                <a:cs typeface="Times New Roman" panose="02020603050405020304" pitchFamily="18" charset="0"/>
              </a:rPr>
              <a:t>(5), 728–737. https://doi.org/10.1113/EP086908</a:t>
            </a:r>
            <a:endParaRPr lang="en-US" sz="1500" dirty="0">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Content Placeholder 2">
            <a:extLst>
              <a:ext uri="{FF2B5EF4-FFF2-40B4-BE49-F238E27FC236}">
                <a16:creationId xmlns:a16="http://schemas.microsoft.com/office/drawing/2014/main" id="{B32B1153-978F-6B16-6F73-995F37A09352}"/>
              </a:ext>
            </a:extLst>
          </p:cNvPr>
          <p:cNvSpPr txBox="1">
            <a:spLocks/>
          </p:cNvSpPr>
          <p:nvPr/>
        </p:nvSpPr>
        <p:spPr>
          <a:xfrm>
            <a:off x="6096000" y="1690686"/>
            <a:ext cx="5577348" cy="51673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nSpc>
                <a:spcPct val="107000"/>
              </a:lnSpc>
              <a:spcBef>
                <a:spcPts val="0"/>
              </a:spcBef>
              <a:spcAft>
                <a:spcPts val="800"/>
              </a:spcAft>
            </a:pP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Hughes, W. E., Ueda, K., &amp; Casey, D. P. (2016). Chronic endurance exercise training offsets the age-related attenuation in contraction-induced rapid vasodilation. </a:t>
            </a: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Journal of Applied Physiology</a:t>
            </a: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120</a:t>
            </a: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(11), 1335–1342. https://doi.org/10.1152/japplphysiol.00057.2016</a:t>
            </a:r>
          </a:p>
          <a:p>
            <a:pPr marL="0" marR="0">
              <a:lnSpc>
                <a:spcPct val="107000"/>
              </a:lnSpc>
              <a:spcBef>
                <a:spcPts val="0"/>
              </a:spcBef>
              <a:spcAft>
                <a:spcPts val="800"/>
              </a:spcAft>
            </a:pP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Kirby, B. S., Carlson, R. E., </a:t>
            </a:r>
            <a:r>
              <a:rPr lang="en-US" sz="1000" dirty="0" err="1">
                <a:effectLst/>
                <a:latin typeface="Times New Roman" panose="02020603050405020304" pitchFamily="18" charset="0"/>
                <a:ea typeface="SimSun" panose="02010600030101010101" pitchFamily="2" charset="-122"/>
                <a:cs typeface="Times New Roman" panose="02020603050405020304" pitchFamily="18" charset="0"/>
              </a:rPr>
              <a:t>Markwald</a:t>
            </a: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 R. R., Voyles, W. F., &amp; </a:t>
            </a:r>
            <a:r>
              <a:rPr lang="en-US" sz="1000" dirty="0" err="1">
                <a:effectLst/>
                <a:latin typeface="Times New Roman" panose="02020603050405020304" pitchFamily="18" charset="0"/>
                <a:ea typeface="SimSun" panose="02010600030101010101" pitchFamily="2" charset="-122"/>
                <a:cs typeface="Times New Roman" panose="02020603050405020304" pitchFamily="18" charset="0"/>
              </a:rPr>
              <a:t>Dinenno</a:t>
            </a: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 F. A. (2007). Mechanical influences on skeletal muscle vascular tone in humans: Insight into contraction-induced rapid vasodilatation. </a:t>
            </a: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The Journal of Physiology</a:t>
            </a: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583</a:t>
            </a: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(3), 861–874. </a:t>
            </a:r>
            <a:r>
              <a:rPr lang="en-US" sz="1000" dirty="0">
                <a:effectLst/>
                <a:latin typeface="Times New Roman" panose="02020603050405020304" pitchFamily="18" charset="0"/>
                <a:ea typeface="SimSun" panose="02010600030101010101" pitchFamily="2" charset="-122"/>
                <a:cs typeface="Times New Roman" panose="02020603050405020304" pitchFamily="18" charset="0"/>
                <a:hlinkClick r:id="rId3"/>
              </a:rPr>
              <a:t>https://doi.org/10.1113/jphysiol.2007.131250</a:t>
            </a:r>
            <a:endParaRPr lang="en-US" sz="10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Rosenberry, R., Chung, S., &amp; Nelson, M. D. (2018). Skeletal Muscle Neurovascular Coupling, Oxidative Capacity, and Microvascular Function with “One Stop Shop” Near-infrared Spectroscopy. Journal of Visualized Experiments : </a:t>
            </a:r>
            <a:r>
              <a:rPr lang="en-US" sz="1000" dirty="0" err="1">
                <a:effectLst/>
                <a:latin typeface="Times New Roman" panose="02020603050405020304" pitchFamily="18" charset="0"/>
                <a:ea typeface="SimSun" panose="02010600030101010101" pitchFamily="2" charset="-122"/>
                <a:cs typeface="Times New Roman" panose="02020603050405020304" pitchFamily="18" charset="0"/>
              </a:rPr>
              <a:t>JoVE</a:t>
            </a: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 132, 57317. https://doi.org/10.3791/57317</a:t>
            </a:r>
          </a:p>
          <a:p>
            <a:pPr marL="0" marR="0">
              <a:lnSpc>
                <a:spcPct val="107000"/>
              </a:lnSpc>
              <a:spcBef>
                <a:spcPts val="0"/>
              </a:spcBef>
              <a:spcAft>
                <a:spcPts val="800"/>
              </a:spcAft>
            </a:pP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Ryan, T. E., Brizendine, J. T., &amp; McCully, K. K. (2013). A comparison of exercise type and intensity on the noninvasive assessment of skeletal muscle mitochondrial function using near-infrared spectroscopy. Journal of Applied Physiology, 114(2), 230–237. </a:t>
            </a:r>
            <a:r>
              <a:rPr lang="en-US" sz="1000" dirty="0">
                <a:effectLst/>
                <a:latin typeface="Times New Roman" panose="02020603050405020304" pitchFamily="18" charset="0"/>
                <a:ea typeface="SimSun" panose="02010600030101010101" pitchFamily="2" charset="-122"/>
                <a:cs typeface="Times New Roman" panose="02020603050405020304" pitchFamily="18" charset="0"/>
                <a:hlinkClick r:id="rId4"/>
              </a:rPr>
              <a:t>https://doi.org/10.1152/japplphysiol.01043.2012</a:t>
            </a:r>
            <a:endParaRPr lang="en-US" sz="10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Ryan, T. E., Brophy, P., Lin, C.-T., Hickner, R. C., &amp; Neufer, P. D. (2014). Assessment of in vivo skeletal muscle mitochondrial respiratory capacity in humans by near-infrared spectroscopy: A comparison with in situ measurements. The Journal of Physiology, 592(Pt 15), 3231–3241. </a:t>
            </a:r>
            <a:r>
              <a:rPr lang="en-US" sz="1000" dirty="0">
                <a:effectLst/>
                <a:latin typeface="Times New Roman" panose="02020603050405020304" pitchFamily="18" charset="0"/>
                <a:ea typeface="SimSun" panose="02010600030101010101" pitchFamily="2" charset="-122"/>
                <a:cs typeface="Times New Roman" panose="02020603050405020304" pitchFamily="18" charset="0"/>
                <a:hlinkClick r:id="rId5"/>
              </a:rPr>
              <a:t>https://doi.org/10.1113/jphysiol.2014.274456</a:t>
            </a:r>
            <a:endParaRPr lang="en-US" sz="10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000" dirty="0" err="1">
                <a:latin typeface="Times New Roman" panose="02020603050405020304" pitchFamily="18" charset="0"/>
                <a:ea typeface="SimSun" panose="02010600030101010101" pitchFamily="2" charset="-122"/>
                <a:cs typeface="Times New Roman" panose="02020603050405020304" pitchFamily="18" charset="0"/>
              </a:rPr>
              <a:t>Tschakovsky</a:t>
            </a:r>
            <a:r>
              <a:rPr lang="en-US" sz="1000" dirty="0">
                <a:latin typeface="Times New Roman" panose="02020603050405020304" pitchFamily="18" charset="0"/>
                <a:ea typeface="SimSun" panose="02010600030101010101" pitchFamily="2" charset="-122"/>
                <a:cs typeface="Times New Roman" panose="02020603050405020304" pitchFamily="18" charset="0"/>
              </a:rPr>
              <a:t>, M. E., Shoemaker, J. K., &amp; Hughson, R. L. (1996). Vasodilation and muscle pump contribution to immediate exercise hyperemia. </a:t>
            </a:r>
            <a:r>
              <a:rPr lang="en-US" sz="1000" i="1" dirty="0">
                <a:latin typeface="Times New Roman" panose="02020603050405020304" pitchFamily="18" charset="0"/>
                <a:ea typeface="SimSun" panose="02010600030101010101" pitchFamily="2" charset="-122"/>
                <a:cs typeface="Times New Roman" panose="02020603050405020304" pitchFamily="18" charset="0"/>
              </a:rPr>
              <a:t>American Journal of Physiology-Heart and Circulatory Physiology</a:t>
            </a:r>
            <a:r>
              <a:rPr lang="en-US" sz="1000" dirty="0">
                <a:latin typeface="Times New Roman" panose="02020603050405020304" pitchFamily="18" charset="0"/>
                <a:ea typeface="SimSun" panose="02010600030101010101" pitchFamily="2" charset="-122"/>
                <a:cs typeface="Times New Roman" panose="02020603050405020304" pitchFamily="18" charset="0"/>
              </a:rPr>
              <a:t>, </a:t>
            </a:r>
            <a:r>
              <a:rPr lang="en-US" sz="1000" i="1" dirty="0">
                <a:latin typeface="Times New Roman" panose="02020603050405020304" pitchFamily="18" charset="0"/>
                <a:ea typeface="SimSun" panose="02010600030101010101" pitchFamily="2" charset="-122"/>
                <a:cs typeface="Times New Roman" panose="02020603050405020304" pitchFamily="18" charset="0"/>
              </a:rPr>
              <a:t>271</a:t>
            </a:r>
            <a:r>
              <a:rPr lang="en-US" sz="1000" dirty="0">
                <a:latin typeface="Times New Roman" panose="02020603050405020304" pitchFamily="18" charset="0"/>
                <a:ea typeface="SimSun" panose="02010600030101010101" pitchFamily="2" charset="-122"/>
                <a:cs typeface="Times New Roman" panose="02020603050405020304" pitchFamily="18" charset="0"/>
              </a:rPr>
              <a:t>(4), H1697–H1701. https://doi.org/10.1152/ajpheart.1996.271.4.H1697</a:t>
            </a:r>
          </a:p>
          <a:p>
            <a:pPr marL="0" marR="0">
              <a:lnSpc>
                <a:spcPct val="107000"/>
              </a:lnSpc>
              <a:spcBef>
                <a:spcPts val="0"/>
              </a:spcBef>
              <a:spcAft>
                <a:spcPts val="800"/>
              </a:spcAft>
            </a:pPr>
            <a:r>
              <a:rPr lang="en-US" sz="1000" dirty="0">
                <a:latin typeface="Times New Roman" panose="02020603050405020304" pitchFamily="18" charset="0"/>
                <a:ea typeface="SimSun" panose="02010600030101010101" pitchFamily="2" charset="-122"/>
                <a:cs typeface="Times New Roman" panose="02020603050405020304" pitchFamily="18" charset="0"/>
              </a:rPr>
              <a:t>Xu, F., &amp; Rhodes, E. C. (1999). Oxygen Uptake Kinetics During Exercise. </a:t>
            </a:r>
            <a:r>
              <a:rPr lang="en-US" sz="1000" i="1" dirty="0">
                <a:latin typeface="Times New Roman" panose="02020603050405020304" pitchFamily="18" charset="0"/>
                <a:ea typeface="SimSun" panose="02010600030101010101" pitchFamily="2" charset="-122"/>
                <a:cs typeface="Times New Roman" panose="02020603050405020304" pitchFamily="18" charset="0"/>
              </a:rPr>
              <a:t>Sports Medicine</a:t>
            </a:r>
            <a:r>
              <a:rPr lang="en-US" sz="1000" dirty="0">
                <a:latin typeface="Times New Roman" panose="02020603050405020304" pitchFamily="18" charset="0"/>
                <a:ea typeface="SimSun" panose="02010600030101010101" pitchFamily="2" charset="-122"/>
                <a:cs typeface="Times New Roman" panose="02020603050405020304" pitchFamily="18" charset="0"/>
              </a:rPr>
              <a:t>, </a:t>
            </a:r>
            <a:r>
              <a:rPr lang="en-US" sz="1000" i="1" dirty="0">
                <a:latin typeface="Times New Roman" panose="02020603050405020304" pitchFamily="18" charset="0"/>
                <a:ea typeface="SimSun" panose="02010600030101010101" pitchFamily="2" charset="-122"/>
                <a:cs typeface="Times New Roman" panose="02020603050405020304" pitchFamily="18" charset="0"/>
              </a:rPr>
              <a:t>27</a:t>
            </a:r>
            <a:r>
              <a:rPr lang="en-US" sz="1000" dirty="0">
                <a:latin typeface="Times New Roman" panose="02020603050405020304" pitchFamily="18" charset="0"/>
                <a:ea typeface="SimSun" panose="02010600030101010101" pitchFamily="2" charset="-122"/>
                <a:cs typeface="Times New Roman" panose="02020603050405020304" pitchFamily="18" charset="0"/>
              </a:rPr>
              <a:t>(5), 313–327. https://doi.org/10.2165/00007256-199927050-00003</a:t>
            </a:r>
          </a:p>
          <a:p>
            <a:pPr marL="0" marR="0">
              <a:lnSpc>
                <a:spcPct val="107000"/>
              </a:lnSpc>
              <a:spcBef>
                <a:spcPts val="0"/>
              </a:spcBef>
              <a:spcAft>
                <a:spcPts val="800"/>
              </a:spcAft>
            </a:pPr>
            <a:endParaRPr lang="en-US" sz="1000" dirty="0">
              <a:effectLst/>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4260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6629</TotalTime>
  <Words>3573</Words>
  <Application>Microsoft Office PowerPoint</Application>
  <PresentationFormat>Widescreen</PresentationFormat>
  <Paragraphs>225</Paragraphs>
  <Slides>17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Cambria Math</vt:lpstr>
      <vt:lpstr>Times New Roman</vt:lpstr>
      <vt:lpstr>Office Theme</vt:lpstr>
      <vt:lpstr>The Influence of Training Status On Mechanisms of Rapid Vasodilation In Healthy Adults</vt:lpstr>
      <vt:lpstr>Introduction</vt:lpstr>
      <vt:lpstr>Rapid Vasodilation as an Experimental Model</vt:lpstr>
      <vt:lpstr>Study Design Overview – Main Research Question</vt:lpstr>
      <vt:lpstr>Study Design Overview – Mitochondrial Function and Critical Force</vt:lpstr>
      <vt:lpstr>Measurement and Processing - ROV</vt:lpstr>
      <vt:lpstr>Measurement and Processing – Mitochondrial Function and Critical Force</vt:lpstr>
      <vt:lpstr>Statistical Analysis</vt:lpstr>
      <vt:lpstr>PowerPoint Presentation</vt:lpstr>
      <vt:lpstr>PowerPoint Presentation</vt:lpstr>
      <vt:lpstr>PowerPoint Presentation</vt:lpstr>
      <vt:lpstr>Results – Percent Contributions</vt:lpstr>
      <vt:lpstr>Discussion – Mechanistic Interpretation</vt:lpstr>
      <vt:lpstr>Discussion – Limitations </vt:lpstr>
      <vt:lpstr>Conclusion</vt:lpstr>
      <vt:lpstr>Data Science/Analytics Skills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INFLUENCE OF FOREARM TRAINING STATUS ON MECHANISMS OF RAPID VASODILATION IN HEALTHY HUMANS</dc:title>
  <dc:creator>Stanford, Matthew D.</dc:creator>
  <cp:lastModifiedBy>Matthew Stanford</cp:lastModifiedBy>
  <cp:revision>164</cp:revision>
  <dcterms:created xsi:type="dcterms:W3CDTF">2024-05-02T20:45:04Z</dcterms:created>
  <dcterms:modified xsi:type="dcterms:W3CDTF">2025-12-26T21:32:55Z</dcterms:modified>
</cp:coreProperties>
</file>